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1878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thầy cô và các bạn. Trong lĩnh vực trí tuệ nhân tạo, đặc biệt là Học tăng cường (Reinforcement Learning), làm thế nào để một cỗ máy tự học cách đưa ra chuỗi quyết định tối ưu trong một môi trường đầy biến động? Câu trả lời bắt đầu từ một nền tảng toán học kinh điển: Markov Decision Processes (MDP). Hôm nay, chúng ta sẽ cùng đi qua toàn diện từ lý thuyết toán học nền tảng, hệ phương trình Bellman, các thuật toán quy hoạch động, cho đến các ví dụ ứng dụng thực tiễn của MDP.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Khác với bài toán học có giám sát khi mỗi dự đoán là độc lập, trong bài toán ra quyết định tuần tự, một nước đi sai lầm ở hiện tại có thể dẫn đến thất bại sau hàng chục bước nữa. Agent luôn tương tác lặp đi lặp lại với môi trường qua bộ ba: Quan sát trạng thái, Chọn hành động, và Nhận phần thưởng phản hồi.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Trọng tâm của toàn bộ lý thuyết là Tính chất Markov. Nó phát biểu rằng: nếu bạn đã biết trạng thái hiện tại, toàn bộ quá khứ trước đó trở nên dư thừa để dự đoán tương lai. Ví dụ trong cờ vua, bạn chỉ cần nhìn cách bố trí các quân cờ trên bàn lúc này để quyết định nước đi tiếp theo, chứ không cần quan tâm quân mã đã nhảy qua những ô nào ở 10 nước đi trước.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bài toán MDP hoàn chỉnh được xác định chặt chẽ bởi bộ 5 thành phần này. Lưu ý đặc biệt ở xác suất chuyển trạng thái P: môi trường có thể mang tính ngẫu nhiên (stochastic), nghĩa là cùng thực hiện hành động a tại trạng thái s, không phải lúc nào ta cũng chuyển đến cùng một trạng thái s' với xác suất 100%.</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của Agent không phải là ăn điểm nhiều nhất ở bước kế tiếp, mà là tối đa hóa tổng lợi nhuận tích lũy G_t. Hệ số gamma nhỏ hơn 1 vừa phản ánh tư duy kinh tế: 'tiền nhận hôm nay có giá hơn ngày mai', vừa đóng vai trò chặn trên để chuỗi số không bị bùng nổ vô hạn.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biết mình hành động tốt hay dở, Agent cần thước đo. V(s) đo giá trị của một vị trí, còn Q(s, a) đo giá trị của một quyết định cụ thể tại vị trí đó. Hàm Q chính là chìa khóa sau này để xây dựng thuật toán Q-Learning nổi tiếng trong Reinforcement Learning.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Phương trình Bellman là phát minh nền tảng của Richard Bellman. Nó biến một bài toán tính tổng chuỗi vô hạn thành một hệ phương trình đệ quy đơn giản. Nhờ tính chất đệ quy này, chúng ta có thể áp dụng Quy hoạch động (Dynamic Programming) để giải quyết triệt để bài toán tìm chính sách tối ưu.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chúng ta có bản đồ hoàn chỉnh của thế giới trong tay, tức là biết trước ma trận P và hàm thưởng R, ta dùng Quy hoạch động. Policy Iteration đi luân phiên: chấm điểm chiến lược cũ rồi nâng cấp chiến lược mới. Trong khi đó, Value Iteration cập nhật trực tiếp bảng điểm trạng thái qua phương trình tối ưu Bellman cho đến khi các con số hội tụ.</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ví dụ trực quan về Gridworld. Hãy chú ý: nếu môi trường là đơn định, robot sẽ chọn đường ngắn nhất sát mép bẫy. Nhưng vì môi trường có tính stochastic (20% trượt bánh xe), thuật toán MDP tính toán ra rằng đi vòng đường xa hơn một chút sẽ mang lại kỳ vọng an toàn và điểm số cao hơn. Đó chính là sự thông minh mà toán học MDP mang lại.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Thế giới thực không cho sẵn ma trận xác suất P. Khi bạn lái xe ô tô, bạn không thể có bảng xác suất chi tiết từng hạt mưa hay chuyển động của người đi bộ. Lúc này, MDP đóng vai trò là kim chỉ nam lý thuyết, còn Học tăng cường (RL) là phương tiện thực thi: Agent tự lái thử, va chạm, nhận điểm phạt, và qua hàng triệu lần thử-sai sẽ xấp xỉ được nghiệm tối ưu của phương trình Bellman.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ứng dụng thực tế rõ ràng nhất: Robot tự hành trong kho Amazon hoặc nhà máy sản xuất. Bằng cách thiết lập hàm thưởng thông minh, phạt nặng va chạm và trừ điểm nhẹ theo thời gian, robot thông qua các thuật toán RL dựa trên nền tảng MDP sẽ tự hình thành phản xạ né người đi bộ, tự biết chọn làn đường thông thoáng để giao kiện hàng nhanh nhất.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nếu không có khung lý thuyết Markov Decision Process và phương trình Bellman, toàn bộ lĩnh vực Học tăng cường ngày nay – từ AlphaGo đến xe tự lái – sẽ không có điểm tựa toán học để chứng minh tính hội tụ. Bước tiến tiếp theo của bài toán này trong thực tế chính là POMDP, nơi tác tử phải hành động dưới sự mù mờ của các cảm biến. Bài thuyết trình của em đến đây là kết thúc, xin mời thầy cô và các bạn đặt câu hỏi.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0"/>
        </a:solidFill>
        <a:effectLst/>
      </p:bgPr>
    </p:bg>
    <p:spTree>
      <p:nvGrpSpPr>
        <p:cNvPr id="1" name=""/>
        <p:cNvGrpSpPr/>
        <p:nvPr/>
      </p:nvGrpSpPr>
      <p:grpSpPr>
        <a:xfrm>
          <a:off x="0" y="0"/>
          <a:ext cx="0" cy="0"/>
          <a:chOff x="0" y="0"/>
          <a:chExt cx="0" cy="0"/>
        </a:xfrm>
      </p:grpSpPr>
      <p:pic>
        <p:nvPicPr>
          <p:cNvPr id="2" name="Image 0" descr="D:\Study\HK5\CSAI\ThuyetTrinhMDP\assets\bg_title_network.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914400" y="1005840"/>
            <a:ext cx="4389120" cy="329184"/>
          </a:xfrm>
          <a:prstGeom prst="roundRect">
            <a:avLst>
              <a:gd name="adj" fmla="val 27778"/>
            </a:avLst>
          </a:prstGeom>
          <a:solidFill>
            <a:srgbClr val="162436"/>
          </a:solidFill>
          <a:ln w="19050">
            <a:solidFill>
              <a:srgbClr val="0A7E8C"/>
            </a:solidFill>
            <a:prstDash val="solid"/>
          </a:ln>
        </p:spPr>
      </p:sp>
      <p:sp>
        <p:nvSpPr>
          <p:cNvPr id="4" name="Text 1"/>
          <p:cNvSpPr/>
          <p:nvPr/>
        </p:nvSpPr>
        <p:spPr>
          <a:xfrm>
            <a:off x="914400" y="1005840"/>
            <a:ext cx="4389120" cy="329184"/>
          </a:xfrm>
          <a:prstGeom prst="rect">
            <a:avLst/>
          </a:prstGeom>
          <a:noFill/>
          <a:ln/>
        </p:spPr>
        <p:txBody>
          <a:bodyPr wrap="square" lIns="0" tIns="0" rIns="0" bIns="0" rtlCol="0" anchor="ctr"/>
          <a:lstStyle/>
          <a:p>
            <a:pPr marL="0" indent="0" algn="ctr">
              <a:buNone/>
            </a:pPr>
            <a:r>
              <a:rPr lang="en-US" sz="950" b="1" dirty="0">
                <a:solidFill>
                  <a:srgbClr val="38BDF8"/>
                </a:solidFill>
                <a:latin typeface="Calibri" pitchFamily="34" charset="0"/>
                <a:ea typeface="Calibri" pitchFamily="34" charset="-122"/>
                <a:cs typeface="Calibri" pitchFamily="34" charset="-120"/>
              </a:rPr>
              <a:t>BÀI THUYẾT TRÌNH HỌC THUẬT • TRÍ TUỆ NHÂN TẠO &amp; HỌC TĂNG CƯỜNG</a:t>
            </a:r>
            <a:endParaRPr lang="en-US" sz="950" dirty="0"/>
          </a:p>
        </p:txBody>
      </p:sp>
      <p:sp>
        <p:nvSpPr>
          <p:cNvPr id="5" name="Text 2"/>
          <p:cNvSpPr/>
          <p:nvPr/>
        </p:nvSpPr>
        <p:spPr>
          <a:xfrm>
            <a:off x="914400" y="1508760"/>
            <a:ext cx="10058400" cy="822960"/>
          </a:xfrm>
          <a:prstGeom prst="rect">
            <a:avLst/>
          </a:prstGeom>
          <a:noFill/>
          <a:ln/>
        </p:spPr>
        <p:txBody>
          <a:bodyPr wrap="square" lIns="0" tIns="0" rIns="0" bIns="0" rtlCol="0" anchor="ctr"/>
          <a:lstStyle/>
          <a:p>
            <a:pPr marL="0" indent="0">
              <a:buNone/>
            </a:pPr>
            <a:r>
              <a:rPr lang="en-US" sz="3800" b="1" dirty="0">
                <a:solidFill>
                  <a:srgbClr val="FFFFFF"/>
                </a:solidFill>
                <a:latin typeface="Arial" pitchFamily="34" charset="0"/>
                <a:ea typeface="Arial" pitchFamily="34" charset="-122"/>
                <a:cs typeface="Arial" pitchFamily="34" charset="-120"/>
              </a:rPr>
              <a:t>MARKOV DECISION PROCESSES</a:t>
            </a:r>
            <a:endParaRPr lang="en-US" sz="3800" dirty="0"/>
          </a:p>
        </p:txBody>
      </p:sp>
      <p:sp>
        <p:nvSpPr>
          <p:cNvPr id="6" name="Text 3"/>
          <p:cNvSpPr/>
          <p:nvPr/>
        </p:nvSpPr>
        <p:spPr>
          <a:xfrm>
            <a:off x="914400" y="2377440"/>
            <a:ext cx="10058400" cy="548640"/>
          </a:xfrm>
          <a:prstGeom prst="rect">
            <a:avLst/>
          </a:prstGeom>
          <a:noFill/>
          <a:ln/>
        </p:spPr>
        <p:txBody>
          <a:bodyPr wrap="square" lIns="0" tIns="0" rIns="0" bIns="0" rtlCol="0" anchor="ctr"/>
          <a:lstStyle/>
          <a:p>
            <a:pPr marL="0" indent="0">
              <a:buNone/>
            </a:pPr>
            <a:r>
              <a:rPr lang="en-US" sz="1800" b="1" dirty="0">
                <a:solidFill>
                  <a:srgbClr val="38BDF8"/>
                </a:solidFill>
                <a:latin typeface="Calibri" pitchFamily="34" charset="0"/>
                <a:ea typeface="Calibri" pitchFamily="34" charset="-122"/>
                <a:cs typeface="Calibri" pitchFamily="34" charset="-120"/>
              </a:rPr>
              <a:t>(MDP) — Khung Toán Học Nền Tảng Cho Ra Quyết Định Tuần Tự &amp; Reinforcement Learning</a:t>
            </a:r>
            <a:endParaRPr lang="en-US" sz="1800" dirty="0"/>
          </a:p>
        </p:txBody>
      </p:sp>
      <p:sp>
        <p:nvSpPr>
          <p:cNvPr id="7" name="Shape 4"/>
          <p:cNvSpPr/>
          <p:nvPr/>
        </p:nvSpPr>
        <p:spPr>
          <a:xfrm>
            <a:off x="914400" y="3108960"/>
            <a:ext cx="3108960" cy="384048"/>
          </a:xfrm>
          <a:prstGeom prst="roundRect">
            <a:avLst>
              <a:gd name="adj" fmla="val 23810"/>
            </a:avLst>
          </a:prstGeom>
          <a:solidFill>
            <a:srgbClr val="132235"/>
          </a:solidFill>
          <a:ln w="12700">
            <a:solidFill>
              <a:srgbClr val="1E3A5F"/>
            </a:solidFill>
            <a:prstDash val="solid"/>
          </a:ln>
        </p:spPr>
      </p:sp>
      <p:sp>
        <p:nvSpPr>
          <p:cNvPr id="8" name="Text 5"/>
          <p:cNvSpPr/>
          <p:nvPr/>
        </p:nvSpPr>
        <p:spPr>
          <a:xfrm>
            <a:off x="914400" y="3108960"/>
            <a:ext cx="3108960" cy="384048"/>
          </a:xfrm>
          <a:prstGeom prst="rect">
            <a:avLst/>
          </a:prstGeom>
          <a:noFill/>
          <a:ln/>
        </p:spPr>
        <p:txBody>
          <a:bodyPr wrap="square" lIns="0" tIns="0" rIns="0" bIns="0" rtlCol="0" anchor="ctr"/>
          <a:lstStyle/>
          <a:p>
            <a:pPr marL="0" indent="0" algn="ctr">
              <a:buNone/>
            </a:pPr>
            <a:r>
              <a:rPr lang="en-US" sz="1100" b="1" dirty="0">
                <a:solidFill>
                  <a:srgbClr val="94A3B8"/>
                </a:solidFill>
                <a:latin typeface="Calibri" pitchFamily="34" charset="0"/>
                <a:ea typeface="Calibri" pitchFamily="34" charset="-122"/>
                <a:cs typeface="Calibri" pitchFamily="34" charset="-120"/>
              </a:rPr>
              <a:t>◆  Bộ 5 thành phần (S, A, P, R, γ)</a:t>
            </a:r>
            <a:endParaRPr lang="en-US" sz="1100" dirty="0"/>
          </a:p>
        </p:txBody>
      </p:sp>
      <p:sp>
        <p:nvSpPr>
          <p:cNvPr id="9" name="Shape 6"/>
          <p:cNvSpPr/>
          <p:nvPr/>
        </p:nvSpPr>
        <p:spPr>
          <a:xfrm>
            <a:off x="4297680" y="3108960"/>
            <a:ext cx="3108960" cy="384048"/>
          </a:xfrm>
          <a:prstGeom prst="roundRect">
            <a:avLst>
              <a:gd name="adj" fmla="val 23810"/>
            </a:avLst>
          </a:prstGeom>
          <a:solidFill>
            <a:srgbClr val="132235"/>
          </a:solidFill>
          <a:ln w="12700">
            <a:solidFill>
              <a:srgbClr val="1E3A5F"/>
            </a:solidFill>
            <a:prstDash val="solid"/>
          </a:ln>
        </p:spPr>
      </p:sp>
      <p:sp>
        <p:nvSpPr>
          <p:cNvPr id="10" name="Text 7"/>
          <p:cNvSpPr/>
          <p:nvPr/>
        </p:nvSpPr>
        <p:spPr>
          <a:xfrm>
            <a:off x="4297680" y="3108960"/>
            <a:ext cx="3108960" cy="384048"/>
          </a:xfrm>
          <a:prstGeom prst="rect">
            <a:avLst/>
          </a:prstGeom>
          <a:noFill/>
          <a:ln/>
        </p:spPr>
        <p:txBody>
          <a:bodyPr wrap="square" lIns="0" tIns="0" rIns="0" bIns="0" rtlCol="0" anchor="ctr"/>
          <a:lstStyle/>
          <a:p>
            <a:pPr marL="0" indent="0" algn="ctr">
              <a:buNone/>
            </a:pPr>
            <a:r>
              <a:rPr lang="en-US" sz="1100" b="1" dirty="0">
                <a:solidFill>
                  <a:srgbClr val="94A3B8"/>
                </a:solidFill>
                <a:latin typeface="Calibri" pitchFamily="34" charset="0"/>
                <a:ea typeface="Calibri" pitchFamily="34" charset="-122"/>
                <a:cs typeface="Calibri" pitchFamily="34" charset="-120"/>
              </a:rPr>
              <a:t>◆  Hệ phương trình Bellman</a:t>
            </a:r>
            <a:endParaRPr lang="en-US" sz="1100" dirty="0"/>
          </a:p>
        </p:txBody>
      </p:sp>
      <p:sp>
        <p:nvSpPr>
          <p:cNvPr id="11" name="Shape 8"/>
          <p:cNvSpPr/>
          <p:nvPr/>
        </p:nvSpPr>
        <p:spPr>
          <a:xfrm>
            <a:off x="7680960" y="3108960"/>
            <a:ext cx="3108960" cy="384048"/>
          </a:xfrm>
          <a:prstGeom prst="roundRect">
            <a:avLst>
              <a:gd name="adj" fmla="val 23810"/>
            </a:avLst>
          </a:prstGeom>
          <a:solidFill>
            <a:srgbClr val="132235"/>
          </a:solidFill>
          <a:ln w="12700">
            <a:solidFill>
              <a:srgbClr val="1E3A5F"/>
            </a:solidFill>
            <a:prstDash val="solid"/>
          </a:ln>
        </p:spPr>
      </p:sp>
      <p:sp>
        <p:nvSpPr>
          <p:cNvPr id="12" name="Text 9"/>
          <p:cNvSpPr/>
          <p:nvPr/>
        </p:nvSpPr>
        <p:spPr>
          <a:xfrm>
            <a:off x="7680960" y="3108960"/>
            <a:ext cx="3108960" cy="384048"/>
          </a:xfrm>
          <a:prstGeom prst="rect">
            <a:avLst/>
          </a:prstGeom>
          <a:noFill/>
          <a:ln/>
        </p:spPr>
        <p:txBody>
          <a:bodyPr wrap="square" lIns="0" tIns="0" rIns="0" bIns="0" rtlCol="0" anchor="ctr"/>
          <a:lstStyle/>
          <a:p>
            <a:pPr marL="0" indent="0" algn="ctr">
              <a:buNone/>
            </a:pPr>
            <a:r>
              <a:rPr lang="en-US" sz="1100" b="1" dirty="0">
                <a:solidFill>
                  <a:srgbClr val="94A3B8"/>
                </a:solidFill>
                <a:latin typeface="Calibri" pitchFamily="34" charset="0"/>
                <a:ea typeface="Calibri" pitchFamily="34" charset="-122"/>
                <a:cs typeface="Calibri" pitchFamily="34" charset="-120"/>
              </a:rPr>
              <a:t>◆  Quy hoạch động &amp; Model-Free RL</a:t>
            </a:r>
            <a:endParaRPr lang="en-US" sz="1100" dirty="0"/>
          </a:p>
        </p:txBody>
      </p:sp>
      <p:sp>
        <p:nvSpPr>
          <p:cNvPr id="13" name="Shape 10"/>
          <p:cNvSpPr/>
          <p:nvPr/>
        </p:nvSpPr>
        <p:spPr>
          <a:xfrm>
            <a:off x="914400" y="3886200"/>
            <a:ext cx="6400800" cy="2103120"/>
          </a:xfrm>
          <a:prstGeom prst="roundRect">
            <a:avLst>
              <a:gd name="adj" fmla="val 6522"/>
            </a:avLst>
          </a:prstGeom>
          <a:solidFill>
            <a:srgbClr val="0F1B29"/>
          </a:solidFill>
          <a:ln w="19050">
            <a:solidFill>
              <a:srgbClr val="1E3A5F"/>
            </a:solidFill>
            <a:prstDash val="solid"/>
          </a:ln>
        </p:spPr>
      </p:sp>
      <p:sp>
        <p:nvSpPr>
          <p:cNvPr id="14" name="Text 11"/>
          <p:cNvSpPr/>
          <p:nvPr/>
        </p:nvSpPr>
        <p:spPr>
          <a:xfrm>
            <a:off x="1188720" y="4114800"/>
            <a:ext cx="5852160" cy="274320"/>
          </a:xfrm>
          <a:prstGeom prst="rect">
            <a:avLst/>
          </a:prstGeom>
          <a:noFill/>
          <a:ln/>
        </p:spPr>
        <p:txBody>
          <a:bodyPr wrap="square" lIns="0" tIns="0" rIns="0" bIns="0" rtlCol="0" anchor="ctr"/>
          <a:lstStyle/>
          <a:p>
            <a:pPr marL="0" indent="0">
              <a:buNone/>
            </a:pPr>
            <a:r>
              <a:rPr lang="en-US" sz="1100" b="1" dirty="0">
                <a:solidFill>
                  <a:srgbClr val="38BDF8"/>
                </a:solidFill>
                <a:latin typeface="Arial" pitchFamily="34" charset="0"/>
                <a:ea typeface="Arial" pitchFamily="34" charset="-122"/>
                <a:cs typeface="Arial" pitchFamily="34" charset="-120"/>
              </a:rPr>
              <a:t>THÔNG TIN THỰC HIỆN BÁO CÁO</a:t>
            </a:r>
            <a:endParaRPr lang="en-US" sz="1100" dirty="0"/>
          </a:p>
        </p:txBody>
      </p:sp>
      <p:sp>
        <p:nvSpPr>
          <p:cNvPr id="15" name="Text 12"/>
          <p:cNvSpPr/>
          <p:nvPr/>
        </p:nvSpPr>
        <p:spPr>
          <a:xfrm>
            <a:off x="1188720" y="4480560"/>
            <a:ext cx="1828800" cy="274320"/>
          </a:xfrm>
          <a:prstGeom prst="rect">
            <a:avLst/>
          </a:prstGeom>
          <a:noFill/>
          <a:ln/>
        </p:spPr>
        <p:txBody>
          <a:bodyPr wrap="square" lIns="0" tIns="0" rIns="0" bIns="0" rtlCol="0" anchor="ctr"/>
          <a:lstStyle/>
          <a:p>
            <a:pPr marL="0" indent="0">
              <a:buNone/>
            </a:pPr>
            <a:r>
              <a:rPr lang="en-US" sz="1050" b="1" dirty="0">
                <a:solidFill>
                  <a:srgbClr val="94A3B8"/>
                </a:solidFill>
                <a:latin typeface="Calibri" pitchFamily="34" charset="0"/>
                <a:ea typeface="Calibri" pitchFamily="34" charset="-122"/>
                <a:cs typeface="Calibri" pitchFamily="34" charset="-120"/>
              </a:rPr>
              <a:t>Người trình bày:</a:t>
            </a:r>
            <a:endParaRPr lang="en-US" sz="1050" dirty="0"/>
          </a:p>
        </p:txBody>
      </p:sp>
      <p:sp>
        <p:nvSpPr>
          <p:cNvPr id="16" name="Text 13"/>
          <p:cNvSpPr/>
          <p:nvPr/>
        </p:nvSpPr>
        <p:spPr>
          <a:xfrm>
            <a:off x="3017520" y="4480560"/>
            <a:ext cx="402336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[Họ và tên]</a:t>
            </a:r>
            <a:endParaRPr lang="en-US" sz="1050" dirty="0"/>
          </a:p>
        </p:txBody>
      </p:sp>
      <p:sp>
        <p:nvSpPr>
          <p:cNvPr id="17" name="Text 14"/>
          <p:cNvSpPr/>
          <p:nvPr/>
        </p:nvSpPr>
        <p:spPr>
          <a:xfrm>
            <a:off x="1188720" y="4828032"/>
            <a:ext cx="1828800" cy="274320"/>
          </a:xfrm>
          <a:prstGeom prst="rect">
            <a:avLst/>
          </a:prstGeom>
          <a:noFill/>
          <a:ln/>
        </p:spPr>
        <p:txBody>
          <a:bodyPr wrap="square" lIns="0" tIns="0" rIns="0" bIns="0" rtlCol="0" anchor="ctr"/>
          <a:lstStyle/>
          <a:p>
            <a:pPr marL="0" indent="0">
              <a:buNone/>
            </a:pPr>
            <a:r>
              <a:rPr lang="en-US" sz="1050" b="1" dirty="0">
                <a:solidFill>
                  <a:srgbClr val="94A3B8"/>
                </a:solidFill>
                <a:latin typeface="Calibri" pitchFamily="34" charset="0"/>
                <a:ea typeface="Calibri" pitchFamily="34" charset="-122"/>
                <a:cs typeface="Calibri" pitchFamily="34" charset="-120"/>
              </a:rPr>
              <a:t>Đơn vị / Môn học:</a:t>
            </a:r>
            <a:endParaRPr lang="en-US" sz="1050" dirty="0"/>
          </a:p>
        </p:txBody>
      </p:sp>
      <p:sp>
        <p:nvSpPr>
          <p:cNvPr id="18" name="Text 15"/>
          <p:cNvSpPr/>
          <p:nvPr/>
        </p:nvSpPr>
        <p:spPr>
          <a:xfrm>
            <a:off x="3017520" y="4828032"/>
            <a:ext cx="4023360" cy="27432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[Khoa / Viện / Tên môn học]</a:t>
            </a:r>
            <a:endParaRPr lang="en-US" sz="1050" dirty="0"/>
          </a:p>
        </p:txBody>
      </p:sp>
      <p:sp>
        <p:nvSpPr>
          <p:cNvPr id="19" name="Text 16"/>
          <p:cNvSpPr/>
          <p:nvPr/>
        </p:nvSpPr>
        <p:spPr>
          <a:xfrm>
            <a:off x="1188720" y="5175504"/>
            <a:ext cx="1828800" cy="274320"/>
          </a:xfrm>
          <a:prstGeom prst="rect">
            <a:avLst/>
          </a:prstGeom>
          <a:noFill/>
          <a:ln/>
        </p:spPr>
        <p:txBody>
          <a:bodyPr wrap="square" lIns="0" tIns="0" rIns="0" bIns="0" rtlCol="0" anchor="ctr"/>
          <a:lstStyle/>
          <a:p>
            <a:pPr marL="0" indent="0">
              <a:buNone/>
            </a:pPr>
            <a:r>
              <a:rPr lang="en-US" sz="1050" b="1" dirty="0">
                <a:solidFill>
                  <a:srgbClr val="94A3B8"/>
                </a:solidFill>
                <a:latin typeface="Calibri" pitchFamily="34" charset="0"/>
                <a:ea typeface="Calibri" pitchFamily="34" charset="-122"/>
                <a:cs typeface="Calibri" pitchFamily="34" charset="-120"/>
              </a:rPr>
              <a:t>Chủ đề chuyên sâu:</a:t>
            </a:r>
            <a:endParaRPr lang="en-US" sz="1050" dirty="0"/>
          </a:p>
        </p:txBody>
      </p:sp>
      <p:sp>
        <p:nvSpPr>
          <p:cNvPr id="20" name="Text 17"/>
          <p:cNvSpPr/>
          <p:nvPr/>
        </p:nvSpPr>
        <p:spPr>
          <a:xfrm>
            <a:off x="3017520" y="5175504"/>
            <a:ext cx="4023360" cy="27432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Markov Decision Processes &amp; Bellman Dynamic Programming</a:t>
            </a:r>
            <a:endParaRPr lang="en-US" sz="1050" dirty="0"/>
          </a:p>
        </p:txBody>
      </p:sp>
      <p:sp>
        <p:nvSpPr>
          <p:cNvPr id="21" name="Text 18"/>
          <p:cNvSpPr/>
          <p:nvPr/>
        </p:nvSpPr>
        <p:spPr>
          <a:xfrm>
            <a:off x="1188720" y="5522976"/>
            <a:ext cx="1828800" cy="274320"/>
          </a:xfrm>
          <a:prstGeom prst="rect">
            <a:avLst/>
          </a:prstGeom>
          <a:noFill/>
          <a:ln/>
        </p:spPr>
        <p:txBody>
          <a:bodyPr wrap="square" lIns="0" tIns="0" rIns="0" bIns="0" rtlCol="0" anchor="ctr"/>
          <a:lstStyle/>
          <a:p>
            <a:pPr marL="0" indent="0">
              <a:buNone/>
            </a:pPr>
            <a:r>
              <a:rPr lang="en-US" sz="1050" b="1" dirty="0">
                <a:solidFill>
                  <a:srgbClr val="94A3B8"/>
                </a:solidFill>
                <a:latin typeface="Calibri" pitchFamily="34" charset="0"/>
                <a:ea typeface="Calibri" pitchFamily="34" charset="-122"/>
                <a:cs typeface="Calibri" pitchFamily="34" charset="-120"/>
              </a:rPr>
              <a:t>Lĩnh vực nghiên cứu:</a:t>
            </a:r>
            <a:endParaRPr lang="en-US" sz="1050" dirty="0"/>
          </a:p>
        </p:txBody>
      </p:sp>
      <p:sp>
        <p:nvSpPr>
          <p:cNvPr id="22" name="Text 19"/>
          <p:cNvSpPr/>
          <p:nvPr/>
        </p:nvSpPr>
        <p:spPr>
          <a:xfrm>
            <a:off x="3017520" y="5522976"/>
            <a:ext cx="4023360" cy="27432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Artificial Intelligence • Reinforcement Learning</a:t>
            </a:r>
            <a:endParaRPr lang="en-US" sz="1050" dirty="0"/>
          </a:p>
        </p:txBody>
      </p:sp>
    </p:spTree>
  </p:cSld>
  <p:clrMapOvr>
    <a:masterClrMapping/>
  </p:clrMapOvr>
  <mc:AlternateContent xmlns:mc="http://schemas.openxmlformats.org/markup-compatibility/2006">
    <mc:Choice xmlns:p14="http://schemas.microsoft.com/office/powerpoint/2010/main" Requires="p14">
      <p:transition p14:dur="400">
        <p:blinds/>
      </p:transition>
    </mc:Choice>
    <mc:Fallback>
      <p:transition>
        <p:blind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50"/>
                                        <p:tgtEl>
                                          <p:spTgt spid="7"/>
                                        </p:tgtEl>
                                      </p:cBhvr>
                                    </p:animEffect>
                                  </p:childTnLst>
                                </p:cTn>
                              </p:par>
                            </p:childTnLst>
                          </p:cTn>
                        </p:par>
                        <p:par>
                          <p:cTn id="8" fill="hold">
                            <p:stCondLst>
                              <p:cond delay="35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350"/>
                                        <p:tgtEl>
                                          <p:spTgt spid="8"/>
                                        </p:tgtEl>
                                      </p:cBhvr>
                                    </p:animEffect>
                                  </p:childTnLst>
                                </p:cTn>
                              </p:par>
                            </p:childTnLst>
                          </p:cTn>
                        </p:par>
                        <p:par>
                          <p:cTn id="12" fill="hold">
                            <p:stCondLst>
                              <p:cond delay="7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50"/>
                                        <p:tgtEl>
                                          <p:spTgt spid="9"/>
                                        </p:tgtEl>
                                      </p:cBhvr>
                                    </p:animEffect>
                                  </p:childTnLst>
                                </p:cTn>
                              </p:par>
                            </p:childTnLst>
                          </p:cTn>
                        </p:par>
                        <p:par>
                          <p:cTn id="16" fill="hold">
                            <p:stCondLst>
                              <p:cond delay="105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50"/>
                                        <p:tgtEl>
                                          <p:spTgt spid="10"/>
                                        </p:tgtEl>
                                      </p:cBhvr>
                                    </p:animEffect>
                                  </p:childTnLst>
                                </p:cTn>
                              </p:par>
                            </p:childTnLst>
                          </p:cTn>
                        </p:par>
                        <p:par>
                          <p:cTn id="20" fill="hold">
                            <p:stCondLst>
                              <p:cond delay="1400"/>
                            </p:stCondLst>
                            <p:childTnLst>
                              <p:par>
                                <p:cTn id="21" presetID="10" presetClass="entr" presetSubtype="0"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50"/>
                                        <p:tgtEl>
                                          <p:spTgt spid="11"/>
                                        </p:tgtEl>
                                      </p:cBhvr>
                                    </p:animEffect>
                                  </p:childTnLst>
                                </p:cTn>
                              </p:par>
                            </p:childTnLst>
                          </p:cTn>
                        </p:par>
                        <p:par>
                          <p:cTn id="24" fill="hold">
                            <p:stCondLst>
                              <p:cond delay="1750"/>
                            </p:stCondLst>
                            <p:childTnLst>
                              <p:par>
                                <p:cTn id="25" presetID="10"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350"/>
                                        <p:tgtEl>
                                          <p:spTgt spid="12"/>
                                        </p:tgtEl>
                                      </p:cBhvr>
                                    </p:animEffect>
                                  </p:childTnLst>
                                </p:cTn>
                              </p:par>
                            </p:childTnLst>
                          </p:cTn>
                        </p:par>
                        <p:par>
                          <p:cTn id="28" fill="hold">
                            <p:stCondLst>
                              <p:cond delay="2100"/>
                            </p:stCondLst>
                            <p:childTnLst>
                              <p:par>
                                <p:cTn id="29" presetID="10" presetClass="entr" presetSubtype="0" fill="hold"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childTnLst>
                          </p:cTn>
                        </p:par>
                        <p:par>
                          <p:cTn id="32" fill="hold">
                            <p:stCondLst>
                              <p:cond delay="2450"/>
                            </p:stCondLst>
                            <p:childTnLst>
                              <p:par>
                                <p:cTn id="33" presetID="10"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350"/>
                                        <p:tgtEl>
                                          <p:spTgt spid="14"/>
                                        </p:tgtEl>
                                      </p:cBhvr>
                                    </p:animEffect>
                                  </p:childTnLst>
                                </p:cTn>
                              </p:par>
                            </p:childTnLst>
                          </p:cTn>
                        </p:par>
                        <p:par>
                          <p:cTn id="36" fill="hold">
                            <p:stCondLst>
                              <p:cond delay="2800"/>
                            </p:stCondLst>
                            <p:childTnLst>
                              <p:par>
                                <p:cTn id="37" presetID="10" presetClass="entr" presetSubtype="0"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350"/>
                                        <p:tgtEl>
                                          <p:spTgt spid="15"/>
                                        </p:tgtEl>
                                      </p:cBhvr>
                                    </p:animEffect>
                                  </p:childTnLst>
                                </p:cTn>
                              </p:par>
                            </p:childTnLst>
                          </p:cTn>
                        </p:par>
                        <p:par>
                          <p:cTn id="40" fill="hold">
                            <p:stCondLst>
                              <p:cond delay="3150"/>
                            </p:stCondLst>
                            <p:childTnLst>
                              <p:par>
                                <p:cTn id="41" presetID="10" presetClass="entr" presetSubtype="0"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350"/>
                                        <p:tgtEl>
                                          <p:spTgt spid="16"/>
                                        </p:tgtEl>
                                      </p:cBhvr>
                                    </p:animEffect>
                                  </p:childTnLst>
                                </p:cTn>
                              </p:par>
                            </p:childTnLst>
                          </p:cTn>
                        </p:par>
                        <p:par>
                          <p:cTn id="44" fill="hold">
                            <p:stCondLst>
                              <p:cond delay="3500"/>
                            </p:stCondLst>
                            <p:childTnLst>
                              <p:par>
                                <p:cTn id="45" presetID="10" presetClass="entr" presetSubtype="0" fill="hold" grpId="0" nodeType="after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350"/>
                                        <p:tgtEl>
                                          <p:spTgt spid="17"/>
                                        </p:tgtEl>
                                      </p:cBhvr>
                                    </p:animEffect>
                                  </p:childTnLst>
                                </p:cTn>
                              </p:par>
                            </p:childTnLst>
                          </p:cTn>
                        </p:par>
                        <p:par>
                          <p:cTn id="48" fill="hold">
                            <p:stCondLst>
                              <p:cond delay="3850"/>
                            </p:stCondLst>
                            <p:childTnLst>
                              <p:par>
                                <p:cTn id="49" presetID="10" presetClass="entr" presetSubtype="0" fill="hold" grpId="0" nodeType="after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350"/>
                                        <p:tgtEl>
                                          <p:spTgt spid="18"/>
                                        </p:tgtEl>
                                      </p:cBhvr>
                                    </p:animEffect>
                                  </p:childTnLst>
                                </p:cTn>
                              </p:par>
                            </p:childTnLst>
                          </p:cTn>
                        </p:par>
                        <p:par>
                          <p:cTn id="52" fill="hold">
                            <p:stCondLst>
                              <p:cond delay="4200"/>
                            </p:stCondLst>
                            <p:childTnLst>
                              <p:par>
                                <p:cTn id="53" presetID="10" presetClass="entr" presetSubtype="0"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350"/>
                                        <p:tgtEl>
                                          <p:spTgt spid="19"/>
                                        </p:tgtEl>
                                      </p:cBhvr>
                                    </p:animEffect>
                                  </p:childTnLst>
                                </p:cTn>
                              </p:par>
                            </p:childTnLst>
                          </p:cTn>
                        </p:par>
                        <p:par>
                          <p:cTn id="56" fill="hold">
                            <p:stCondLst>
                              <p:cond delay="4550"/>
                            </p:stCondLst>
                            <p:childTnLst>
                              <p:par>
                                <p:cTn id="57" presetID="10" presetClass="entr" presetSubtype="0" fill="hold" grpId="0" nodeType="after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350"/>
                                        <p:tgtEl>
                                          <p:spTgt spid="20"/>
                                        </p:tgtEl>
                                      </p:cBhvr>
                                    </p:animEffect>
                                  </p:childTnLst>
                                </p:cTn>
                              </p:par>
                            </p:childTnLst>
                          </p:cTn>
                        </p:par>
                        <p:par>
                          <p:cTn id="60" fill="hold">
                            <p:stCondLst>
                              <p:cond delay="4900"/>
                            </p:stCondLst>
                            <p:childTnLst>
                              <p:par>
                                <p:cTn id="61" presetID="10" presetClass="entr" presetSubtype="0" fill="hold" grpId="0" nodeType="after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350"/>
                                        <p:tgtEl>
                                          <p:spTgt spid="21"/>
                                        </p:tgtEl>
                                      </p:cBhvr>
                                    </p:animEffect>
                                  </p:childTnLst>
                                </p:cTn>
                              </p:par>
                            </p:childTnLst>
                          </p:cTn>
                        </p:par>
                        <p:par>
                          <p:cTn id="64" fill="hold">
                            <p:stCondLst>
                              <p:cond delay="5250"/>
                            </p:stCondLst>
                            <p:childTnLst>
                              <p:par>
                                <p:cTn id="65" presetID="10" presetClass="entr" presetSubtype="0" fill="hold" grpId="0" nodeType="after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3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oundRect">
            <a:avLst>
              <a:gd name="adj" fmla="val 28571"/>
            </a:avLst>
          </a:prstGeom>
          <a:solidFill>
            <a:srgbClr val="E0F2FE"/>
          </a:solidFill>
          <a:ln w="12700">
            <a:solidFill>
              <a:srgbClr val="0A7E8C"/>
            </a:solidFill>
            <a:prstDash val="solid"/>
          </a:ln>
        </p:spPr>
      </p:sp>
      <p:sp>
        <p:nvSpPr>
          <p:cNvPr id="3" name="Text 1"/>
          <p:cNvSpPr/>
          <p:nvPr/>
        </p:nvSpPr>
        <p:spPr>
          <a:xfrm>
            <a:off x="731520" y="384048"/>
            <a:ext cx="2560320" cy="256032"/>
          </a:xfrm>
          <a:prstGeom prst="rect">
            <a:avLst/>
          </a:prstGeom>
          <a:noFill/>
          <a:ln/>
        </p:spPr>
        <p:txBody>
          <a:bodyPr wrap="square" lIns="0" tIns="0" rIns="0" bIns="0" rtlCol="0" anchor="ctr"/>
          <a:lstStyle/>
          <a:p>
            <a:pPr marL="0" indent="0" algn="ctr">
              <a:buNone/>
            </a:pPr>
            <a:r>
              <a:rPr lang="en-US" sz="850" b="1" dirty="0">
                <a:solidFill>
                  <a:srgbClr val="0A7E8C"/>
                </a:solidFill>
                <a:latin typeface="Calibri" pitchFamily="34" charset="0"/>
                <a:ea typeface="Calibri" pitchFamily="34" charset="-122"/>
                <a:cs typeface="Calibri" pitchFamily="34" charset="-120"/>
              </a:rPr>
              <a:t>BỐI CẢNH &amp; ĐỘNG LỰC</a:t>
            </a:r>
            <a:endParaRPr lang="en-US" sz="850" dirty="0"/>
          </a:p>
        </p:txBody>
      </p:sp>
      <p:sp>
        <p:nvSpPr>
          <p:cNvPr id="4" name="Text 2"/>
          <p:cNvSpPr/>
          <p:nvPr/>
        </p:nvSpPr>
        <p:spPr>
          <a:xfrm>
            <a:off x="731520" y="676656"/>
            <a:ext cx="10725912" cy="438912"/>
          </a:xfrm>
          <a:prstGeom prst="rect">
            <a:avLst/>
          </a:prstGeom>
          <a:noFill/>
          <a:ln/>
        </p:spPr>
        <p:txBody>
          <a:bodyPr wrap="square" lIns="0" tIns="0" rIns="0" bIns="0" rtlCol="0" anchor="ctr"/>
          <a:lstStyle/>
          <a:p>
            <a:pPr marL="0" indent="0">
              <a:buNone/>
            </a:pPr>
            <a:r>
              <a:rPr lang="en-US" sz="2200" b="1" dirty="0">
                <a:solidFill>
                  <a:srgbClr val="0F1B29"/>
                </a:solidFill>
                <a:latin typeface="Arial" pitchFamily="34" charset="0"/>
                <a:ea typeface="Arial" pitchFamily="34" charset="-122"/>
                <a:cs typeface="Arial" pitchFamily="34" charset="-120"/>
              </a:rPr>
              <a:t>Ra Quyết Định Tuần Tự &amp; Vòng Lặp Agent – Environment</a:t>
            </a:r>
            <a:endParaRPr lang="en-US" sz="2200" dirty="0"/>
          </a:p>
        </p:txBody>
      </p:sp>
      <p:sp>
        <p:nvSpPr>
          <p:cNvPr id="5" name="Text 3"/>
          <p:cNvSpPr/>
          <p:nvPr/>
        </p:nvSpPr>
        <p:spPr>
          <a:xfrm>
            <a:off x="731520" y="1115568"/>
            <a:ext cx="10725912" cy="292608"/>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Từ các quyết định độc lập (Supervised Learning) đến chuỗi quyết định định hình tương lai</a:t>
            </a:r>
            <a:endParaRPr lang="en-US" sz="1200" dirty="0"/>
          </a:p>
        </p:txBody>
      </p:sp>
      <p:sp>
        <p:nvSpPr>
          <p:cNvPr id="6" name="Text 4"/>
          <p:cNvSpPr/>
          <p:nvPr/>
        </p:nvSpPr>
        <p:spPr>
          <a:xfrm>
            <a:off x="731520" y="6446520"/>
            <a:ext cx="7315200" cy="274320"/>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MARKOV DECISION PROCESSES (MDP) • AI &amp; REINFORCEMENT LEARNING</a:t>
            </a:r>
            <a:endParaRPr lang="en-US" sz="850" dirty="0"/>
          </a:p>
        </p:txBody>
      </p:sp>
      <p:sp>
        <p:nvSpPr>
          <p:cNvPr id="7" name="Text 5"/>
          <p:cNvSpPr/>
          <p:nvPr/>
        </p:nvSpPr>
        <p:spPr>
          <a:xfrm>
            <a:off x="9875520" y="6446520"/>
            <a:ext cx="1581912" cy="274320"/>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02 / 12</a:t>
            </a:r>
            <a:endParaRPr lang="en-US" sz="900" dirty="0"/>
          </a:p>
        </p:txBody>
      </p:sp>
      <p:sp>
        <p:nvSpPr>
          <p:cNvPr id="8" name="Shape 6"/>
          <p:cNvSpPr/>
          <p:nvPr/>
        </p:nvSpPr>
        <p:spPr>
          <a:xfrm>
            <a:off x="731520" y="1508760"/>
            <a:ext cx="4572000" cy="2240280"/>
          </a:xfrm>
          <a:prstGeom prst="roundRect">
            <a:avLst>
              <a:gd name="adj" fmla="val 4898"/>
            </a:avLst>
          </a:prstGeom>
          <a:solidFill>
            <a:srgbClr val="FFFFFF"/>
          </a:solidFill>
          <a:ln w="15240">
            <a:solidFill>
              <a:srgbClr val="E2E8F0"/>
            </a:solidFill>
            <a:prstDash val="solid"/>
          </a:ln>
        </p:spPr>
      </p:sp>
      <p:sp>
        <p:nvSpPr>
          <p:cNvPr id="9" name="Text 7"/>
          <p:cNvSpPr/>
          <p:nvPr/>
        </p:nvSpPr>
        <p:spPr>
          <a:xfrm>
            <a:off x="960120" y="1691640"/>
            <a:ext cx="4114800" cy="274320"/>
          </a:xfrm>
          <a:prstGeom prst="rect">
            <a:avLst/>
          </a:prstGeom>
          <a:noFill/>
          <a:ln/>
        </p:spPr>
        <p:txBody>
          <a:bodyPr wrap="square" lIns="0" tIns="0" rIns="0" bIns="0" rtlCol="0" anchor="ctr"/>
          <a:lstStyle/>
          <a:p>
            <a:pPr marL="0" indent="0">
              <a:buNone/>
            </a:pPr>
            <a:r>
              <a:rPr lang="en-US" sz="1200" b="1" dirty="0">
                <a:solidFill>
                  <a:srgbClr val="0F1B29"/>
                </a:solidFill>
                <a:latin typeface="Arial" pitchFamily="34" charset="0"/>
                <a:ea typeface="Arial" pitchFamily="34" charset="-122"/>
                <a:cs typeface="Arial" pitchFamily="34" charset="-120"/>
              </a:rPr>
              <a:t>ĐẶC TRƯNG RA QUYẾT ĐỊNH TUẦN TỰ</a:t>
            </a:r>
            <a:endParaRPr lang="en-US" sz="1200" dirty="0"/>
          </a:p>
        </p:txBody>
      </p:sp>
      <p:sp>
        <p:nvSpPr>
          <p:cNvPr id="10" name="Text 8"/>
          <p:cNvSpPr/>
          <p:nvPr/>
        </p:nvSpPr>
        <p:spPr>
          <a:xfrm>
            <a:off x="960120" y="2029968"/>
            <a:ext cx="4114800" cy="475488"/>
          </a:xfrm>
          <a:prstGeom prst="rect">
            <a:avLst/>
          </a:prstGeom>
          <a:noFill/>
          <a:ln/>
        </p:spPr>
        <p:txBody>
          <a:bodyPr wrap="square" lIns="0" tIns="0" rIns="0" bIns="0" rtlCol="0" anchor="ctr"/>
          <a:lstStyle/>
          <a:p>
            <a:pPr marL="0" indent="0">
              <a:buNone/>
            </a:pPr>
            <a:r>
              <a:rPr lang="en-US" sz="1000" b="1" dirty="0">
                <a:solidFill>
                  <a:srgbClr val="0A7E8C"/>
                </a:solidFill>
                <a:latin typeface="Calibri" pitchFamily="34" charset="0"/>
                <a:ea typeface="Calibri" pitchFamily="34" charset="-122"/>
                <a:cs typeface="Calibri" pitchFamily="34" charset="-120"/>
              </a:rPr>
              <a:t>•  </a:t>
            </a:r>
            <a:r>
              <a:rPr lang="en-US" sz="1000" b="1" dirty="0">
                <a:solidFill>
                  <a:srgbClr val="0F1B29"/>
                </a:solidFill>
                <a:latin typeface="Calibri" pitchFamily="34" charset="0"/>
                <a:ea typeface="Calibri" pitchFamily="34" charset="-122"/>
                <a:cs typeface="Calibri" pitchFamily="34" charset="-120"/>
              </a:rPr>
              <a:t>Hậu quả kéo dài:</a:t>
            </a:r>
            <a:r>
              <a:rPr lang="en-US" sz="1000" dirty="0">
                <a:solidFill>
                  <a:srgbClr val="475569"/>
                </a:solidFill>
                <a:latin typeface="Calibri" pitchFamily="34" charset="0"/>
                <a:ea typeface="Calibri" pitchFamily="34" charset="-122"/>
                <a:cs typeface="Calibri" pitchFamily="34" charset="-120"/>
              </a:rPr>
              <a:t> Quyết định hiện tại không chỉ đem lại phần thưởng ngay lập tức, mà còn trực tiếp định hình toàn bộ trạng thái trong tương lai.</a:t>
            </a:r>
            <a:endParaRPr lang="en-US" sz="1000" dirty="0"/>
          </a:p>
        </p:txBody>
      </p:sp>
      <p:sp>
        <p:nvSpPr>
          <p:cNvPr id="11" name="Text 9"/>
          <p:cNvSpPr/>
          <p:nvPr/>
        </p:nvSpPr>
        <p:spPr>
          <a:xfrm>
            <a:off x="960120" y="2560320"/>
            <a:ext cx="4114800" cy="475488"/>
          </a:xfrm>
          <a:prstGeom prst="rect">
            <a:avLst/>
          </a:prstGeom>
          <a:noFill/>
          <a:ln/>
        </p:spPr>
        <p:txBody>
          <a:bodyPr wrap="square" lIns="0" tIns="0" rIns="0" bIns="0" rtlCol="0" anchor="ctr"/>
          <a:lstStyle/>
          <a:p>
            <a:pPr marL="0" indent="0">
              <a:buNone/>
            </a:pPr>
            <a:r>
              <a:rPr lang="en-US" sz="1000" b="1" dirty="0">
                <a:solidFill>
                  <a:srgbClr val="0A7E8C"/>
                </a:solidFill>
                <a:latin typeface="Calibri" pitchFamily="34" charset="0"/>
                <a:ea typeface="Calibri" pitchFamily="34" charset="-122"/>
                <a:cs typeface="Calibri" pitchFamily="34" charset="-120"/>
              </a:rPr>
              <a:t>•  </a:t>
            </a:r>
            <a:r>
              <a:rPr lang="en-US" sz="1000" b="1" dirty="0">
                <a:solidFill>
                  <a:srgbClr val="0F1B29"/>
                </a:solidFill>
                <a:latin typeface="Calibri" pitchFamily="34" charset="0"/>
                <a:ea typeface="Calibri" pitchFamily="34" charset="-122"/>
                <a:cs typeface="Calibri" pitchFamily="34" charset="-120"/>
              </a:rPr>
              <a:t>Đánh đổi chiến lược:</a:t>
            </a:r>
            <a:r>
              <a:rPr lang="en-US" sz="1000" dirty="0">
                <a:solidFill>
                  <a:srgbClr val="475569"/>
                </a:solidFill>
                <a:latin typeface="Calibri" pitchFamily="34" charset="0"/>
                <a:ea typeface="Calibri" pitchFamily="34" charset="-122"/>
                <a:cs typeface="Calibri" pitchFamily="34" charset="-120"/>
              </a:rPr>
              <a:t> Giằng co giữa Phần thưởng tức thì (Immediate Reward) và Mục tiêu lâu dài (Delayed Reward).</a:t>
            </a:r>
            <a:endParaRPr lang="en-US" sz="1000" dirty="0"/>
          </a:p>
        </p:txBody>
      </p:sp>
      <p:sp>
        <p:nvSpPr>
          <p:cNvPr id="12" name="Text 10"/>
          <p:cNvSpPr/>
          <p:nvPr/>
        </p:nvSpPr>
        <p:spPr>
          <a:xfrm>
            <a:off x="960120" y="3090672"/>
            <a:ext cx="4114800" cy="475488"/>
          </a:xfrm>
          <a:prstGeom prst="rect">
            <a:avLst/>
          </a:prstGeom>
          <a:noFill/>
          <a:ln/>
        </p:spPr>
        <p:txBody>
          <a:bodyPr wrap="square" lIns="0" tIns="0" rIns="0" bIns="0" rtlCol="0" anchor="ctr"/>
          <a:lstStyle/>
          <a:p>
            <a:pPr marL="0" indent="0">
              <a:buNone/>
            </a:pPr>
            <a:r>
              <a:rPr lang="en-US" sz="1000" b="1" dirty="0">
                <a:solidFill>
                  <a:srgbClr val="0A7E8C"/>
                </a:solidFill>
                <a:latin typeface="Calibri" pitchFamily="34" charset="0"/>
                <a:ea typeface="Calibri" pitchFamily="34" charset="-122"/>
                <a:cs typeface="Calibri" pitchFamily="34" charset="-120"/>
              </a:rPr>
              <a:t>•  </a:t>
            </a:r>
            <a:r>
              <a:rPr lang="en-US" sz="1000" b="1" dirty="0">
                <a:solidFill>
                  <a:srgbClr val="0F1B29"/>
                </a:solidFill>
                <a:latin typeface="Calibri" pitchFamily="34" charset="0"/>
                <a:ea typeface="Calibri" pitchFamily="34" charset="-122"/>
                <a:cs typeface="Calibri" pitchFamily="34" charset="-120"/>
              </a:rPr>
              <a:t>Tích lũy sai số:</a:t>
            </a:r>
            <a:r>
              <a:rPr lang="en-US" sz="1000" dirty="0">
                <a:solidFill>
                  <a:srgbClr val="475569"/>
                </a:solidFill>
                <a:latin typeface="Calibri" pitchFamily="34" charset="0"/>
                <a:ea typeface="Calibri" pitchFamily="34" charset="-122"/>
                <a:cs typeface="Calibri" pitchFamily="34" charset="-120"/>
              </a:rPr>
              <a:t> Một quyết định sai lầm ở hiện tại có thể dẫn tới thất bại sau hàng chục bước nữa.</a:t>
            </a:r>
            <a:endParaRPr lang="en-US" sz="1000" dirty="0"/>
          </a:p>
        </p:txBody>
      </p:sp>
      <p:sp>
        <p:nvSpPr>
          <p:cNvPr id="13" name="Shape 11"/>
          <p:cNvSpPr/>
          <p:nvPr/>
        </p:nvSpPr>
        <p:spPr>
          <a:xfrm>
            <a:off x="731520" y="3886200"/>
            <a:ext cx="4572000" cy="2240280"/>
          </a:xfrm>
          <a:prstGeom prst="roundRect">
            <a:avLst>
              <a:gd name="adj" fmla="val 4898"/>
            </a:avLst>
          </a:prstGeom>
          <a:solidFill>
            <a:srgbClr val="F0FDFA"/>
          </a:solidFill>
          <a:ln w="15240">
            <a:solidFill>
              <a:srgbClr val="A7F3D0"/>
            </a:solidFill>
            <a:prstDash val="solid"/>
          </a:ln>
        </p:spPr>
      </p:sp>
      <p:sp>
        <p:nvSpPr>
          <p:cNvPr id="14" name="Text 12"/>
          <p:cNvSpPr/>
          <p:nvPr/>
        </p:nvSpPr>
        <p:spPr>
          <a:xfrm>
            <a:off x="960120" y="4069080"/>
            <a:ext cx="4114800" cy="274320"/>
          </a:xfrm>
          <a:prstGeom prst="rect">
            <a:avLst/>
          </a:prstGeom>
          <a:noFill/>
          <a:ln/>
        </p:spPr>
        <p:txBody>
          <a:bodyPr wrap="square" lIns="0" tIns="0" rIns="0" bIns="0" rtlCol="0" anchor="ctr"/>
          <a:lstStyle/>
          <a:p>
            <a:pPr marL="0" indent="0">
              <a:buNone/>
            </a:pPr>
            <a:r>
              <a:rPr lang="en-US" sz="1100" b="1" dirty="0">
                <a:solidFill>
                  <a:srgbClr val="065F6B"/>
                </a:solidFill>
                <a:latin typeface="Arial" pitchFamily="34" charset="0"/>
                <a:ea typeface="Arial" pitchFamily="34" charset="-122"/>
                <a:cs typeface="Arial" pitchFamily="34" charset="-120"/>
              </a:rPr>
              <a:t>SO SÁNH: HỌC CÓ GIÁM SÁT VS RA QUYẾT ĐỊNH TUẦN TỰ</a:t>
            </a:r>
            <a:endParaRPr lang="en-US" sz="1100" dirty="0"/>
          </a:p>
        </p:txBody>
      </p:sp>
      <p:sp>
        <p:nvSpPr>
          <p:cNvPr id="15" name="Text 13"/>
          <p:cNvSpPr/>
          <p:nvPr/>
        </p:nvSpPr>
        <p:spPr>
          <a:xfrm>
            <a:off x="960120" y="4407408"/>
            <a:ext cx="4114800" cy="475488"/>
          </a:xfrm>
          <a:prstGeom prst="rect">
            <a:avLst/>
          </a:prstGeom>
          <a:noFill/>
          <a:ln/>
        </p:spPr>
        <p:txBody>
          <a:bodyPr wrap="square" lIns="0" tIns="0" rIns="0" bIns="0" rtlCol="0" anchor="ctr"/>
          <a:lstStyle/>
          <a:p>
            <a:pPr marL="0" indent="0">
              <a:buNone/>
            </a:pPr>
            <a:r>
              <a:rPr lang="en-US" sz="1000" b="1" dirty="0">
                <a:solidFill>
                  <a:srgbClr val="0A7E8C"/>
                </a:solidFill>
                <a:latin typeface="Calibri" pitchFamily="34" charset="0"/>
                <a:ea typeface="Calibri" pitchFamily="34" charset="-122"/>
                <a:cs typeface="Calibri" pitchFamily="34" charset="-120"/>
              </a:rPr>
              <a:t>✔  </a:t>
            </a:r>
            <a:r>
              <a:rPr lang="en-US" sz="1000" b="1" dirty="0">
                <a:solidFill>
                  <a:srgbClr val="0F1B29"/>
                </a:solidFill>
                <a:latin typeface="Calibri" pitchFamily="34" charset="0"/>
                <a:ea typeface="Calibri" pitchFamily="34" charset="-122"/>
                <a:cs typeface="Calibri" pitchFamily="34" charset="-120"/>
              </a:rPr>
              <a:t>Supervised Learning:</a:t>
            </a:r>
            <a:r>
              <a:rPr lang="en-US" sz="1000" dirty="0">
                <a:solidFill>
                  <a:srgbClr val="475569"/>
                </a:solidFill>
                <a:latin typeface="Calibri" pitchFamily="34" charset="0"/>
                <a:ea typeface="Calibri" pitchFamily="34" charset="-122"/>
                <a:cs typeface="Calibri" pitchFamily="34" charset="-120"/>
              </a:rPr>
              <a:t> Các mẫu dữ liệu độc lập (i.i.d.). Dự đoán bước này không ảnh hưởng đến dữ liệu bước sau.</a:t>
            </a:r>
            <a:endParaRPr lang="en-US" sz="1000" dirty="0"/>
          </a:p>
        </p:txBody>
      </p:sp>
      <p:sp>
        <p:nvSpPr>
          <p:cNvPr id="16" name="Text 14"/>
          <p:cNvSpPr/>
          <p:nvPr/>
        </p:nvSpPr>
        <p:spPr>
          <a:xfrm>
            <a:off x="960120" y="4937760"/>
            <a:ext cx="4114800" cy="475488"/>
          </a:xfrm>
          <a:prstGeom prst="rect">
            <a:avLst/>
          </a:prstGeom>
          <a:noFill/>
          <a:ln/>
        </p:spPr>
        <p:txBody>
          <a:bodyPr wrap="square" lIns="0" tIns="0" rIns="0" bIns="0" rtlCol="0" anchor="ctr"/>
          <a:lstStyle/>
          <a:p>
            <a:pPr marL="0" indent="0">
              <a:buNone/>
            </a:pPr>
            <a:r>
              <a:rPr lang="en-US" sz="1000" b="1" dirty="0">
                <a:solidFill>
                  <a:srgbClr val="0A7E8C"/>
                </a:solidFill>
                <a:latin typeface="Calibri" pitchFamily="34" charset="0"/>
                <a:ea typeface="Calibri" pitchFamily="34" charset="-122"/>
                <a:cs typeface="Calibri" pitchFamily="34" charset="-120"/>
              </a:rPr>
              <a:t>✔  </a:t>
            </a:r>
            <a:r>
              <a:rPr lang="en-US" sz="1000" b="1" dirty="0">
                <a:solidFill>
                  <a:srgbClr val="0F1B29"/>
                </a:solidFill>
                <a:latin typeface="Calibri" pitchFamily="34" charset="0"/>
                <a:ea typeface="Calibri" pitchFamily="34" charset="-122"/>
                <a:cs typeface="Calibri" pitchFamily="34" charset="-120"/>
              </a:rPr>
              <a:t>Sequential Decision (MDP):</a:t>
            </a:r>
            <a:r>
              <a:rPr lang="en-US" sz="1000" dirty="0">
                <a:solidFill>
                  <a:srgbClr val="475569"/>
                </a:solidFill>
                <a:latin typeface="Calibri" pitchFamily="34" charset="0"/>
                <a:ea typeface="Calibri" pitchFamily="34" charset="-122"/>
                <a:cs typeface="Calibri" pitchFamily="34" charset="-120"/>
              </a:rPr>
              <a:t> Hành động làm thay đổi môi trường. Dữ liệu là chuỗi quỹ đạo động phụ thuộc lẫn nhau.</a:t>
            </a:r>
            <a:endParaRPr lang="en-US" sz="1000" dirty="0"/>
          </a:p>
        </p:txBody>
      </p:sp>
      <p:sp>
        <p:nvSpPr>
          <p:cNvPr id="17" name="Text 15"/>
          <p:cNvSpPr/>
          <p:nvPr/>
        </p:nvSpPr>
        <p:spPr>
          <a:xfrm>
            <a:off x="960120" y="5468112"/>
            <a:ext cx="4114800" cy="475488"/>
          </a:xfrm>
          <a:prstGeom prst="rect">
            <a:avLst/>
          </a:prstGeom>
          <a:noFill/>
          <a:ln/>
        </p:spPr>
        <p:txBody>
          <a:bodyPr wrap="square" lIns="0" tIns="0" rIns="0" bIns="0" rtlCol="0" anchor="ctr"/>
          <a:lstStyle/>
          <a:p>
            <a:pPr marL="0" indent="0">
              <a:buNone/>
            </a:pPr>
            <a:r>
              <a:rPr lang="en-US" sz="1000" b="1" dirty="0">
                <a:solidFill>
                  <a:srgbClr val="0A7E8C"/>
                </a:solidFill>
                <a:latin typeface="Calibri" pitchFamily="34" charset="0"/>
                <a:ea typeface="Calibri" pitchFamily="34" charset="-122"/>
                <a:cs typeface="Calibri" pitchFamily="34" charset="-120"/>
              </a:rPr>
              <a:t>✔  </a:t>
            </a:r>
            <a:r>
              <a:rPr lang="en-US" sz="1000" b="1" dirty="0">
                <a:solidFill>
                  <a:srgbClr val="0F1B29"/>
                </a:solidFill>
                <a:latin typeface="Calibri" pitchFamily="34" charset="0"/>
                <a:ea typeface="Calibri" pitchFamily="34" charset="-122"/>
                <a:cs typeface="Calibri" pitchFamily="34" charset="-120"/>
              </a:rPr>
              <a:t>Thách thức chính:</a:t>
            </a:r>
            <a:r>
              <a:rPr lang="en-US" sz="1000" dirty="0">
                <a:solidFill>
                  <a:srgbClr val="475569"/>
                </a:solidFill>
                <a:latin typeface="Calibri" pitchFamily="34" charset="0"/>
                <a:ea typeface="Calibri" pitchFamily="34" charset="-122"/>
                <a:cs typeface="Calibri" pitchFamily="34" charset="-120"/>
              </a:rPr>
              <a:t> Cân bằng giữa Khám phá (Exploration) những hành động mới và Khai thác (Exploitation) kiến thức đã biết.</a:t>
            </a:r>
            <a:endParaRPr lang="en-US" sz="1000" dirty="0"/>
          </a:p>
        </p:txBody>
      </p:sp>
      <p:sp>
        <p:nvSpPr>
          <p:cNvPr id="18" name="Shape 16"/>
          <p:cNvSpPr/>
          <p:nvPr/>
        </p:nvSpPr>
        <p:spPr>
          <a:xfrm>
            <a:off x="5577840" y="1508760"/>
            <a:ext cx="5879592" cy="4617720"/>
          </a:xfrm>
          <a:prstGeom prst="roundRect">
            <a:avLst>
              <a:gd name="adj" fmla="val 2376"/>
            </a:avLst>
          </a:prstGeom>
          <a:solidFill>
            <a:srgbClr val="FFFFFF"/>
          </a:solidFill>
          <a:ln w="15240">
            <a:solidFill>
              <a:srgbClr val="E2E8F0"/>
            </a:solidFill>
            <a:prstDash val="solid"/>
          </a:ln>
        </p:spPr>
      </p:sp>
      <p:sp>
        <p:nvSpPr>
          <p:cNvPr id="19" name="Text 17"/>
          <p:cNvSpPr/>
          <p:nvPr/>
        </p:nvSpPr>
        <p:spPr>
          <a:xfrm>
            <a:off x="5806440" y="1691640"/>
            <a:ext cx="5394960" cy="274320"/>
          </a:xfrm>
          <a:prstGeom prst="rect">
            <a:avLst/>
          </a:prstGeom>
          <a:noFill/>
          <a:ln/>
        </p:spPr>
        <p:txBody>
          <a:bodyPr wrap="square" lIns="0" tIns="0" rIns="0" bIns="0" rtlCol="0" anchor="ctr"/>
          <a:lstStyle/>
          <a:p>
            <a:pPr marL="0" indent="0">
              <a:buNone/>
            </a:pPr>
            <a:r>
              <a:rPr lang="en-US" sz="1200" b="1" dirty="0">
                <a:solidFill>
                  <a:srgbClr val="0F1B29"/>
                </a:solidFill>
                <a:latin typeface="Arial" pitchFamily="34" charset="0"/>
                <a:ea typeface="Arial" pitchFamily="34" charset="-122"/>
                <a:cs typeface="Arial" pitchFamily="34" charset="-120"/>
              </a:rPr>
              <a:t>SƠ ĐỒ TƯƠNG TÁC AGENT – ENVIRONMENT</a:t>
            </a:r>
            <a:endParaRPr lang="en-US" sz="1200" dirty="0"/>
          </a:p>
        </p:txBody>
      </p:sp>
      <p:pic>
        <p:nvPicPr>
          <p:cNvPr id="20" name="Image 0" descr="D:\Study\HK5\CSAI\ThuyetTrinhMDP\assets\diagram_agent_env.png"/>
          <p:cNvPicPr>
            <a:picLocks noChangeAspect="1"/>
          </p:cNvPicPr>
          <p:nvPr/>
        </p:nvPicPr>
        <p:blipFill>
          <a:blip r:embed="rId3"/>
          <a:stretch>
            <a:fillRect/>
          </a:stretch>
        </p:blipFill>
        <p:spPr>
          <a:xfrm>
            <a:off x="5715000" y="2011680"/>
            <a:ext cx="5605272" cy="3200400"/>
          </a:xfrm>
          <a:prstGeom prst="rect">
            <a:avLst/>
          </a:prstGeom>
        </p:spPr>
      </p:pic>
      <p:sp>
        <p:nvSpPr>
          <p:cNvPr id="21" name="Text 18"/>
          <p:cNvSpPr/>
          <p:nvPr/>
        </p:nvSpPr>
        <p:spPr>
          <a:xfrm>
            <a:off x="5806440" y="5349240"/>
            <a:ext cx="5394960" cy="594360"/>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Chu trình khép kín: Tại thời điểm t, Tác tử quan sát St, thực thi At. Môi trường chuyển sang St+1 và phản hồi Rt+1.</a:t>
            </a:r>
            <a:endParaRPr lang="en-US" sz="1000" dirty="0"/>
          </a:p>
        </p:txBody>
      </p:sp>
    </p:spTree>
  </p:cSld>
  <p:clrMapOvr>
    <a:masterClrMapping/>
  </p:clrMapOvr>
  <mc:AlternateContent xmlns:mc="http://schemas.openxmlformats.org/markup-compatibility/2006">
    <mc:Choice xmlns:p14="http://schemas.microsoft.com/office/powerpoint/2010/main" Requires="p14">
      <p:transition p14:dur="400">
        <p:blinds/>
      </p:transition>
    </mc:Choice>
    <mc:Fallback>
      <p:transition>
        <p:blind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childTnLst>
                          </p:cTn>
                        </p:par>
                        <p:par>
                          <p:cTn id="8" fill="hold">
                            <p:stCondLst>
                              <p:cond delay="300"/>
                            </p:stCondLst>
                            <p:childTnLst>
                              <p:par>
                                <p:cTn id="9" presetID="10"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300"/>
                                        <p:tgtEl>
                                          <p:spTgt spid="13"/>
                                        </p:tgtEl>
                                      </p:cBhvr>
                                    </p:animEffect>
                                  </p:childTnLst>
                                </p:cTn>
                              </p:par>
                            </p:childTnLst>
                          </p:cTn>
                        </p:par>
                        <p:par>
                          <p:cTn id="12" fill="hold">
                            <p:stCondLst>
                              <p:cond delay="600"/>
                            </p:stCondLst>
                            <p:childTnLst>
                              <p:par>
                                <p:cTn id="13" presetID="10"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00"/>
                                        <p:tgtEl>
                                          <p:spTgt spid="9"/>
                                        </p:tgtEl>
                                      </p:cBhvr>
                                    </p:animEffect>
                                  </p:childTnLst>
                                </p:cTn>
                              </p:par>
                            </p:childTnLst>
                          </p:cTn>
                        </p:par>
                        <p:par>
                          <p:cTn id="16" fill="hold">
                            <p:stCondLst>
                              <p:cond delay="90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00"/>
                                        <p:tgtEl>
                                          <p:spTgt spid="10"/>
                                        </p:tgtEl>
                                      </p:cBhvr>
                                    </p:animEffect>
                                  </p:childTnLst>
                                </p:cTn>
                              </p:par>
                            </p:childTnLst>
                          </p:cTn>
                        </p:par>
                        <p:par>
                          <p:cTn id="20" fill="hold">
                            <p:stCondLst>
                              <p:cond delay="1200"/>
                            </p:stCondLst>
                            <p:childTnLst>
                              <p:par>
                                <p:cTn id="21" presetID="10"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00"/>
                                        <p:tgtEl>
                                          <p:spTgt spid="11"/>
                                        </p:tgtEl>
                                      </p:cBhvr>
                                    </p:animEffect>
                                  </p:childTnLst>
                                </p:cTn>
                              </p:par>
                            </p:childTnLst>
                          </p:cTn>
                        </p:par>
                        <p:par>
                          <p:cTn id="24" fill="hold">
                            <p:stCondLst>
                              <p:cond delay="1500"/>
                            </p:stCondLst>
                            <p:childTnLst>
                              <p:par>
                                <p:cTn id="25" presetID="10"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300"/>
                                        <p:tgtEl>
                                          <p:spTgt spid="12"/>
                                        </p:tgtEl>
                                      </p:cBhvr>
                                    </p:animEffect>
                                  </p:childTnLst>
                                </p:cTn>
                              </p:par>
                            </p:childTnLst>
                          </p:cTn>
                        </p:par>
                        <p:par>
                          <p:cTn id="28" fill="hold">
                            <p:stCondLst>
                              <p:cond delay="1800"/>
                            </p:stCondLst>
                            <p:childTnLst>
                              <p:par>
                                <p:cTn id="29" presetID="10" presetClass="entr" presetSubtype="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300"/>
                                        <p:tgtEl>
                                          <p:spTgt spid="14"/>
                                        </p:tgtEl>
                                      </p:cBhvr>
                                    </p:animEffect>
                                  </p:childTnLst>
                                </p:cTn>
                              </p:par>
                            </p:childTnLst>
                          </p:cTn>
                        </p:par>
                        <p:par>
                          <p:cTn id="32" fill="hold">
                            <p:stCondLst>
                              <p:cond delay="2100"/>
                            </p:stCondLst>
                            <p:childTnLst>
                              <p:par>
                                <p:cTn id="33" presetID="10" presetClass="entr" presetSubtype="0"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00"/>
                                        <p:tgtEl>
                                          <p:spTgt spid="15"/>
                                        </p:tgtEl>
                                      </p:cBhvr>
                                    </p:animEffect>
                                  </p:childTnLst>
                                </p:cTn>
                              </p:par>
                            </p:childTnLst>
                          </p:cTn>
                        </p:par>
                        <p:par>
                          <p:cTn id="36" fill="hold">
                            <p:stCondLst>
                              <p:cond delay="2400"/>
                            </p:stCondLst>
                            <p:childTnLst>
                              <p:par>
                                <p:cTn id="37" presetID="10" presetClass="entr" presetSubtype="0"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300"/>
                                        <p:tgtEl>
                                          <p:spTgt spid="16"/>
                                        </p:tgtEl>
                                      </p:cBhvr>
                                    </p:animEffect>
                                  </p:childTnLst>
                                </p:cTn>
                              </p:par>
                            </p:childTnLst>
                          </p:cTn>
                        </p:par>
                        <p:par>
                          <p:cTn id="40" fill="hold">
                            <p:stCondLst>
                              <p:cond delay="2700"/>
                            </p:stCondLst>
                            <p:childTnLst>
                              <p:par>
                                <p:cTn id="41" presetID="10" presetClass="entr" presetSubtype="0" fill="hold" grpId="0"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300"/>
                                        <p:tgtEl>
                                          <p:spTgt spid="17"/>
                                        </p:tgtEl>
                                      </p:cBhvr>
                                    </p:animEffect>
                                  </p:childTnLst>
                                </p:cTn>
                              </p:par>
                            </p:childTnLst>
                          </p:cTn>
                        </p:par>
                        <p:par>
                          <p:cTn id="44" fill="hold">
                            <p:stCondLst>
                              <p:cond delay="3000"/>
                            </p:stCondLst>
                            <p:childTnLst>
                              <p:par>
                                <p:cTn id="45" presetID="10" presetClass="entr" presetSubtype="0" fill="hold"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300"/>
                                        <p:tgtEl>
                                          <p:spTgt spid="18"/>
                                        </p:tgtEl>
                                      </p:cBhvr>
                                    </p:animEffect>
                                  </p:childTnLst>
                                </p:cTn>
                              </p:par>
                            </p:childTnLst>
                          </p:cTn>
                        </p:par>
                        <p:par>
                          <p:cTn id="48" fill="hold">
                            <p:stCondLst>
                              <p:cond delay="3300"/>
                            </p:stCondLst>
                            <p:childTnLst>
                              <p:par>
                                <p:cTn id="49" presetID="10" presetClass="entr" presetSubtype="0" fill="hold" grpId="0"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300"/>
                                        <p:tgtEl>
                                          <p:spTgt spid="19"/>
                                        </p:tgtEl>
                                      </p:cBhvr>
                                    </p:animEffect>
                                  </p:childTnLst>
                                </p:cTn>
                              </p:par>
                            </p:childTnLst>
                          </p:cTn>
                        </p:par>
                        <p:par>
                          <p:cTn id="52" fill="hold">
                            <p:stCondLst>
                              <p:cond delay="3600"/>
                            </p:stCondLst>
                            <p:childTnLst>
                              <p:par>
                                <p:cTn id="53" presetID="10" presetClass="entr" presetSubtype="0" fill="hold" nodeType="after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300"/>
                                        <p:tgtEl>
                                          <p:spTgt spid="20"/>
                                        </p:tgtEl>
                                      </p:cBhvr>
                                    </p:animEffect>
                                  </p:childTnLst>
                                </p:cTn>
                              </p:par>
                            </p:childTnLst>
                          </p:cTn>
                        </p:par>
                        <p:par>
                          <p:cTn id="56" fill="hold">
                            <p:stCondLst>
                              <p:cond delay="3900"/>
                            </p:stCondLst>
                            <p:childTnLst>
                              <p:par>
                                <p:cTn id="57" presetID="10" presetClass="entr" presetSubtype="0" fill="hold" grpId="0" nodeType="after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3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4" grpId="0" animBg="1"/>
      <p:bldP spid="15" grpId="0" animBg="1"/>
      <p:bldP spid="16" grpId="0" animBg="1"/>
      <p:bldP spid="17" grpId="0" animBg="1"/>
      <p:bldP spid="19" grpId="0" animBg="1"/>
      <p:bldP spid="2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oundRect">
            <a:avLst>
              <a:gd name="adj" fmla="val 28571"/>
            </a:avLst>
          </a:prstGeom>
          <a:solidFill>
            <a:srgbClr val="E0F2FE"/>
          </a:solidFill>
          <a:ln w="12700">
            <a:solidFill>
              <a:srgbClr val="0A7E8C"/>
            </a:solidFill>
            <a:prstDash val="solid"/>
          </a:ln>
        </p:spPr>
      </p:sp>
      <p:sp>
        <p:nvSpPr>
          <p:cNvPr id="3" name="Text 1"/>
          <p:cNvSpPr/>
          <p:nvPr/>
        </p:nvSpPr>
        <p:spPr>
          <a:xfrm>
            <a:off x="731520" y="384048"/>
            <a:ext cx="2560320" cy="256032"/>
          </a:xfrm>
          <a:prstGeom prst="rect">
            <a:avLst/>
          </a:prstGeom>
          <a:noFill/>
          <a:ln/>
        </p:spPr>
        <p:txBody>
          <a:bodyPr wrap="square" lIns="0" tIns="0" rIns="0" bIns="0" rtlCol="0" anchor="ctr"/>
          <a:lstStyle/>
          <a:p>
            <a:pPr marL="0" indent="0" algn="ctr">
              <a:buNone/>
            </a:pPr>
            <a:r>
              <a:rPr lang="en-US" sz="850" b="1" dirty="0">
                <a:solidFill>
                  <a:srgbClr val="0A7E8C"/>
                </a:solidFill>
                <a:latin typeface="Calibri" pitchFamily="34" charset="0"/>
                <a:ea typeface="Calibri" pitchFamily="34" charset="-122"/>
                <a:cs typeface="Calibri" pitchFamily="34" charset="-120"/>
              </a:rPr>
              <a:t>TIỀN ĐỀ NỀN TẢNG</a:t>
            </a:r>
            <a:endParaRPr lang="en-US" sz="850" dirty="0"/>
          </a:p>
        </p:txBody>
      </p:sp>
      <p:sp>
        <p:nvSpPr>
          <p:cNvPr id="4" name="Text 2"/>
          <p:cNvSpPr/>
          <p:nvPr/>
        </p:nvSpPr>
        <p:spPr>
          <a:xfrm>
            <a:off x="731520" y="676656"/>
            <a:ext cx="10725912" cy="438912"/>
          </a:xfrm>
          <a:prstGeom prst="rect">
            <a:avLst/>
          </a:prstGeom>
          <a:noFill/>
          <a:ln/>
        </p:spPr>
        <p:txBody>
          <a:bodyPr wrap="square" lIns="0" tIns="0" rIns="0" bIns="0" rtlCol="0" anchor="ctr"/>
          <a:lstStyle/>
          <a:p>
            <a:pPr marL="0" indent="0">
              <a:buNone/>
            </a:pPr>
            <a:r>
              <a:rPr lang="en-US" sz="2200" b="1" dirty="0">
                <a:solidFill>
                  <a:srgbClr val="0F1B29"/>
                </a:solidFill>
                <a:latin typeface="Arial" pitchFamily="34" charset="0"/>
                <a:ea typeface="Arial" pitchFamily="34" charset="-122"/>
                <a:cs typeface="Arial" pitchFamily="34" charset="-120"/>
              </a:rPr>
              <a:t>Tính Chất Markov: "Tương Lai Độc Lập Với Quá Khứ Khi Biết Hiện Tại"</a:t>
            </a:r>
            <a:endParaRPr lang="en-US" sz="2200" dirty="0"/>
          </a:p>
        </p:txBody>
      </p:sp>
      <p:sp>
        <p:nvSpPr>
          <p:cNvPr id="5" name="Text 3"/>
          <p:cNvSpPr/>
          <p:nvPr/>
        </p:nvSpPr>
        <p:spPr>
          <a:xfrm>
            <a:off x="731520" y="1115568"/>
            <a:ext cx="10725912" cy="292608"/>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Giảm độ phức tạp từ toàn bộ chuỗi lịch sử vô tận về một trạng thái hiện tại duy nhất</a:t>
            </a:r>
            <a:endParaRPr lang="en-US" sz="1200" dirty="0"/>
          </a:p>
        </p:txBody>
      </p:sp>
      <p:sp>
        <p:nvSpPr>
          <p:cNvPr id="6" name="Text 4"/>
          <p:cNvSpPr/>
          <p:nvPr/>
        </p:nvSpPr>
        <p:spPr>
          <a:xfrm>
            <a:off x="731520" y="6446520"/>
            <a:ext cx="7315200" cy="274320"/>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MARKOV DECISION PROCESSES (MDP) • AI &amp; REINFORCEMENT LEARNING</a:t>
            </a:r>
            <a:endParaRPr lang="en-US" sz="850" dirty="0"/>
          </a:p>
        </p:txBody>
      </p:sp>
      <p:sp>
        <p:nvSpPr>
          <p:cNvPr id="7" name="Text 5"/>
          <p:cNvSpPr/>
          <p:nvPr/>
        </p:nvSpPr>
        <p:spPr>
          <a:xfrm>
            <a:off x="9875520" y="6446520"/>
            <a:ext cx="1581912" cy="274320"/>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03 / 12</a:t>
            </a:r>
            <a:endParaRPr lang="en-US" sz="900" dirty="0"/>
          </a:p>
        </p:txBody>
      </p:sp>
      <p:sp>
        <p:nvSpPr>
          <p:cNvPr id="8" name="Shape 6"/>
          <p:cNvSpPr/>
          <p:nvPr/>
        </p:nvSpPr>
        <p:spPr>
          <a:xfrm>
            <a:off x="731520" y="1508760"/>
            <a:ext cx="10725912" cy="2423160"/>
          </a:xfrm>
          <a:prstGeom prst="roundRect">
            <a:avLst>
              <a:gd name="adj" fmla="val 4528"/>
            </a:avLst>
          </a:prstGeom>
          <a:solidFill>
            <a:srgbClr val="FFFFFF"/>
          </a:solidFill>
          <a:ln w="15240">
            <a:solidFill>
              <a:srgbClr val="E2E8F0"/>
            </a:solidFill>
            <a:prstDash val="solid"/>
          </a:ln>
        </p:spPr>
      </p:sp>
      <p:pic>
        <p:nvPicPr>
          <p:cNvPr id="9" name="Image 0" descr="D:\Study\HK5\CSAI\ThuyetTrinhMDP\assets\diagram_markov_property.png"/>
          <p:cNvPicPr>
            <a:picLocks noChangeAspect="1"/>
          </p:cNvPicPr>
          <p:nvPr/>
        </p:nvPicPr>
        <p:blipFill>
          <a:blip r:embed="rId3"/>
          <a:stretch>
            <a:fillRect/>
          </a:stretch>
        </p:blipFill>
        <p:spPr>
          <a:xfrm>
            <a:off x="914400" y="1600200"/>
            <a:ext cx="10360152" cy="2240280"/>
          </a:xfrm>
          <a:prstGeom prst="rect">
            <a:avLst/>
          </a:prstGeom>
        </p:spPr>
      </p:pic>
      <p:sp>
        <p:nvSpPr>
          <p:cNvPr id="10" name="Shape 7"/>
          <p:cNvSpPr/>
          <p:nvPr/>
        </p:nvSpPr>
        <p:spPr>
          <a:xfrm>
            <a:off x="731520" y="4069080"/>
            <a:ext cx="10725912" cy="777240"/>
          </a:xfrm>
          <a:prstGeom prst="roundRect">
            <a:avLst>
              <a:gd name="adj" fmla="val 11765"/>
            </a:avLst>
          </a:prstGeom>
          <a:solidFill>
            <a:srgbClr val="F0FDFA"/>
          </a:solidFill>
          <a:ln w="19050">
            <a:solidFill>
              <a:srgbClr val="0A7E8C"/>
            </a:solidFill>
            <a:prstDash val="solid"/>
          </a:ln>
        </p:spPr>
      </p:sp>
      <p:pic>
        <p:nvPicPr>
          <p:cNvPr id="11" name="Image 1" descr="D:\Study\HK5\CSAI\ThuyetTrinhMDP\assets\formula_markov.png"/>
          <p:cNvPicPr>
            <a:picLocks noChangeAspect="1"/>
          </p:cNvPicPr>
          <p:nvPr/>
        </p:nvPicPr>
        <p:blipFill>
          <a:blip r:embed="rId4"/>
          <a:stretch>
            <a:fillRect/>
          </a:stretch>
        </p:blipFill>
        <p:spPr>
          <a:xfrm>
            <a:off x="1371600" y="4133088"/>
            <a:ext cx="9445752" cy="640080"/>
          </a:xfrm>
          <a:prstGeom prst="rect">
            <a:avLst/>
          </a:prstGeom>
        </p:spPr>
      </p:pic>
      <p:sp>
        <p:nvSpPr>
          <p:cNvPr id="12" name="Shape 8"/>
          <p:cNvSpPr/>
          <p:nvPr/>
        </p:nvSpPr>
        <p:spPr>
          <a:xfrm>
            <a:off x="731520" y="4983480"/>
            <a:ext cx="3374136" cy="1325880"/>
          </a:xfrm>
          <a:prstGeom prst="roundRect">
            <a:avLst>
              <a:gd name="adj" fmla="val 6897"/>
            </a:avLst>
          </a:prstGeom>
          <a:solidFill>
            <a:srgbClr val="FFFFFF"/>
          </a:solidFill>
          <a:ln w="15240">
            <a:solidFill>
              <a:srgbClr val="E2E8F0"/>
            </a:solidFill>
            <a:prstDash val="solid"/>
          </a:ln>
        </p:spPr>
      </p:sp>
      <p:sp>
        <p:nvSpPr>
          <p:cNvPr id="13" name="Text 9"/>
          <p:cNvSpPr/>
          <p:nvPr/>
        </p:nvSpPr>
        <p:spPr>
          <a:xfrm>
            <a:off x="868680" y="5120640"/>
            <a:ext cx="3099816" cy="256032"/>
          </a:xfrm>
          <a:prstGeom prst="rect">
            <a:avLst/>
          </a:prstGeom>
          <a:noFill/>
          <a:ln/>
        </p:spPr>
        <p:txBody>
          <a:bodyPr wrap="square" lIns="0" tIns="0" rIns="0" bIns="0" rtlCol="0" anchor="ctr"/>
          <a:lstStyle/>
          <a:p>
            <a:pPr marL="0" indent="0">
              <a:buNone/>
            </a:pPr>
            <a:r>
              <a:rPr lang="en-US" sz="1050" b="1" dirty="0">
                <a:solidFill>
                  <a:srgbClr val="0F1B29"/>
                </a:solidFill>
                <a:latin typeface="Arial" pitchFamily="34" charset="0"/>
                <a:ea typeface="Arial" pitchFamily="34" charset="-122"/>
                <a:cs typeface="Arial" pitchFamily="34" charset="-120"/>
              </a:rPr>
              <a:t>BẢN CHẤT TRIẾT LÝ</a:t>
            </a:r>
            <a:endParaRPr lang="en-US" sz="1050" dirty="0"/>
          </a:p>
        </p:txBody>
      </p:sp>
      <p:sp>
        <p:nvSpPr>
          <p:cNvPr id="14" name="Text 10"/>
          <p:cNvSpPr/>
          <p:nvPr/>
        </p:nvSpPr>
        <p:spPr>
          <a:xfrm>
            <a:off x="868680" y="5413248"/>
            <a:ext cx="3099816" cy="804672"/>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Trạng thái hiện tại St đã tích hợp và tóm tắt đầy đủ mọi thông tin lịch sử cần thiết. Quá khứ không cung cấp thêm bất kỳ giá trị dự báo nào.</a:t>
            </a:r>
            <a:endParaRPr lang="en-US" sz="950" dirty="0"/>
          </a:p>
        </p:txBody>
      </p:sp>
      <p:sp>
        <p:nvSpPr>
          <p:cNvPr id="15" name="Shape 11"/>
          <p:cNvSpPr/>
          <p:nvPr/>
        </p:nvSpPr>
        <p:spPr>
          <a:xfrm>
            <a:off x="4407408" y="4983480"/>
            <a:ext cx="3374136" cy="1325880"/>
          </a:xfrm>
          <a:prstGeom prst="roundRect">
            <a:avLst>
              <a:gd name="adj" fmla="val 6897"/>
            </a:avLst>
          </a:prstGeom>
          <a:solidFill>
            <a:srgbClr val="FFFFFF"/>
          </a:solidFill>
          <a:ln w="15240">
            <a:solidFill>
              <a:srgbClr val="E2E8F0"/>
            </a:solidFill>
            <a:prstDash val="solid"/>
          </a:ln>
        </p:spPr>
      </p:sp>
      <p:sp>
        <p:nvSpPr>
          <p:cNvPr id="16" name="Text 12"/>
          <p:cNvSpPr/>
          <p:nvPr/>
        </p:nvSpPr>
        <p:spPr>
          <a:xfrm>
            <a:off x="4544568" y="5120640"/>
            <a:ext cx="3099816" cy="256032"/>
          </a:xfrm>
          <a:prstGeom prst="rect">
            <a:avLst/>
          </a:prstGeom>
          <a:noFill/>
          <a:ln/>
        </p:spPr>
        <p:txBody>
          <a:bodyPr wrap="square" lIns="0" tIns="0" rIns="0" bIns="0" rtlCol="0" anchor="ctr"/>
          <a:lstStyle/>
          <a:p>
            <a:pPr marL="0" indent="0">
              <a:buNone/>
            </a:pPr>
            <a:r>
              <a:rPr lang="en-US" sz="1050" b="1" dirty="0">
                <a:solidFill>
                  <a:srgbClr val="0A7E8C"/>
                </a:solidFill>
                <a:latin typeface="Arial" pitchFamily="34" charset="0"/>
                <a:ea typeface="Arial" pitchFamily="34" charset="-122"/>
                <a:cs typeface="Arial" pitchFamily="34" charset="-120"/>
              </a:rPr>
              <a:t>ĐỘT PHÁ TÍNH TOÁN</a:t>
            </a:r>
            <a:endParaRPr lang="en-US" sz="1050" dirty="0"/>
          </a:p>
        </p:txBody>
      </p:sp>
      <p:sp>
        <p:nvSpPr>
          <p:cNvPr id="17" name="Text 13"/>
          <p:cNvSpPr/>
          <p:nvPr/>
        </p:nvSpPr>
        <p:spPr>
          <a:xfrm>
            <a:off x="4544568" y="5413248"/>
            <a:ext cx="3099816" cy="804672"/>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Loại bỏ yêu cầu lưu trữ chuỗi lịch sử quá khứ dài vô hạn. Giúp bài toán tối ưu hóa chuyển thành quy hoạch động cục bộ khả thi trên máy tính.</a:t>
            </a:r>
            <a:endParaRPr lang="en-US" sz="950" dirty="0"/>
          </a:p>
        </p:txBody>
      </p:sp>
      <p:sp>
        <p:nvSpPr>
          <p:cNvPr id="18" name="Shape 14"/>
          <p:cNvSpPr/>
          <p:nvPr/>
        </p:nvSpPr>
        <p:spPr>
          <a:xfrm>
            <a:off x="8083296" y="4983480"/>
            <a:ext cx="3374136" cy="1325880"/>
          </a:xfrm>
          <a:prstGeom prst="roundRect">
            <a:avLst>
              <a:gd name="adj" fmla="val 6897"/>
            </a:avLst>
          </a:prstGeom>
          <a:solidFill>
            <a:srgbClr val="FFFFFF"/>
          </a:solidFill>
          <a:ln w="15240">
            <a:solidFill>
              <a:srgbClr val="E2E8F0"/>
            </a:solidFill>
            <a:prstDash val="solid"/>
          </a:ln>
        </p:spPr>
      </p:sp>
      <p:sp>
        <p:nvSpPr>
          <p:cNvPr id="19" name="Text 15"/>
          <p:cNvSpPr/>
          <p:nvPr/>
        </p:nvSpPr>
        <p:spPr>
          <a:xfrm>
            <a:off x="8220456" y="5120640"/>
            <a:ext cx="3099816" cy="256032"/>
          </a:xfrm>
          <a:prstGeom prst="rect">
            <a:avLst/>
          </a:prstGeom>
          <a:noFill/>
          <a:ln/>
        </p:spPr>
        <p:txBody>
          <a:bodyPr wrap="square" lIns="0" tIns="0" rIns="0" bIns="0" rtlCol="0" anchor="ctr"/>
          <a:lstStyle/>
          <a:p>
            <a:pPr marL="0" indent="0">
              <a:buNone/>
            </a:pPr>
            <a:r>
              <a:rPr lang="en-US" sz="1050" b="1" dirty="0">
                <a:solidFill>
                  <a:srgbClr val="92400E"/>
                </a:solidFill>
                <a:latin typeface="Arial" pitchFamily="34" charset="0"/>
                <a:ea typeface="Arial" pitchFamily="34" charset="-122"/>
                <a:cs typeface="Arial" pitchFamily="34" charset="-120"/>
              </a:rPr>
              <a:t>VÍ DỤ BÀN CỜ VUA</a:t>
            </a:r>
            <a:endParaRPr lang="en-US" sz="1050" dirty="0"/>
          </a:p>
        </p:txBody>
      </p:sp>
      <p:sp>
        <p:nvSpPr>
          <p:cNvPr id="20" name="Text 16"/>
          <p:cNvSpPr/>
          <p:nvPr/>
        </p:nvSpPr>
        <p:spPr>
          <a:xfrm>
            <a:off x="8220456" y="5413248"/>
            <a:ext cx="3099816" cy="804672"/>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Để chọn nước đi tối ưu, bạn chỉ cần nhìn thế cờ hiện tại trên bàn cờ lúc này, không cần quan tâm quân mã đã nhảy qua những ô nào ở 10 nước trước.</a:t>
            </a:r>
            <a:endParaRPr lang="en-US" sz="950" dirty="0"/>
          </a:p>
        </p:txBody>
      </p:sp>
    </p:spTree>
  </p:cSld>
  <p:clrMapOvr>
    <a:masterClrMapping/>
  </p:clrMapOvr>
  <mc:AlternateContent xmlns:mc="http://schemas.openxmlformats.org/markup-compatibility/2006">
    <mc:Choice xmlns:p14="http://schemas.microsoft.com/office/powerpoint/2010/main" Requires="p14">
      <p:transition p14:dur="400">
        <p:blinds/>
      </p:transition>
    </mc:Choice>
    <mc:Fallback>
      <p:transition>
        <p:blind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childTnLst>
                          </p:cTn>
                        </p:par>
                        <p:par>
                          <p:cTn id="8" fill="hold">
                            <p:stCondLst>
                              <p:cond delay="30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childTnLst>
                          </p:cTn>
                        </p:par>
                        <p:par>
                          <p:cTn id="12" fill="hold">
                            <p:stCondLst>
                              <p:cond delay="6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300"/>
                                        <p:tgtEl>
                                          <p:spTgt spid="10"/>
                                        </p:tgtEl>
                                      </p:cBhvr>
                                    </p:animEffect>
                                  </p:childTnLst>
                                </p:cTn>
                              </p:par>
                            </p:childTnLst>
                          </p:cTn>
                        </p:par>
                        <p:par>
                          <p:cTn id="16" fill="hold">
                            <p:stCondLst>
                              <p:cond delay="900"/>
                            </p:stCondLst>
                            <p:childTnLst>
                              <p:par>
                                <p:cTn id="17" presetID="10" presetClass="entr" presetSubtype="0"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300"/>
                                        <p:tgtEl>
                                          <p:spTgt spid="12"/>
                                        </p:tgtEl>
                                      </p:cBhvr>
                                    </p:animEffect>
                                  </p:childTnLst>
                                </p:cTn>
                              </p:par>
                            </p:childTnLst>
                          </p:cTn>
                        </p:par>
                        <p:par>
                          <p:cTn id="20" fill="hold">
                            <p:stCondLst>
                              <p:cond delay="1200"/>
                            </p:stCondLst>
                            <p:childTnLst>
                              <p:par>
                                <p:cTn id="21" presetID="10" presetClass="entr" presetSubtype="0"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300"/>
                                        <p:tgtEl>
                                          <p:spTgt spid="13"/>
                                        </p:tgtEl>
                                      </p:cBhvr>
                                    </p:animEffect>
                                  </p:childTnLst>
                                </p:cTn>
                              </p:par>
                            </p:childTnLst>
                          </p:cTn>
                        </p:par>
                        <p:par>
                          <p:cTn id="24" fill="hold">
                            <p:stCondLst>
                              <p:cond delay="1500"/>
                            </p:stCondLst>
                            <p:childTnLst>
                              <p:par>
                                <p:cTn id="25" presetID="10" presetClass="entr" presetSubtype="0"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300"/>
                                        <p:tgtEl>
                                          <p:spTgt spid="14"/>
                                        </p:tgtEl>
                                      </p:cBhvr>
                                    </p:animEffect>
                                  </p:childTnLst>
                                </p:cTn>
                              </p:par>
                            </p:childTnLst>
                          </p:cTn>
                        </p:par>
                        <p:par>
                          <p:cTn id="28" fill="hold">
                            <p:stCondLst>
                              <p:cond delay="1800"/>
                            </p:stCondLst>
                            <p:childTnLst>
                              <p:par>
                                <p:cTn id="29" presetID="10" presetClass="entr" presetSubtype="0" fill="hold"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300"/>
                                        <p:tgtEl>
                                          <p:spTgt spid="11"/>
                                        </p:tgtEl>
                                      </p:cBhvr>
                                    </p:animEffect>
                                  </p:childTnLst>
                                </p:cTn>
                              </p:par>
                            </p:childTnLst>
                          </p:cTn>
                        </p:par>
                        <p:par>
                          <p:cTn id="32" fill="hold">
                            <p:stCondLst>
                              <p:cond delay="2100"/>
                            </p:stCondLst>
                            <p:childTnLst>
                              <p:par>
                                <p:cTn id="33" presetID="10" presetClass="entr" presetSubtype="0" fill="hold"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00"/>
                                        <p:tgtEl>
                                          <p:spTgt spid="15"/>
                                        </p:tgtEl>
                                      </p:cBhvr>
                                    </p:animEffect>
                                  </p:childTnLst>
                                </p:cTn>
                              </p:par>
                            </p:childTnLst>
                          </p:cTn>
                        </p:par>
                        <p:par>
                          <p:cTn id="36" fill="hold">
                            <p:stCondLst>
                              <p:cond delay="2400"/>
                            </p:stCondLst>
                            <p:childTnLst>
                              <p:par>
                                <p:cTn id="37" presetID="10" presetClass="entr" presetSubtype="0"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300"/>
                                        <p:tgtEl>
                                          <p:spTgt spid="16"/>
                                        </p:tgtEl>
                                      </p:cBhvr>
                                    </p:animEffect>
                                  </p:childTnLst>
                                </p:cTn>
                              </p:par>
                            </p:childTnLst>
                          </p:cTn>
                        </p:par>
                        <p:par>
                          <p:cTn id="40" fill="hold">
                            <p:stCondLst>
                              <p:cond delay="2700"/>
                            </p:stCondLst>
                            <p:childTnLst>
                              <p:par>
                                <p:cTn id="41" presetID="10" presetClass="entr" presetSubtype="0" fill="hold" grpId="0"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300"/>
                                        <p:tgtEl>
                                          <p:spTgt spid="17"/>
                                        </p:tgtEl>
                                      </p:cBhvr>
                                    </p:animEffect>
                                  </p:childTnLst>
                                </p:cTn>
                              </p:par>
                            </p:childTnLst>
                          </p:cTn>
                        </p:par>
                        <p:par>
                          <p:cTn id="44" fill="hold">
                            <p:stCondLst>
                              <p:cond delay="3000"/>
                            </p:stCondLst>
                            <p:childTnLst>
                              <p:par>
                                <p:cTn id="45" presetID="10" presetClass="entr" presetSubtype="0" fill="hold"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300"/>
                                        <p:tgtEl>
                                          <p:spTgt spid="18"/>
                                        </p:tgtEl>
                                      </p:cBhvr>
                                    </p:animEffect>
                                  </p:childTnLst>
                                </p:cTn>
                              </p:par>
                            </p:childTnLst>
                          </p:cTn>
                        </p:par>
                        <p:par>
                          <p:cTn id="48" fill="hold">
                            <p:stCondLst>
                              <p:cond delay="3300"/>
                            </p:stCondLst>
                            <p:childTnLst>
                              <p:par>
                                <p:cTn id="49" presetID="10" presetClass="entr" presetSubtype="0" fill="hold" grpId="0"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300"/>
                                        <p:tgtEl>
                                          <p:spTgt spid="19"/>
                                        </p:tgtEl>
                                      </p:cBhvr>
                                    </p:animEffect>
                                  </p:childTnLst>
                                </p:cTn>
                              </p:par>
                            </p:childTnLst>
                          </p:cTn>
                        </p:par>
                        <p:par>
                          <p:cTn id="52" fill="hold">
                            <p:stCondLst>
                              <p:cond delay="3600"/>
                            </p:stCondLst>
                            <p:childTnLst>
                              <p:par>
                                <p:cTn id="53" presetID="10" presetClass="entr" presetSubtype="0" fill="hold" grpId="0" nodeType="after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3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6" grpId="0" animBg="1"/>
      <p:bldP spid="17" grpId="0" animBg="1"/>
      <p:bldP spid="19" grpId="0" animBg="1"/>
      <p:bldP spid="2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oundRect">
            <a:avLst>
              <a:gd name="adj" fmla="val 28571"/>
            </a:avLst>
          </a:prstGeom>
          <a:solidFill>
            <a:srgbClr val="E0F2FE"/>
          </a:solidFill>
          <a:ln w="12700">
            <a:solidFill>
              <a:srgbClr val="0A7E8C"/>
            </a:solidFill>
            <a:prstDash val="solid"/>
          </a:ln>
        </p:spPr>
      </p:sp>
      <p:sp>
        <p:nvSpPr>
          <p:cNvPr id="3" name="Text 1"/>
          <p:cNvSpPr/>
          <p:nvPr/>
        </p:nvSpPr>
        <p:spPr>
          <a:xfrm>
            <a:off x="731520" y="384048"/>
            <a:ext cx="2560320" cy="256032"/>
          </a:xfrm>
          <a:prstGeom prst="rect">
            <a:avLst/>
          </a:prstGeom>
          <a:noFill/>
          <a:ln/>
        </p:spPr>
        <p:txBody>
          <a:bodyPr wrap="square" lIns="0" tIns="0" rIns="0" bIns="0" rtlCol="0" anchor="ctr"/>
          <a:lstStyle/>
          <a:p>
            <a:pPr marL="0" indent="0" algn="ctr">
              <a:buNone/>
            </a:pPr>
            <a:r>
              <a:rPr lang="en-US" sz="850" b="1" dirty="0">
                <a:solidFill>
                  <a:srgbClr val="0A7E8C"/>
                </a:solidFill>
                <a:latin typeface="Calibri" pitchFamily="34" charset="0"/>
                <a:ea typeface="Calibri" pitchFamily="34" charset="-122"/>
                <a:cs typeface="Calibri" pitchFamily="34" charset="-120"/>
              </a:rPr>
              <a:t>MÔ HÌNH HÓA TOÁN HỌC</a:t>
            </a:r>
            <a:endParaRPr lang="en-US" sz="850" dirty="0"/>
          </a:p>
        </p:txBody>
      </p:sp>
      <p:sp>
        <p:nvSpPr>
          <p:cNvPr id="4" name="Text 2"/>
          <p:cNvSpPr/>
          <p:nvPr/>
        </p:nvSpPr>
        <p:spPr>
          <a:xfrm>
            <a:off x="731520" y="676656"/>
            <a:ext cx="10725912" cy="438912"/>
          </a:xfrm>
          <a:prstGeom prst="rect">
            <a:avLst/>
          </a:prstGeom>
          <a:noFill/>
          <a:ln/>
        </p:spPr>
        <p:txBody>
          <a:bodyPr wrap="square" lIns="0" tIns="0" rIns="0" bIns="0" rtlCol="0" anchor="ctr"/>
          <a:lstStyle/>
          <a:p>
            <a:pPr marL="0" indent="0">
              <a:buNone/>
            </a:pPr>
            <a:r>
              <a:rPr lang="en-US" sz="2200" b="1" dirty="0">
                <a:solidFill>
                  <a:srgbClr val="0F1B29"/>
                </a:solidFill>
                <a:latin typeface="Arial" pitchFamily="34" charset="0"/>
                <a:ea typeface="Arial" pitchFamily="34" charset="-122"/>
                <a:cs typeface="Arial" pitchFamily="34" charset="-120"/>
              </a:rPr>
              <a:t>Bộ 5 Thành Phần Cốt Lõi Định Nghĩa Không Gian MDP (S, A, P, R, γ)</a:t>
            </a:r>
            <a:endParaRPr lang="en-US" sz="2200" dirty="0"/>
          </a:p>
        </p:txBody>
      </p:sp>
      <p:sp>
        <p:nvSpPr>
          <p:cNvPr id="5" name="Text 3"/>
          <p:cNvSpPr/>
          <p:nvPr/>
        </p:nvSpPr>
        <p:spPr>
          <a:xfrm>
            <a:off x="731520" y="1115568"/>
            <a:ext cx="10725912" cy="292608"/>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Khung toán học hoàn chỉnh mô tả thế giới tương tác giữa tác tử và môi trường</a:t>
            </a:r>
            <a:endParaRPr lang="en-US" sz="1200" dirty="0"/>
          </a:p>
        </p:txBody>
      </p:sp>
      <p:sp>
        <p:nvSpPr>
          <p:cNvPr id="6" name="Text 4"/>
          <p:cNvSpPr/>
          <p:nvPr/>
        </p:nvSpPr>
        <p:spPr>
          <a:xfrm>
            <a:off x="731520" y="6446520"/>
            <a:ext cx="7315200" cy="274320"/>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MARKOV DECISION PROCESSES (MDP) • AI &amp; REINFORCEMENT LEARNING</a:t>
            </a:r>
            <a:endParaRPr lang="en-US" sz="850" dirty="0"/>
          </a:p>
        </p:txBody>
      </p:sp>
      <p:sp>
        <p:nvSpPr>
          <p:cNvPr id="7" name="Text 5"/>
          <p:cNvSpPr/>
          <p:nvPr/>
        </p:nvSpPr>
        <p:spPr>
          <a:xfrm>
            <a:off x="9875520" y="6446520"/>
            <a:ext cx="1581912" cy="274320"/>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04 / 12</a:t>
            </a:r>
            <a:endParaRPr lang="en-US" sz="900" dirty="0"/>
          </a:p>
        </p:txBody>
      </p:sp>
      <p:sp>
        <p:nvSpPr>
          <p:cNvPr id="8" name="Shape 6"/>
          <p:cNvSpPr/>
          <p:nvPr/>
        </p:nvSpPr>
        <p:spPr>
          <a:xfrm>
            <a:off x="731520" y="1508760"/>
            <a:ext cx="3374136" cy="2286000"/>
          </a:xfrm>
          <a:prstGeom prst="roundRect">
            <a:avLst>
              <a:gd name="adj" fmla="val 4800"/>
            </a:avLst>
          </a:prstGeom>
          <a:solidFill>
            <a:srgbClr val="FFFFFF"/>
          </a:solidFill>
          <a:ln w="15240">
            <a:solidFill>
              <a:srgbClr val="E2E8F0"/>
            </a:solidFill>
            <a:prstDash val="solid"/>
          </a:ln>
        </p:spPr>
      </p:sp>
      <p:sp>
        <p:nvSpPr>
          <p:cNvPr id="9" name="Shape 7"/>
          <p:cNvSpPr/>
          <p:nvPr/>
        </p:nvSpPr>
        <p:spPr>
          <a:xfrm>
            <a:off x="960120" y="1691640"/>
            <a:ext cx="548640" cy="411480"/>
          </a:xfrm>
          <a:prstGeom prst="roundRect">
            <a:avLst>
              <a:gd name="adj" fmla="val 17778"/>
            </a:avLst>
          </a:prstGeom>
          <a:solidFill>
            <a:srgbClr val="E0F2FE"/>
          </a:solidFill>
          <a:ln w="12700">
            <a:solidFill>
              <a:srgbClr val="0284C7"/>
            </a:solidFill>
            <a:prstDash val="solid"/>
          </a:ln>
        </p:spPr>
      </p:sp>
      <p:sp>
        <p:nvSpPr>
          <p:cNvPr id="10" name="Text 8"/>
          <p:cNvSpPr/>
          <p:nvPr/>
        </p:nvSpPr>
        <p:spPr>
          <a:xfrm>
            <a:off x="960120" y="1691640"/>
            <a:ext cx="548640" cy="411480"/>
          </a:xfrm>
          <a:prstGeom prst="rect">
            <a:avLst/>
          </a:prstGeom>
          <a:noFill/>
          <a:ln/>
        </p:spPr>
        <p:txBody>
          <a:bodyPr wrap="square" lIns="0" tIns="0" rIns="0" bIns="0" rtlCol="0" anchor="ctr"/>
          <a:lstStyle/>
          <a:p>
            <a:pPr marL="0" indent="0" algn="ctr">
              <a:buNone/>
            </a:pPr>
            <a:r>
              <a:rPr lang="en-US" sz="1600" b="1" dirty="0">
                <a:solidFill>
                  <a:srgbClr val="0284C7"/>
                </a:solidFill>
                <a:latin typeface="Arial" pitchFamily="34" charset="0"/>
                <a:ea typeface="Arial" pitchFamily="34" charset="-122"/>
                <a:cs typeface="Arial" pitchFamily="34" charset="-120"/>
              </a:rPr>
              <a:t>S</a:t>
            </a:r>
            <a:endParaRPr lang="en-US" sz="1600" dirty="0"/>
          </a:p>
        </p:txBody>
      </p:sp>
      <p:sp>
        <p:nvSpPr>
          <p:cNvPr id="11" name="Text 9"/>
          <p:cNvSpPr/>
          <p:nvPr/>
        </p:nvSpPr>
        <p:spPr>
          <a:xfrm>
            <a:off x="1600200" y="1691640"/>
            <a:ext cx="2331720" cy="411480"/>
          </a:xfrm>
          <a:prstGeom prst="rect">
            <a:avLst/>
          </a:prstGeom>
          <a:noFill/>
          <a:ln/>
        </p:spPr>
        <p:txBody>
          <a:bodyPr wrap="square" lIns="0" tIns="0" rIns="0" bIns="0" rtlCol="0" anchor="ctr"/>
          <a:lstStyle/>
          <a:p>
            <a:pPr marL="0" indent="0">
              <a:buNone/>
            </a:pPr>
            <a:r>
              <a:rPr lang="en-US" sz="1050" b="1" dirty="0">
                <a:solidFill>
                  <a:srgbClr val="0F1B29"/>
                </a:solidFill>
                <a:latin typeface="Arial" pitchFamily="34" charset="0"/>
                <a:ea typeface="Arial" pitchFamily="34" charset="-122"/>
                <a:cs typeface="Arial" pitchFamily="34" charset="-120"/>
              </a:rPr>
              <a:t>State Space (Không gian trạng thái)</a:t>
            </a:r>
            <a:endParaRPr lang="en-US" sz="1050" dirty="0"/>
          </a:p>
        </p:txBody>
      </p:sp>
      <p:sp>
        <p:nvSpPr>
          <p:cNvPr id="12" name="Shape 10"/>
          <p:cNvSpPr/>
          <p:nvPr/>
        </p:nvSpPr>
        <p:spPr>
          <a:xfrm>
            <a:off x="960120" y="2194560"/>
            <a:ext cx="2916936" cy="365760"/>
          </a:xfrm>
          <a:prstGeom prst="roundRect">
            <a:avLst>
              <a:gd name="adj" fmla="val 15000"/>
            </a:avLst>
          </a:prstGeom>
          <a:solidFill>
            <a:srgbClr val="F1F5F9"/>
          </a:solidFill>
          <a:ln w="10160">
            <a:solidFill>
              <a:srgbClr val="CBD5E1"/>
            </a:solidFill>
            <a:prstDash val="solid"/>
          </a:ln>
        </p:spPr>
      </p:sp>
      <p:sp>
        <p:nvSpPr>
          <p:cNvPr id="13" name="Text 11"/>
          <p:cNvSpPr/>
          <p:nvPr/>
        </p:nvSpPr>
        <p:spPr>
          <a:xfrm>
            <a:off x="960120" y="2194560"/>
            <a:ext cx="2916936" cy="365760"/>
          </a:xfrm>
          <a:prstGeom prst="rect">
            <a:avLst/>
          </a:prstGeom>
          <a:noFill/>
          <a:ln/>
        </p:spPr>
        <p:txBody>
          <a:bodyPr wrap="square" lIns="0" tIns="0" rIns="0" bIns="0" rtlCol="0" anchor="ctr"/>
          <a:lstStyle/>
          <a:p>
            <a:pPr marL="0" indent="0" algn="ctr">
              <a:buNone/>
            </a:pPr>
            <a:r>
              <a:rPr lang="en-US" sz="900" b="1" dirty="0">
                <a:solidFill>
                  <a:srgbClr val="0F1B29"/>
                </a:solidFill>
                <a:latin typeface="Calibri" pitchFamily="34" charset="0"/>
                <a:ea typeface="Calibri" pitchFamily="34" charset="-122"/>
                <a:cs typeface="Calibri" pitchFamily="34" charset="-120"/>
              </a:rPr>
              <a:t>s ∈ S</a:t>
            </a:r>
            <a:endParaRPr lang="en-US" sz="900" dirty="0"/>
          </a:p>
        </p:txBody>
      </p:sp>
      <p:sp>
        <p:nvSpPr>
          <p:cNvPr id="14" name="Text 12"/>
          <p:cNvSpPr/>
          <p:nvPr/>
        </p:nvSpPr>
        <p:spPr>
          <a:xfrm>
            <a:off x="960120" y="2651760"/>
            <a:ext cx="2916936" cy="1005840"/>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Tập hợp tất cả các trạng thái hợp lệ mà môi trường có thể có. Chứa đựng bức tranh đầy đủ về tình trạng hệ thống tại thời điểm t.</a:t>
            </a:r>
            <a:endParaRPr lang="en-US" sz="950" dirty="0"/>
          </a:p>
        </p:txBody>
      </p:sp>
      <p:sp>
        <p:nvSpPr>
          <p:cNvPr id="15" name="Shape 13"/>
          <p:cNvSpPr/>
          <p:nvPr/>
        </p:nvSpPr>
        <p:spPr>
          <a:xfrm>
            <a:off x="4407408" y="1508760"/>
            <a:ext cx="3374136" cy="2286000"/>
          </a:xfrm>
          <a:prstGeom prst="roundRect">
            <a:avLst>
              <a:gd name="adj" fmla="val 4800"/>
            </a:avLst>
          </a:prstGeom>
          <a:solidFill>
            <a:srgbClr val="FFFFFF"/>
          </a:solidFill>
          <a:ln w="15240">
            <a:solidFill>
              <a:srgbClr val="E2E8F0"/>
            </a:solidFill>
            <a:prstDash val="solid"/>
          </a:ln>
        </p:spPr>
      </p:sp>
      <p:sp>
        <p:nvSpPr>
          <p:cNvPr id="16" name="Shape 14"/>
          <p:cNvSpPr/>
          <p:nvPr/>
        </p:nvSpPr>
        <p:spPr>
          <a:xfrm>
            <a:off x="4636008" y="1691640"/>
            <a:ext cx="548640" cy="411480"/>
          </a:xfrm>
          <a:prstGeom prst="roundRect">
            <a:avLst>
              <a:gd name="adj" fmla="val 17778"/>
            </a:avLst>
          </a:prstGeom>
          <a:solidFill>
            <a:srgbClr val="FEF3C7"/>
          </a:solidFill>
          <a:ln w="12700">
            <a:solidFill>
              <a:srgbClr val="D97706"/>
            </a:solidFill>
            <a:prstDash val="solid"/>
          </a:ln>
        </p:spPr>
      </p:sp>
      <p:sp>
        <p:nvSpPr>
          <p:cNvPr id="17" name="Text 15"/>
          <p:cNvSpPr/>
          <p:nvPr/>
        </p:nvSpPr>
        <p:spPr>
          <a:xfrm>
            <a:off x="4636008" y="1691640"/>
            <a:ext cx="548640" cy="411480"/>
          </a:xfrm>
          <a:prstGeom prst="rect">
            <a:avLst/>
          </a:prstGeom>
          <a:noFill/>
          <a:ln/>
        </p:spPr>
        <p:txBody>
          <a:bodyPr wrap="square" lIns="0" tIns="0" rIns="0" bIns="0" rtlCol="0" anchor="ctr"/>
          <a:lstStyle/>
          <a:p>
            <a:pPr marL="0" indent="0" algn="ctr">
              <a:buNone/>
            </a:pPr>
            <a:r>
              <a:rPr lang="en-US" sz="1600" b="1" dirty="0">
                <a:solidFill>
                  <a:srgbClr val="D97706"/>
                </a:solidFill>
                <a:latin typeface="Arial" pitchFamily="34" charset="0"/>
                <a:ea typeface="Arial" pitchFamily="34" charset="-122"/>
                <a:cs typeface="Arial" pitchFamily="34" charset="-120"/>
              </a:rPr>
              <a:t>A</a:t>
            </a:r>
            <a:endParaRPr lang="en-US" sz="1600" dirty="0"/>
          </a:p>
        </p:txBody>
      </p:sp>
      <p:sp>
        <p:nvSpPr>
          <p:cNvPr id="18" name="Text 16"/>
          <p:cNvSpPr/>
          <p:nvPr/>
        </p:nvSpPr>
        <p:spPr>
          <a:xfrm>
            <a:off x="5276088" y="1691640"/>
            <a:ext cx="2331720" cy="411480"/>
          </a:xfrm>
          <a:prstGeom prst="rect">
            <a:avLst/>
          </a:prstGeom>
          <a:noFill/>
          <a:ln/>
        </p:spPr>
        <p:txBody>
          <a:bodyPr wrap="square" lIns="0" tIns="0" rIns="0" bIns="0" rtlCol="0" anchor="ctr"/>
          <a:lstStyle/>
          <a:p>
            <a:pPr marL="0" indent="0">
              <a:buNone/>
            </a:pPr>
            <a:r>
              <a:rPr lang="en-US" sz="1050" b="1" dirty="0">
                <a:solidFill>
                  <a:srgbClr val="0F1B29"/>
                </a:solidFill>
                <a:latin typeface="Arial" pitchFamily="34" charset="0"/>
                <a:ea typeface="Arial" pitchFamily="34" charset="-122"/>
                <a:cs typeface="Arial" pitchFamily="34" charset="-120"/>
              </a:rPr>
              <a:t>Action Space (Không gian hành động)</a:t>
            </a:r>
            <a:endParaRPr lang="en-US" sz="1050" dirty="0"/>
          </a:p>
        </p:txBody>
      </p:sp>
      <p:sp>
        <p:nvSpPr>
          <p:cNvPr id="19" name="Shape 17"/>
          <p:cNvSpPr/>
          <p:nvPr/>
        </p:nvSpPr>
        <p:spPr>
          <a:xfrm>
            <a:off x="4636008" y="2194560"/>
            <a:ext cx="2916936" cy="365760"/>
          </a:xfrm>
          <a:prstGeom prst="roundRect">
            <a:avLst>
              <a:gd name="adj" fmla="val 15000"/>
            </a:avLst>
          </a:prstGeom>
          <a:solidFill>
            <a:srgbClr val="F1F5F9"/>
          </a:solidFill>
          <a:ln w="10160">
            <a:solidFill>
              <a:srgbClr val="CBD5E1"/>
            </a:solidFill>
            <a:prstDash val="solid"/>
          </a:ln>
        </p:spPr>
      </p:sp>
      <p:sp>
        <p:nvSpPr>
          <p:cNvPr id="20" name="Text 18"/>
          <p:cNvSpPr/>
          <p:nvPr/>
        </p:nvSpPr>
        <p:spPr>
          <a:xfrm>
            <a:off x="4636008" y="2194560"/>
            <a:ext cx="2916936" cy="365760"/>
          </a:xfrm>
          <a:prstGeom prst="rect">
            <a:avLst/>
          </a:prstGeom>
          <a:noFill/>
          <a:ln/>
        </p:spPr>
        <p:txBody>
          <a:bodyPr wrap="square" lIns="0" tIns="0" rIns="0" bIns="0" rtlCol="0" anchor="ctr"/>
          <a:lstStyle/>
          <a:p>
            <a:pPr marL="0" indent="0" algn="ctr">
              <a:buNone/>
            </a:pPr>
            <a:r>
              <a:rPr lang="en-US" sz="900" b="1" dirty="0">
                <a:solidFill>
                  <a:srgbClr val="0F1B29"/>
                </a:solidFill>
                <a:latin typeface="Calibri" pitchFamily="34" charset="0"/>
                <a:ea typeface="Calibri" pitchFamily="34" charset="-122"/>
                <a:cs typeface="Calibri" pitchFamily="34" charset="-120"/>
              </a:rPr>
              <a:t>a ∈ A (hoặc A(s))</a:t>
            </a:r>
            <a:endParaRPr lang="en-US" sz="900" dirty="0"/>
          </a:p>
        </p:txBody>
      </p:sp>
      <p:sp>
        <p:nvSpPr>
          <p:cNvPr id="21" name="Text 19"/>
          <p:cNvSpPr/>
          <p:nvPr/>
        </p:nvSpPr>
        <p:spPr>
          <a:xfrm>
            <a:off x="4636008" y="2651760"/>
            <a:ext cx="2916936" cy="1005840"/>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Tập hợp mọi quyết định tác tử có thể thực thi. Là phương thức duy nhất để tác tử tác động và thay đổi trạng thái của môi trường.</a:t>
            </a:r>
            <a:endParaRPr lang="en-US" sz="950" dirty="0"/>
          </a:p>
        </p:txBody>
      </p:sp>
      <p:sp>
        <p:nvSpPr>
          <p:cNvPr id="22" name="Shape 20"/>
          <p:cNvSpPr/>
          <p:nvPr/>
        </p:nvSpPr>
        <p:spPr>
          <a:xfrm>
            <a:off x="8083296" y="1508760"/>
            <a:ext cx="3374136" cy="2286000"/>
          </a:xfrm>
          <a:prstGeom prst="roundRect">
            <a:avLst>
              <a:gd name="adj" fmla="val 4800"/>
            </a:avLst>
          </a:prstGeom>
          <a:solidFill>
            <a:srgbClr val="FFFFFF"/>
          </a:solidFill>
          <a:ln w="15240">
            <a:solidFill>
              <a:srgbClr val="E2E8F0"/>
            </a:solidFill>
            <a:prstDash val="solid"/>
          </a:ln>
        </p:spPr>
      </p:sp>
      <p:sp>
        <p:nvSpPr>
          <p:cNvPr id="23" name="Shape 21"/>
          <p:cNvSpPr/>
          <p:nvPr/>
        </p:nvSpPr>
        <p:spPr>
          <a:xfrm>
            <a:off x="8311896" y="1691640"/>
            <a:ext cx="548640" cy="411480"/>
          </a:xfrm>
          <a:prstGeom prst="roundRect">
            <a:avLst>
              <a:gd name="adj" fmla="val 17778"/>
            </a:avLst>
          </a:prstGeom>
          <a:solidFill>
            <a:srgbClr val="CCFBF1"/>
          </a:solidFill>
          <a:ln w="12700">
            <a:solidFill>
              <a:srgbClr val="0A7E8C"/>
            </a:solidFill>
            <a:prstDash val="solid"/>
          </a:ln>
        </p:spPr>
      </p:sp>
      <p:sp>
        <p:nvSpPr>
          <p:cNvPr id="24" name="Text 22"/>
          <p:cNvSpPr/>
          <p:nvPr/>
        </p:nvSpPr>
        <p:spPr>
          <a:xfrm>
            <a:off x="8311896" y="1691640"/>
            <a:ext cx="548640" cy="411480"/>
          </a:xfrm>
          <a:prstGeom prst="rect">
            <a:avLst/>
          </a:prstGeom>
          <a:noFill/>
          <a:ln/>
        </p:spPr>
        <p:txBody>
          <a:bodyPr wrap="square" lIns="0" tIns="0" rIns="0" bIns="0" rtlCol="0" anchor="ctr"/>
          <a:lstStyle/>
          <a:p>
            <a:pPr marL="0" indent="0" algn="ctr">
              <a:buNone/>
            </a:pPr>
            <a:r>
              <a:rPr lang="en-US" sz="1600" b="1" dirty="0">
                <a:solidFill>
                  <a:srgbClr val="0A7E8C"/>
                </a:solidFill>
                <a:latin typeface="Arial" pitchFamily="34" charset="0"/>
                <a:ea typeface="Arial" pitchFamily="34" charset="-122"/>
                <a:cs typeface="Arial" pitchFamily="34" charset="-120"/>
              </a:rPr>
              <a:t>P</a:t>
            </a:r>
            <a:endParaRPr lang="en-US" sz="1600" dirty="0"/>
          </a:p>
        </p:txBody>
      </p:sp>
      <p:sp>
        <p:nvSpPr>
          <p:cNvPr id="25" name="Text 23"/>
          <p:cNvSpPr/>
          <p:nvPr/>
        </p:nvSpPr>
        <p:spPr>
          <a:xfrm>
            <a:off x="8951976" y="1691640"/>
            <a:ext cx="2331720" cy="411480"/>
          </a:xfrm>
          <a:prstGeom prst="rect">
            <a:avLst/>
          </a:prstGeom>
          <a:noFill/>
          <a:ln/>
        </p:spPr>
        <p:txBody>
          <a:bodyPr wrap="square" lIns="0" tIns="0" rIns="0" bIns="0" rtlCol="0" anchor="ctr"/>
          <a:lstStyle/>
          <a:p>
            <a:pPr marL="0" indent="0">
              <a:buNone/>
            </a:pPr>
            <a:r>
              <a:rPr lang="en-US" sz="1050" b="1" dirty="0">
                <a:solidFill>
                  <a:srgbClr val="0F1B29"/>
                </a:solidFill>
                <a:latin typeface="Arial" pitchFamily="34" charset="0"/>
                <a:ea typeface="Arial" pitchFamily="34" charset="-122"/>
                <a:cs typeface="Arial" pitchFamily="34" charset="-120"/>
              </a:rPr>
              <a:t>Transition Probability (Xác suất chuyển)</a:t>
            </a:r>
            <a:endParaRPr lang="en-US" sz="1050" dirty="0"/>
          </a:p>
        </p:txBody>
      </p:sp>
      <p:sp>
        <p:nvSpPr>
          <p:cNvPr id="26" name="Shape 24"/>
          <p:cNvSpPr/>
          <p:nvPr/>
        </p:nvSpPr>
        <p:spPr>
          <a:xfrm>
            <a:off x="8311896" y="2194560"/>
            <a:ext cx="2916936" cy="365760"/>
          </a:xfrm>
          <a:prstGeom prst="roundRect">
            <a:avLst>
              <a:gd name="adj" fmla="val 15000"/>
            </a:avLst>
          </a:prstGeom>
          <a:solidFill>
            <a:srgbClr val="F1F5F9"/>
          </a:solidFill>
          <a:ln w="10160">
            <a:solidFill>
              <a:srgbClr val="CBD5E1"/>
            </a:solidFill>
            <a:prstDash val="solid"/>
          </a:ln>
        </p:spPr>
      </p:sp>
      <p:sp>
        <p:nvSpPr>
          <p:cNvPr id="27" name="Text 25"/>
          <p:cNvSpPr/>
          <p:nvPr/>
        </p:nvSpPr>
        <p:spPr>
          <a:xfrm>
            <a:off x="8311896" y="2194560"/>
            <a:ext cx="2916936" cy="365760"/>
          </a:xfrm>
          <a:prstGeom prst="rect">
            <a:avLst/>
          </a:prstGeom>
          <a:noFill/>
          <a:ln/>
        </p:spPr>
        <p:txBody>
          <a:bodyPr wrap="square" lIns="0" tIns="0" rIns="0" bIns="0" rtlCol="0" anchor="ctr"/>
          <a:lstStyle/>
          <a:p>
            <a:pPr marL="0" indent="0" algn="ctr">
              <a:buNone/>
            </a:pPr>
            <a:r>
              <a:rPr lang="en-US" sz="900" b="1" dirty="0">
                <a:solidFill>
                  <a:srgbClr val="0F1B29"/>
                </a:solidFill>
                <a:latin typeface="Calibri" pitchFamily="34" charset="0"/>
                <a:ea typeface="Calibri" pitchFamily="34" charset="-122"/>
                <a:cs typeface="Calibri" pitchFamily="34" charset="-120"/>
              </a:rPr>
              <a:t>P(s' | s, a) = P(St+1 = s' | St = s, At = a)</a:t>
            </a:r>
            <a:endParaRPr lang="en-US" sz="900" dirty="0"/>
          </a:p>
        </p:txBody>
      </p:sp>
      <p:sp>
        <p:nvSpPr>
          <p:cNvPr id="28" name="Text 26"/>
          <p:cNvSpPr/>
          <p:nvPr/>
        </p:nvSpPr>
        <p:spPr>
          <a:xfrm>
            <a:off x="8311896" y="2651760"/>
            <a:ext cx="2916936" cy="1005840"/>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Mô tả động lực học môi trường: Xác suất chuyển sang s' khi chọn a tại s. Thể hiện tính chất ngẫu nhiên (stochastic) của thế giới thực.</a:t>
            </a:r>
            <a:endParaRPr lang="en-US" sz="950" dirty="0"/>
          </a:p>
        </p:txBody>
      </p:sp>
      <p:sp>
        <p:nvSpPr>
          <p:cNvPr id="29" name="Shape 27"/>
          <p:cNvSpPr/>
          <p:nvPr/>
        </p:nvSpPr>
        <p:spPr>
          <a:xfrm>
            <a:off x="731520" y="3977640"/>
            <a:ext cx="5212080" cy="2240280"/>
          </a:xfrm>
          <a:prstGeom prst="roundRect">
            <a:avLst>
              <a:gd name="adj" fmla="val 4898"/>
            </a:avLst>
          </a:prstGeom>
          <a:solidFill>
            <a:srgbClr val="FFFFFF"/>
          </a:solidFill>
          <a:ln w="15240">
            <a:solidFill>
              <a:srgbClr val="E2E8F0"/>
            </a:solidFill>
            <a:prstDash val="solid"/>
          </a:ln>
        </p:spPr>
      </p:sp>
      <p:sp>
        <p:nvSpPr>
          <p:cNvPr id="30" name="Shape 28"/>
          <p:cNvSpPr/>
          <p:nvPr/>
        </p:nvSpPr>
        <p:spPr>
          <a:xfrm>
            <a:off x="960120" y="4160520"/>
            <a:ext cx="548640" cy="411480"/>
          </a:xfrm>
          <a:prstGeom prst="roundRect">
            <a:avLst>
              <a:gd name="adj" fmla="val 17778"/>
            </a:avLst>
          </a:prstGeom>
          <a:solidFill>
            <a:srgbClr val="FEF3C7"/>
          </a:solidFill>
          <a:ln w="12700">
            <a:solidFill>
              <a:srgbClr val="B45309"/>
            </a:solidFill>
            <a:prstDash val="solid"/>
          </a:ln>
        </p:spPr>
      </p:sp>
      <p:sp>
        <p:nvSpPr>
          <p:cNvPr id="31" name="Text 29"/>
          <p:cNvSpPr/>
          <p:nvPr/>
        </p:nvSpPr>
        <p:spPr>
          <a:xfrm>
            <a:off x="960120" y="4160520"/>
            <a:ext cx="548640" cy="411480"/>
          </a:xfrm>
          <a:prstGeom prst="rect">
            <a:avLst/>
          </a:prstGeom>
          <a:noFill/>
          <a:ln/>
        </p:spPr>
        <p:txBody>
          <a:bodyPr wrap="square" lIns="0" tIns="0" rIns="0" bIns="0" rtlCol="0" anchor="ctr"/>
          <a:lstStyle/>
          <a:p>
            <a:pPr marL="0" indent="0" algn="ctr">
              <a:buNone/>
            </a:pPr>
            <a:r>
              <a:rPr lang="en-US" sz="1800" b="1" dirty="0">
                <a:solidFill>
                  <a:srgbClr val="B45309"/>
                </a:solidFill>
                <a:latin typeface="Arial" pitchFamily="34" charset="0"/>
                <a:ea typeface="Arial" pitchFamily="34" charset="-122"/>
                <a:cs typeface="Arial" pitchFamily="34" charset="-120"/>
              </a:rPr>
              <a:t>R</a:t>
            </a:r>
            <a:endParaRPr lang="en-US" sz="1800" dirty="0"/>
          </a:p>
        </p:txBody>
      </p:sp>
      <p:sp>
        <p:nvSpPr>
          <p:cNvPr id="32" name="Text 30"/>
          <p:cNvSpPr/>
          <p:nvPr/>
        </p:nvSpPr>
        <p:spPr>
          <a:xfrm>
            <a:off x="1600200" y="4160520"/>
            <a:ext cx="4114800" cy="411480"/>
          </a:xfrm>
          <a:prstGeom prst="rect">
            <a:avLst/>
          </a:prstGeom>
          <a:noFill/>
          <a:ln/>
        </p:spPr>
        <p:txBody>
          <a:bodyPr wrap="square" lIns="0" tIns="0" rIns="0" bIns="0" rtlCol="0" anchor="ctr"/>
          <a:lstStyle/>
          <a:p>
            <a:pPr marL="0" indent="0">
              <a:buNone/>
            </a:pPr>
            <a:r>
              <a:rPr lang="en-US" sz="1150" b="1" dirty="0">
                <a:solidFill>
                  <a:srgbClr val="0F1B29"/>
                </a:solidFill>
                <a:latin typeface="Arial" pitchFamily="34" charset="0"/>
                <a:ea typeface="Arial" pitchFamily="34" charset="-122"/>
                <a:cs typeface="Arial" pitchFamily="34" charset="-120"/>
              </a:rPr>
              <a:t>Reward Function (Hàm phần thưởng phản hồi)</a:t>
            </a:r>
            <a:endParaRPr lang="en-US" sz="1150" dirty="0"/>
          </a:p>
        </p:txBody>
      </p:sp>
      <p:sp>
        <p:nvSpPr>
          <p:cNvPr id="33" name="Shape 31"/>
          <p:cNvSpPr/>
          <p:nvPr/>
        </p:nvSpPr>
        <p:spPr>
          <a:xfrm>
            <a:off x="960120" y="4663440"/>
            <a:ext cx="4754880" cy="365760"/>
          </a:xfrm>
          <a:prstGeom prst="roundRect">
            <a:avLst>
              <a:gd name="adj" fmla="val 15000"/>
            </a:avLst>
          </a:prstGeom>
          <a:solidFill>
            <a:srgbClr val="F1F5F9"/>
          </a:solidFill>
          <a:ln w="10160">
            <a:solidFill>
              <a:srgbClr val="CBD5E1"/>
            </a:solidFill>
            <a:prstDash val="solid"/>
          </a:ln>
        </p:spPr>
      </p:sp>
      <p:sp>
        <p:nvSpPr>
          <p:cNvPr id="34" name="Text 32"/>
          <p:cNvSpPr/>
          <p:nvPr/>
        </p:nvSpPr>
        <p:spPr>
          <a:xfrm>
            <a:off x="960120" y="4663440"/>
            <a:ext cx="4754880" cy="365760"/>
          </a:xfrm>
          <a:prstGeom prst="rect">
            <a:avLst/>
          </a:prstGeom>
          <a:noFill/>
          <a:ln/>
        </p:spPr>
        <p:txBody>
          <a:bodyPr wrap="square" lIns="0" tIns="0" rIns="0" bIns="0" rtlCol="0" anchor="ctr"/>
          <a:lstStyle/>
          <a:p>
            <a:pPr marL="0" indent="0" algn="ctr">
              <a:buNone/>
            </a:pPr>
            <a:r>
              <a:rPr lang="en-US" sz="950" b="1" dirty="0">
                <a:solidFill>
                  <a:srgbClr val="0F1B29"/>
                </a:solidFill>
                <a:latin typeface="Calibri" pitchFamily="34" charset="0"/>
                <a:ea typeface="Calibri" pitchFamily="34" charset="-122"/>
                <a:cs typeface="Calibri" pitchFamily="34" charset="-120"/>
              </a:rPr>
              <a:t>R(s, a) = E[ Rt+1 | St = s, At = a ]</a:t>
            </a:r>
            <a:endParaRPr lang="en-US" sz="950" dirty="0"/>
          </a:p>
        </p:txBody>
      </p:sp>
      <p:sp>
        <p:nvSpPr>
          <p:cNvPr id="35" name="Text 33"/>
          <p:cNvSpPr/>
          <p:nvPr/>
        </p:nvSpPr>
        <p:spPr>
          <a:xfrm>
            <a:off x="960120" y="5120640"/>
            <a:ext cx="4754880" cy="96012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Tín hiệu phản hồi số vô hướng tức thì từ môi trường. Định nghĩa chuẩn xác mục tiêu của bài toán: Tác tử học mọi hành vi chỉ thông qua việc tối đa hóa phần thưởng nhận được.</a:t>
            </a:r>
            <a:endParaRPr lang="en-US" sz="1000" dirty="0"/>
          </a:p>
        </p:txBody>
      </p:sp>
      <p:sp>
        <p:nvSpPr>
          <p:cNvPr id="36" name="Shape 34"/>
          <p:cNvSpPr/>
          <p:nvPr/>
        </p:nvSpPr>
        <p:spPr>
          <a:xfrm>
            <a:off x="6245352" y="3977640"/>
            <a:ext cx="5212080" cy="2240280"/>
          </a:xfrm>
          <a:prstGeom prst="roundRect">
            <a:avLst>
              <a:gd name="adj" fmla="val 4898"/>
            </a:avLst>
          </a:prstGeom>
          <a:solidFill>
            <a:srgbClr val="FFFFFF"/>
          </a:solidFill>
          <a:ln w="15240">
            <a:solidFill>
              <a:srgbClr val="E2E8F0"/>
            </a:solidFill>
            <a:prstDash val="solid"/>
          </a:ln>
        </p:spPr>
      </p:sp>
      <p:sp>
        <p:nvSpPr>
          <p:cNvPr id="37" name="Shape 35"/>
          <p:cNvSpPr/>
          <p:nvPr/>
        </p:nvSpPr>
        <p:spPr>
          <a:xfrm>
            <a:off x="6473952" y="4160520"/>
            <a:ext cx="548640" cy="411480"/>
          </a:xfrm>
          <a:prstGeom prst="roundRect">
            <a:avLst>
              <a:gd name="adj" fmla="val 17778"/>
            </a:avLst>
          </a:prstGeom>
          <a:solidFill>
            <a:srgbClr val="E0F2FE"/>
          </a:solidFill>
          <a:ln w="12700">
            <a:solidFill>
              <a:srgbClr val="0A7E8C"/>
            </a:solidFill>
            <a:prstDash val="solid"/>
          </a:ln>
        </p:spPr>
      </p:sp>
      <p:pic>
        <p:nvPicPr>
          <p:cNvPr id="38" name="Image 0" descr="D:\Study\HK5\CSAI\ThuyetTrinhMDP\assets\badge_gamma.png"/>
          <p:cNvPicPr>
            <a:picLocks noChangeAspect="1"/>
          </p:cNvPicPr>
          <p:nvPr/>
        </p:nvPicPr>
        <p:blipFill>
          <a:blip r:embed="rId3"/>
          <a:stretch>
            <a:fillRect/>
          </a:stretch>
        </p:blipFill>
        <p:spPr>
          <a:xfrm>
            <a:off x="6537960" y="4178808"/>
            <a:ext cx="411480" cy="365760"/>
          </a:xfrm>
          <a:prstGeom prst="rect">
            <a:avLst/>
          </a:prstGeom>
        </p:spPr>
      </p:pic>
      <p:sp>
        <p:nvSpPr>
          <p:cNvPr id="39" name="Text 36"/>
          <p:cNvSpPr/>
          <p:nvPr/>
        </p:nvSpPr>
        <p:spPr>
          <a:xfrm>
            <a:off x="7114032" y="4160520"/>
            <a:ext cx="4114800" cy="411480"/>
          </a:xfrm>
          <a:prstGeom prst="rect">
            <a:avLst/>
          </a:prstGeom>
          <a:noFill/>
          <a:ln/>
        </p:spPr>
        <p:txBody>
          <a:bodyPr wrap="square" lIns="0" tIns="0" rIns="0" bIns="0" rtlCol="0" anchor="ctr"/>
          <a:lstStyle/>
          <a:p>
            <a:pPr marL="0" indent="0">
              <a:buNone/>
            </a:pPr>
            <a:r>
              <a:rPr lang="en-US" sz="1150" b="1" dirty="0">
                <a:solidFill>
                  <a:srgbClr val="0F1B29"/>
                </a:solidFill>
                <a:latin typeface="Arial" pitchFamily="34" charset="0"/>
                <a:ea typeface="Arial" pitchFamily="34" charset="-122"/>
                <a:cs typeface="Arial" pitchFamily="34" charset="-120"/>
              </a:rPr>
              <a:t>Discount Factor (Hệ số chiết khấu tương lai)</a:t>
            </a:r>
            <a:endParaRPr lang="en-US" sz="1150" dirty="0"/>
          </a:p>
        </p:txBody>
      </p:sp>
      <p:sp>
        <p:nvSpPr>
          <p:cNvPr id="40" name="Shape 37"/>
          <p:cNvSpPr/>
          <p:nvPr/>
        </p:nvSpPr>
        <p:spPr>
          <a:xfrm>
            <a:off x="6473952" y="4663440"/>
            <a:ext cx="4754880" cy="365760"/>
          </a:xfrm>
          <a:prstGeom prst="roundRect">
            <a:avLst>
              <a:gd name="adj" fmla="val 15000"/>
            </a:avLst>
          </a:prstGeom>
          <a:solidFill>
            <a:srgbClr val="F1F5F9"/>
          </a:solidFill>
          <a:ln w="10160">
            <a:solidFill>
              <a:srgbClr val="CBD5E1"/>
            </a:solidFill>
            <a:prstDash val="solid"/>
          </a:ln>
        </p:spPr>
      </p:sp>
      <p:sp>
        <p:nvSpPr>
          <p:cNvPr id="41" name="Text 38"/>
          <p:cNvSpPr/>
          <p:nvPr/>
        </p:nvSpPr>
        <p:spPr>
          <a:xfrm>
            <a:off x="6473952" y="4663440"/>
            <a:ext cx="4754880" cy="365760"/>
          </a:xfrm>
          <a:prstGeom prst="rect">
            <a:avLst/>
          </a:prstGeom>
          <a:noFill/>
          <a:ln/>
        </p:spPr>
        <p:txBody>
          <a:bodyPr wrap="square" lIns="0" tIns="0" rIns="0" bIns="0" rtlCol="0" anchor="ctr"/>
          <a:lstStyle/>
          <a:p>
            <a:pPr marL="0" indent="0" algn="ctr">
              <a:buNone/>
            </a:pPr>
            <a:r>
              <a:rPr lang="en-US" sz="950" b="1" dirty="0">
                <a:solidFill>
                  <a:srgbClr val="0F1B29"/>
                </a:solidFill>
                <a:latin typeface="Calibri" pitchFamily="34" charset="0"/>
                <a:ea typeface="Calibri" pitchFamily="34" charset="-122"/>
                <a:cs typeface="Calibri" pitchFamily="34" charset="-120"/>
              </a:rPr>
              <a:t>γ ∈ [0, 1) — Tỷ số suy giảm giá trị theo thời gian</a:t>
            </a:r>
            <a:endParaRPr lang="en-US" sz="950" dirty="0"/>
          </a:p>
        </p:txBody>
      </p:sp>
      <p:sp>
        <p:nvSpPr>
          <p:cNvPr id="42" name="Text 39"/>
          <p:cNvSpPr/>
          <p:nvPr/>
        </p:nvSpPr>
        <p:spPr>
          <a:xfrm>
            <a:off x="6473952" y="5120640"/>
            <a:ext cx="4754880" cy="96012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Điều phối tầm nhìn ngắn hạn hay dài hạn. Hệ số γ &lt; 1 vừa đảm bảo tổng lợi nhuận vô hạn luôn hội tụ toán học, vừa phản ánh quy luật kinh tế: "Phần thưởng nhận ngay có giá hơn nhận sau này".</a:t>
            </a:r>
            <a:endParaRPr lang="en-US" sz="1000" dirty="0"/>
          </a:p>
        </p:txBody>
      </p:sp>
    </p:spTree>
  </p:cSld>
  <p:clrMapOvr>
    <a:masterClrMapping/>
  </p:clrMapOvr>
  <mc:AlternateContent xmlns:mc="http://schemas.openxmlformats.org/markup-compatibility/2006">
    <mc:Choice xmlns:p14="http://schemas.microsoft.com/office/powerpoint/2010/main" Requires="p14">
      <p:transition p14:dur="400">
        <p:blinds/>
      </p:transition>
    </mc:Choice>
    <mc:Fallback>
      <p:transition>
        <p:blind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childTnLst>
                          </p:cTn>
                        </p:par>
                        <p:par>
                          <p:cTn id="8" fill="hold">
                            <p:stCondLst>
                              <p:cond delay="300"/>
                            </p:stCondLst>
                            <p:childTnLst>
                              <p:par>
                                <p:cTn id="9" presetID="10" presetClass="entr" presetSubtype="0"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300"/>
                                        <p:tgtEl>
                                          <p:spTgt spid="29"/>
                                        </p:tgtEl>
                                      </p:cBhvr>
                                    </p:animEffect>
                                  </p:childTnLst>
                                </p:cTn>
                              </p:par>
                            </p:childTnLst>
                          </p:cTn>
                        </p:par>
                        <p:par>
                          <p:cTn id="12" fill="hold">
                            <p:stCondLst>
                              <p:cond delay="6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00"/>
                                        <p:tgtEl>
                                          <p:spTgt spid="9"/>
                                        </p:tgtEl>
                                      </p:cBhvr>
                                    </p:animEffect>
                                  </p:childTnLst>
                                </p:cTn>
                              </p:par>
                            </p:childTnLst>
                          </p:cTn>
                        </p:par>
                        <p:par>
                          <p:cTn id="16" fill="hold">
                            <p:stCondLst>
                              <p:cond delay="90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00"/>
                                        <p:tgtEl>
                                          <p:spTgt spid="10"/>
                                        </p:tgtEl>
                                      </p:cBhvr>
                                    </p:animEffect>
                                  </p:childTnLst>
                                </p:cTn>
                              </p:par>
                            </p:childTnLst>
                          </p:cTn>
                        </p:par>
                        <p:par>
                          <p:cTn id="20" fill="hold">
                            <p:stCondLst>
                              <p:cond delay="1200"/>
                            </p:stCondLst>
                            <p:childTnLst>
                              <p:par>
                                <p:cTn id="21" presetID="10"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00"/>
                                        <p:tgtEl>
                                          <p:spTgt spid="11"/>
                                        </p:tgtEl>
                                      </p:cBhvr>
                                    </p:animEffect>
                                  </p:childTnLst>
                                </p:cTn>
                              </p:par>
                            </p:childTnLst>
                          </p:cTn>
                        </p:par>
                        <p:par>
                          <p:cTn id="24" fill="hold">
                            <p:stCondLst>
                              <p:cond delay="1500"/>
                            </p:stCondLst>
                            <p:childTnLst>
                              <p:par>
                                <p:cTn id="25" presetID="10" presetClass="entr" presetSubtype="0"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300"/>
                                        <p:tgtEl>
                                          <p:spTgt spid="12"/>
                                        </p:tgtEl>
                                      </p:cBhvr>
                                    </p:animEffect>
                                  </p:childTnLst>
                                </p:cTn>
                              </p:par>
                            </p:childTnLst>
                          </p:cTn>
                        </p:par>
                        <p:par>
                          <p:cTn id="28" fill="hold">
                            <p:stCondLst>
                              <p:cond delay="180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00"/>
                                        <p:tgtEl>
                                          <p:spTgt spid="13"/>
                                        </p:tgtEl>
                                      </p:cBhvr>
                                    </p:animEffect>
                                  </p:childTnLst>
                                </p:cTn>
                              </p:par>
                            </p:childTnLst>
                          </p:cTn>
                        </p:par>
                        <p:par>
                          <p:cTn id="32" fill="hold">
                            <p:stCondLst>
                              <p:cond delay="2100"/>
                            </p:stCondLst>
                            <p:childTnLst>
                              <p:par>
                                <p:cTn id="33" presetID="10"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300"/>
                                        <p:tgtEl>
                                          <p:spTgt spid="14"/>
                                        </p:tgtEl>
                                      </p:cBhvr>
                                    </p:animEffect>
                                  </p:childTnLst>
                                </p:cTn>
                              </p:par>
                            </p:childTnLst>
                          </p:cTn>
                        </p:par>
                        <p:par>
                          <p:cTn id="36" fill="hold">
                            <p:stCondLst>
                              <p:cond delay="2400"/>
                            </p:stCondLst>
                            <p:childTnLst>
                              <p:par>
                                <p:cTn id="37" presetID="10" presetClass="entr" presetSubtype="0" fill="hold" nodeType="after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300"/>
                                        <p:tgtEl>
                                          <p:spTgt spid="30"/>
                                        </p:tgtEl>
                                      </p:cBhvr>
                                    </p:animEffect>
                                  </p:childTnLst>
                                </p:cTn>
                              </p:par>
                            </p:childTnLst>
                          </p:cTn>
                        </p:par>
                        <p:par>
                          <p:cTn id="40" fill="hold">
                            <p:stCondLst>
                              <p:cond delay="2700"/>
                            </p:stCondLst>
                            <p:childTnLst>
                              <p:par>
                                <p:cTn id="41" presetID="10" presetClass="entr" presetSubtype="0" fill="hold" grpId="0" nodeType="after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300"/>
                                        <p:tgtEl>
                                          <p:spTgt spid="31"/>
                                        </p:tgtEl>
                                      </p:cBhvr>
                                    </p:animEffect>
                                  </p:childTnLst>
                                </p:cTn>
                              </p:par>
                            </p:childTnLst>
                          </p:cTn>
                        </p:par>
                        <p:par>
                          <p:cTn id="44" fill="hold">
                            <p:stCondLst>
                              <p:cond delay="3000"/>
                            </p:stCondLst>
                            <p:childTnLst>
                              <p:par>
                                <p:cTn id="45" presetID="10" presetClass="entr" presetSubtype="0"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300"/>
                                        <p:tgtEl>
                                          <p:spTgt spid="32"/>
                                        </p:tgtEl>
                                      </p:cBhvr>
                                    </p:animEffect>
                                  </p:childTnLst>
                                </p:cTn>
                              </p:par>
                            </p:childTnLst>
                          </p:cTn>
                        </p:par>
                        <p:par>
                          <p:cTn id="48" fill="hold">
                            <p:stCondLst>
                              <p:cond delay="3300"/>
                            </p:stCondLst>
                            <p:childTnLst>
                              <p:par>
                                <p:cTn id="49" presetID="10" presetClass="entr" presetSubtype="0" fill="hold" nodeType="after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fade">
                                      <p:cBhvr>
                                        <p:cTn id="51" dur="300"/>
                                        <p:tgtEl>
                                          <p:spTgt spid="33"/>
                                        </p:tgtEl>
                                      </p:cBhvr>
                                    </p:animEffect>
                                  </p:childTnLst>
                                </p:cTn>
                              </p:par>
                            </p:childTnLst>
                          </p:cTn>
                        </p:par>
                        <p:par>
                          <p:cTn id="52" fill="hold">
                            <p:stCondLst>
                              <p:cond delay="3600"/>
                            </p:stCondLst>
                            <p:childTnLst>
                              <p:par>
                                <p:cTn id="53" presetID="10" presetClass="entr" presetSubtype="0" fill="hold" grpId="0" nodeType="after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fade">
                                      <p:cBhvr>
                                        <p:cTn id="55" dur="300"/>
                                        <p:tgtEl>
                                          <p:spTgt spid="34"/>
                                        </p:tgtEl>
                                      </p:cBhvr>
                                    </p:animEffect>
                                  </p:childTnLst>
                                </p:cTn>
                              </p:par>
                            </p:childTnLst>
                          </p:cTn>
                        </p:par>
                        <p:par>
                          <p:cTn id="56" fill="hold">
                            <p:stCondLst>
                              <p:cond delay="3900"/>
                            </p:stCondLst>
                            <p:childTnLst>
                              <p:par>
                                <p:cTn id="57" presetID="10" presetClass="entr" presetSubtype="0" fill="hold" grpId="0" nodeType="after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300"/>
                                        <p:tgtEl>
                                          <p:spTgt spid="35"/>
                                        </p:tgtEl>
                                      </p:cBhvr>
                                    </p:animEffect>
                                  </p:childTnLst>
                                </p:cTn>
                              </p:par>
                            </p:childTnLst>
                          </p:cTn>
                        </p:par>
                        <p:par>
                          <p:cTn id="60" fill="hold">
                            <p:stCondLst>
                              <p:cond delay="4200"/>
                            </p:stCondLst>
                            <p:childTnLst>
                              <p:par>
                                <p:cTn id="61" presetID="10" presetClass="entr" presetSubtype="0" fill="hold" nodeType="after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300"/>
                                        <p:tgtEl>
                                          <p:spTgt spid="15"/>
                                        </p:tgtEl>
                                      </p:cBhvr>
                                    </p:animEffect>
                                  </p:childTnLst>
                                </p:cTn>
                              </p:par>
                            </p:childTnLst>
                          </p:cTn>
                        </p:par>
                        <p:par>
                          <p:cTn id="64" fill="hold">
                            <p:stCondLst>
                              <p:cond delay="4500"/>
                            </p:stCondLst>
                            <p:childTnLst>
                              <p:par>
                                <p:cTn id="65" presetID="10" presetClass="entr" presetSubtype="0" fill="hold" nodeType="after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300"/>
                                        <p:tgtEl>
                                          <p:spTgt spid="16"/>
                                        </p:tgtEl>
                                      </p:cBhvr>
                                    </p:animEffect>
                                  </p:childTnLst>
                                </p:cTn>
                              </p:par>
                            </p:childTnLst>
                          </p:cTn>
                        </p:par>
                        <p:par>
                          <p:cTn id="68" fill="hold">
                            <p:stCondLst>
                              <p:cond delay="4800"/>
                            </p:stCondLst>
                            <p:childTnLst>
                              <p:par>
                                <p:cTn id="69" presetID="10" presetClass="entr" presetSubtype="0" fill="hold" grpId="0" nodeType="after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300"/>
                                        <p:tgtEl>
                                          <p:spTgt spid="17"/>
                                        </p:tgtEl>
                                      </p:cBhvr>
                                    </p:animEffect>
                                  </p:childTnLst>
                                </p:cTn>
                              </p:par>
                            </p:childTnLst>
                          </p:cTn>
                        </p:par>
                        <p:par>
                          <p:cTn id="72" fill="hold">
                            <p:stCondLst>
                              <p:cond delay="5100"/>
                            </p:stCondLst>
                            <p:childTnLst>
                              <p:par>
                                <p:cTn id="73" presetID="10" presetClass="entr" presetSubtype="0" fill="hold" nodeType="after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300"/>
                                        <p:tgtEl>
                                          <p:spTgt spid="19"/>
                                        </p:tgtEl>
                                      </p:cBhvr>
                                    </p:animEffect>
                                  </p:childTnLst>
                                </p:cTn>
                              </p:par>
                            </p:childTnLst>
                          </p:cTn>
                        </p:par>
                        <p:par>
                          <p:cTn id="76" fill="hold">
                            <p:stCondLst>
                              <p:cond delay="5400"/>
                            </p:stCondLst>
                            <p:childTnLst>
                              <p:par>
                                <p:cTn id="77" presetID="10" presetClass="entr" presetSubtype="0" fill="hold" grpId="0" nodeType="after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300"/>
                                        <p:tgtEl>
                                          <p:spTgt spid="20"/>
                                        </p:tgtEl>
                                      </p:cBhvr>
                                    </p:animEffect>
                                  </p:childTnLst>
                                </p:cTn>
                              </p:par>
                            </p:childTnLst>
                          </p:cTn>
                        </p:par>
                        <p:par>
                          <p:cTn id="80" fill="hold">
                            <p:stCondLst>
                              <p:cond delay="5700"/>
                            </p:stCondLst>
                            <p:childTnLst>
                              <p:par>
                                <p:cTn id="81" presetID="10" presetClass="entr" presetSubtype="0" fill="hold" grpId="0" nodeType="afterEffect">
                                  <p:stCondLst>
                                    <p:cond delay="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300"/>
                                        <p:tgtEl>
                                          <p:spTgt spid="21"/>
                                        </p:tgtEl>
                                      </p:cBhvr>
                                    </p:animEffect>
                                  </p:childTnLst>
                                </p:cTn>
                              </p:par>
                            </p:childTnLst>
                          </p:cTn>
                        </p:par>
                        <p:par>
                          <p:cTn id="84" fill="hold">
                            <p:stCondLst>
                              <p:cond delay="6000"/>
                            </p:stCondLst>
                            <p:childTnLst>
                              <p:par>
                                <p:cTn id="85" presetID="10" presetClass="entr" presetSubtype="0" fill="hold" grpId="0" nodeType="after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300"/>
                                        <p:tgtEl>
                                          <p:spTgt spid="18"/>
                                        </p:tgtEl>
                                      </p:cBhvr>
                                    </p:animEffect>
                                  </p:childTnLst>
                                </p:cTn>
                              </p:par>
                            </p:childTnLst>
                          </p:cTn>
                        </p:par>
                        <p:par>
                          <p:cTn id="88" fill="hold">
                            <p:stCondLst>
                              <p:cond delay="6300"/>
                            </p:stCondLst>
                            <p:childTnLst>
                              <p:par>
                                <p:cTn id="89" presetID="10" presetClass="entr" presetSubtype="0" fill="hold" nodeType="after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300"/>
                                        <p:tgtEl>
                                          <p:spTgt spid="36"/>
                                        </p:tgtEl>
                                      </p:cBhvr>
                                    </p:animEffect>
                                  </p:childTnLst>
                                </p:cTn>
                              </p:par>
                            </p:childTnLst>
                          </p:cTn>
                        </p:par>
                        <p:par>
                          <p:cTn id="92" fill="hold">
                            <p:stCondLst>
                              <p:cond delay="6600"/>
                            </p:stCondLst>
                            <p:childTnLst>
                              <p:par>
                                <p:cTn id="93" presetID="10" presetClass="entr" presetSubtype="0" fill="hold" nodeType="afterEffect">
                                  <p:stCondLst>
                                    <p:cond delay="0"/>
                                  </p:stCondLst>
                                  <p:childTnLst>
                                    <p:set>
                                      <p:cBhvr>
                                        <p:cTn id="94" dur="1" fill="hold">
                                          <p:stCondLst>
                                            <p:cond delay="0"/>
                                          </p:stCondLst>
                                        </p:cTn>
                                        <p:tgtEl>
                                          <p:spTgt spid="37"/>
                                        </p:tgtEl>
                                        <p:attrNameLst>
                                          <p:attrName>style.visibility</p:attrName>
                                        </p:attrNameLst>
                                      </p:cBhvr>
                                      <p:to>
                                        <p:strVal val="visible"/>
                                      </p:to>
                                    </p:set>
                                    <p:animEffect transition="in" filter="fade">
                                      <p:cBhvr>
                                        <p:cTn id="95" dur="300"/>
                                        <p:tgtEl>
                                          <p:spTgt spid="37"/>
                                        </p:tgtEl>
                                      </p:cBhvr>
                                    </p:animEffect>
                                  </p:childTnLst>
                                </p:cTn>
                              </p:par>
                            </p:childTnLst>
                          </p:cTn>
                        </p:par>
                        <p:par>
                          <p:cTn id="96" fill="hold">
                            <p:stCondLst>
                              <p:cond delay="6900"/>
                            </p:stCondLst>
                            <p:childTnLst>
                              <p:par>
                                <p:cTn id="97" presetID="10" presetClass="entr" presetSubtype="0" fill="hold" nodeType="afterEffect">
                                  <p:stCondLst>
                                    <p:cond delay="0"/>
                                  </p:stCondLst>
                                  <p:childTnLst>
                                    <p:set>
                                      <p:cBhvr>
                                        <p:cTn id="98" dur="1" fill="hold">
                                          <p:stCondLst>
                                            <p:cond delay="0"/>
                                          </p:stCondLst>
                                        </p:cTn>
                                        <p:tgtEl>
                                          <p:spTgt spid="38"/>
                                        </p:tgtEl>
                                        <p:attrNameLst>
                                          <p:attrName>style.visibility</p:attrName>
                                        </p:attrNameLst>
                                      </p:cBhvr>
                                      <p:to>
                                        <p:strVal val="visible"/>
                                      </p:to>
                                    </p:set>
                                    <p:animEffect transition="in" filter="fade">
                                      <p:cBhvr>
                                        <p:cTn id="99" dur="300"/>
                                        <p:tgtEl>
                                          <p:spTgt spid="38"/>
                                        </p:tgtEl>
                                      </p:cBhvr>
                                    </p:animEffect>
                                  </p:childTnLst>
                                </p:cTn>
                              </p:par>
                            </p:childTnLst>
                          </p:cTn>
                        </p:par>
                        <p:par>
                          <p:cTn id="100" fill="hold">
                            <p:stCondLst>
                              <p:cond delay="7200"/>
                            </p:stCondLst>
                            <p:childTnLst>
                              <p:par>
                                <p:cTn id="101" presetID="10" presetClass="entr" presetSubtype="0" fill="hold" nodeType="afterEffect">
                                  <p:stCondLst>
                                    <p:cond delay="0"/>
                                  </p:stCondLst>
                                  <p:childTnLst>
                                    <p:set>
                                      <p:cBhvr>
                                        <p:cTn id="102" dur="1" fill="hold">
                                          <p:stCondLst>
                                            <p:cond delay="0"/>
                                          </p:stCondLst>
                                        </p:cTn>
                                        <p:tgtEl>
                                          <p:spTgt spid="40"/>
                                        </p:tgtEl>
                                        <p:attrNameLst>
                                          <p:attrName>style.visibility</p:attrName>
                                        </p:attrNameLst>
                                      </p:cBhvr>
                                      <p:to>
                                        <p:strVal val="visible"/>
                                      </p:to>
                                    </p:set>
                                    <p:animEffect transition="in" filter="fade">
                                      <p:cBhvr>
                                        <p:cTn id="103" dur="300"/>
                                        <p:tgtEl>
                                          <p:spTgt spid="40"/>
                                        </p:tgtEl>
                                      </p:cBhvr>
                                    </p:animEffect>
                                  </p:childTnLst>
                                </p:cTn>
                              </p:par>
                            </p:childTnLst>
                          </p:cTn>
                        </p:par>
                        <p:par>
                          <p:cTn id="104" fill="hold">
                            <p:stCondLst>
                              <p:cond delay="7500"/>
                            </p:stCondLst>
                            <p:childTnLst>
                              <p:par>
                                <p:cTn id="105" presetID="10" presetClass="entr" presetSubtype="0" fill="hold" grpId="0" nodeType="afterEffect">
                                  <p:stCondLst>
                                    <p:cond delay="0"/>
                                  </p:stCondLst>
                                  <p:childTnLst>
                                    <p:set>
                                      <p:cBhvr>
                                        <p:cTn id="106" dur="1" fill="hold">
                                          <p:stCondLst>
                                            <p:cond delay="0"/>
                                          </p:stCondLst>
                                        </p:cTn>
                                        <p:tgtEl>
                                          <p:spTgt spid="41"/>
                                        </p:tgtEl>
                                        <p:attrNameLst>
                                          <p:attrName>style.visibility</p:attrName>
                                        </p:attrNameLst>
                                      </p:cBhvr>
                                      <p:to>
                                        <p:strVal val="visible"/>
                                      </p:to>
                                    </p:set>
                                    <p:animEffect transition="in" filter="fade">
                                      <p:cBhvr>
                                        <p:cTn id="107" dur="300"/>
                                        <p:tgtEl>
                                          <p:spTgt spid="41"/>
                                        </p:tgtEl>
                                      </p:cBhvr>
                                    </p:animEffect>
                                  </p:childTnLst>
                                </p:cTn>
                              </p:par>
                            </p:childTnLst>
                          </p:cTn>
                        </p:par>
                        <p:par>
                          <p:cTn id="108" fill="hold">
                            <p:stCondLst>
                              <p:cond delay="7800"/>
                            </p:stCondLst>
                            <p:childTnLst>
                              <p:par>
                                <p:cTn id="109" presetID="10" presetClass="entr" presetSubtype="0" fill="hold" grpId="0" nodeType="afterEffect">
                                  <p:stCondLst>
                                    <p:cond delay="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11" dur="300"/>
                                        <p:tgtEl>
                                          <p:spTgt spid="42"/>
                                        </p:tgtEl>
                                      </p:cBhvr>
                                    </p:animEffect>
                                  </p:childTnLst>
                                </p:cTn>
                              </p:par>
                            </p:childTnLst>
                          </p:cTn>
                        </p:par>
                        <p:par>
                          <p:cTn id="112" fill="hold">
                            <p:stCondLst>
                              <p:cond delay="8100"/>
                            </p:stCondLst>
                            <p:childTnLst>
                              <p:par>
                                <p:cTn id="113" presetID="10" presetClass="entr" presetSubtype="0" fill="hold" nodeType="afterEffect">
                                  <p:stCondLst>
                                    <p:cond delay="0"/>
                                  </p:stCondLst>
                                  <p:childTnLst>
                                    <p:set>
                                      <p:cBhvr>
                                        <p:cTn id="114" dur="1" fill="hold">
                                          <p:stCondLst>
                                            <p:cond delay="0"/>
                                          </p:stCondLst>
                                        </p:cTn>
                                        <p:tgtEl>
                                          <p:spTgt spid="22"/>
                                        </p:tgtEl>
                                        <p:attrNameLst>
                                          <p:attrName>style.visibility</p:attrName>
                                        </p:attrNameLst>
                                      </p:cBhvr>
                                      <p:to>
                                        <p:strVal val="visible"/>
                                      </p:to>
                                    </p:set>
                                    <p:animEffect transition="in" filter="fade">
                                      <p:cBhvr>
                                        <p:cTn id="115" dur="300"/>
                                        <p:tgtEl>
                                          <p:spTgt spid="22"/>
                                        </p:tgtEl>
                                      </p:cBhvr>
                                    </p:animEffect>
                                  </p:childTnLst>
                                </p:cTn>
                              </p:par>
                            </p:childTnLst>
                          </p:cTn>
                        </p:par>
                        <p:par>
                          <p:cTn id="116" fill="hold">
                            <p:stCondLst>
                              <p:cond delay="8400"/>
                            </p:stCondLst>
                            <p:childTnLst>
                              <p:par>
                                <p:cTn id="117" presetID="10" presetClass="entr" presetSubtype="0" fill="hold" nodeType="afterEffect">
                                  <p:stCondLst>
                                    <p:cond delay="0"/>
                                  </p:stCondLst>
                                  <p:childTnLst>
                                    <p:set>
                                      <p:cBhvr>
                                        <p:cTn id="118" dur="1" fill="hold">
                                          <p:stCondLst>
                                            <p:cond delay="0"/>
                                          </p:stCondLst>
                                        </p:cTn>
                                        <p:tgtEl>
                                          <p:spTgt spid="23"/>
                                        </p:tgtEl>
                                        <p:attrNameLst>
                                          <p:attrName>style.visibility</p:attrName>
                                        </p:attrNameLst>
                                      </p:cBhvr>
                                      <p:to>
                                        <p:strVal val="visible"/>
                                      </p:to>
                                    </p:set>
                                    <p:animEffect transition="in" filter="fade">
                                      <p:cBhvr>
                                        <p:cTn id="119" dur="300"/>
                                        <p:tgtEl>
                                          <p:spTgt spid="23"/>
                                        </p:tgtEl>
                                      </p:cBhvr>
                                    </p:animEffect>
                                  </p:childTnLst>
                                </p:cTn>
                              </p:par>
                            </p:childTnLst>
                          </p:cTn>
                        </p:par>
                        <p:par>
                          <p:cTn id="120" fill="hold">
                            <p:stCondLst>
                              <p:cond delay="8700"/>
                            </p:stCondLst>
                            <p:childTnLst>
                              <p:par>
                                <p:cTn id="121" presetID="10" presetClass="entr" presetSubtype="0" fill="hold" grpId="0" nodeType="afterEffect">
                                  <p:stCondLst>
                                    <p:cond delay="0"/>
                                  </p:stCondLst>
                                  <p:childTnLst>
                                    <p:set>
                                      <p:cBhvr>
                                        <p:cTn id="122" dur="1" fill="hold">
                                          <p:stCondLst>
                                            <p:cond delay="0"/>
                                          </p:stCondLst>
                                        </p:cTn>
                                        <p:tgtEl>
                                          <p:spTgt spid="24"/>
                                        </p:tgtEl>
                                        <p:attrNameLst>
                                          <p:attrName>style.visibility</p:attrName>
                                        </p:attrNameLst>
                                      </p:cBhvr>
                                      <p:to>
                                        <p:strVal val="visible"/>
                                      </p:to>
                                    </p:set>
                                    <p:animEffect transition="in" filter="fade">
                                      <p:cBhvr>
                                        <p:cTn id="123" dur="300"/>
                                        <p:tgtEl>
                                          <p:spTgt spid="24"/>
                                        </p:tgtEl>
                                      </p:cBhvr>
                                    </p:animEffect>
                                  </p:childTnLst>
                                </p:cTn>
                              </p:par>
                            </p:childTnLst>
                          </p:cTn>
                        </p:par>
                        <p:par>
                          <p:cTn id="124" fill="hold">
                            <p:stCondLst>
                              <p:cond delay="9000"/>
                            </p:stCondLst>
                            <p:childTnLst>
                              <p:par>
                                <p:cTn id="125" presetID="10" presetClass="entr" presetSubtype="0" fill="hold" nodeType="afterEffect">
                                  <p:stCondLst>
                                    <p:cond delay="0"/>
                                  </p:stCondLst>
                                  <p:childTnLst>
                                    <p:set>
                                      <p:cBhvr>
                                        <p:cTn id="126" dur="1" fill="hold">
                                          <p:stCondLst>
                                            <p:cond delay="0"/>
                                          </p:stCondLst>
                                        </p:cTn>
                                        <p:tgtEl>
                                          <p:spTgt spid="26"/>
                                        </p:tgtEl>
                                        <p:attrNameLst>
                                          <p:attrName>style.visibility</p:attrName>
                                        </p:attrNameLst>
                                      </p:cBhvr>
                                      <p:to>
                                        <p:strVal val="visible"/>
                                      </p:to>
                                    </p:set>
                                    <p:animEffect transition="in" filter="fade">
                                      <p:cBhvr>
                                        <p:cTn id="127" dur="300"/>
                                        <p:tgtEl>
                                          <p:spTgt spid="26"/>
                                        </p:tgtEl>
                                      </p:cBhvr>
                                    </p:animEffect>
                                  </p:childTnLst>
                                </p:cTn>
                              </p:par>
                            </p:childTnLst>
                          </p:cTn>
                        </p:par>
                        <p:par>
                          <p:cTn id="128" fill="hold">
                            <p:stCondLst>
                              <p:cond delay="9300"/>
                            </p:stCondLst>
                            <p:childTnLst>
                              <p:par>
                                <p:cTn id="129" presetID="10" presetClass="entr" presetSubtype="0" fill="hold" grpId="0" nodeType="afterEffect">
                                  <p:stCondLst>
                                    <p:cond delay="0"/>
                                  </p:stCondLst>
                                  <p:childTnLst>
                                    <p:set>
                                      <p:cBhvr>
                                        <p:cTn id="130" dur="1" fill="hold">
                                          <p:stCondLst>
                                            <p:cond delay="0"/>
                                          </p:stCondLst>
                                        </p:cTn>
                                        <p:tgtEl>
                                          <p:spTgt spid="27"/>
                                        </p:tgtEl>
                                        <p:attrNameLst>
                                          <p:attrName>style.visibility</p:attrName>
                                        </p:attrNameLst>
                                      </p:cBhvr>
                                      <p:to>
                                        <p:strVal val="visible"/>
                                      </p:to>
                                    </p:set>
                                    <p:animEffect transition="in" filter="fade">
                                      <p:cBhvr>
                                        <p:cTn id="131" dur="300"/>
                                        <p:tgtEl>
                                          <p:spTgt spid="27"/>
                                        </p:tgtEl>
                                      </p:cBhvr>
                                    </p:animEffect>
                                  </p:childTnLst>
                                </p:cTn>
                              </p:par>
                            </p:childTnLst>
                          </p:cTn>
                        </p:par>
                        <p:par>
                          <p:cTn id="132" fill="hold">
                            <p:stCondLst>
                              <p:cond delay="9600"/>
                            </p:stCondLst>
                            <p:childTnLst>
                              <p:par>
                                <p:cTn id="133" presetID="10" presetClass="entr" presetSubtype="0" fill="hold" grpId="0" nodeType="afterEffect">
                                  <p:stCondLst>
                                    <p:cond delay="0"/>
                                  </p:stCondLst>
                                  <p:childTnLst>
                                    <p:set>
                                      <p:cBhvr>
                                        <p:cTn id="134" dur="1" fill="hold">
                                          <p:stCondLst>
                                            <p:cond delay="0"/>
                                          </p:stCondLst>
                                        </p:cTn>
                                        <p:tgtEl>
                                          <p:spTgt spid="28"/>
                                        </p:tgtEl>
                                        <p:attrNameLst>
                                          <p:attrName>style.visibility</p:attrName>
                                        </p:attrNameLst>
                                      </p:cBhvr>
                                      <p:to>
                                        <p:strVal val="visible"/>
                                      </p:to>
                                    </p:set>
                                    <p:animEffect transition="in" filter="fade">
                                      <p:cBhvr>
                                        <p:cTn id="135" dur="300"/>
                                        <p:tgtEl>
                                          <p:spTgt spid="28"/>
                                        </p:tgtEl>
                                      </p:cBhvr>
                                    </p:animEffect>
                                  </p:childTnLst>
                                </p:cTn>
                              </p:par>
                            </p:childTnLst>
                          </p:cTn>
                        </p:par>
                        <p:par>
                          <p:cTn id="136" fill="hold">
                            <p:stCondLst>
                              <p:cond delay="9900"/>
                            </p:stCondLst>
                            <p:childTnLst>
                              <p:par>
                                <p:cTn id="137" presetID="10" presetClass="entr" presetSubtype="0" fill="hold" grpId="0" nodeType="afterEffect">
                                  <p:stCondLst>
                                    <p:cond delay="0"/>
                                  </p:stCondLst>
                                  <p:childTnLst>
                                    <p:set>
                                      <p:cBhvr>
                                        <p:cTn id="138" dur="1" fill="hold">
                                          <p:stCondLst>
                                            <p:cond delay="0"/>
                                          </p:stCondLst>
                                        </p:cTn>
                                        <p:tgtEl>
                                          <p:spTgt spid="39"/>
                                        </p:tgtEl>
                                        <p:attrNameLst>
                                          <p:attrName>style.visibility</p:attrName>
                                        </p:attrNameLst>
                                      </p:cBhvr>
                                      <p:to>
                                        <p:strVal val="visible"/>
                                      </p:to>
                                    </p:set>
                                    <p:animEffect transition="in" filter="fade">
                                      <p:cBhvr>
                                        <p:cTn id="139" dur="300"/>
                                        <p:tgtEl>
                                          <p:spTgt spid="39"/>
                                        </p:tgtEl>
                                      </p:cBhvr>
                                    </p:animEffect>
                                  </p:childTnLst>
                                </p:cTn>
                              </p:par>
                            </p:childTnLst>
                          </p:cTn>
                        </p:par>
                        <p:par>
                          <p:cTn id="140" fill="hold">
                            <p:stCondLst>
                              <p:cond delay="10200"/>
                            </p:stCondLst>
                            <p:childTnLst>
                              <p:par>
                                <p:cTn id="141" presetID="10" presetClass="entr" presetSubtype="0" fill="hold" grpId="0" nodeType="afterEffect">
                                  <p:stCondLst>
                                    <p:cond delay="0"/>
                                  </p:stCondLst>
                                  <p:childTnLst>
                                    <p:set>
                                      <p:cBhvr>
                                        <p:cTn id="142" dur="1" fill="hold">
                                          <p:stCondLst>
                                            <p:cond delay="0"/>
                                          </p:stCondLst>
                                        </p:cTn>
                                        <p:tgtEl>
                                          <p:spTgt spid="25"/>
                                        </p:tgtEl>
                                        <p:attrNameLst>
                                          <p:attrName>style.visibility</p:attrName>
                                        </p:attrNameLst>
                                      </p:cBhvr>
                                      <p:to>
                                        <p:strVal val="visible"/>
                                      </p:to>
                                    </p:set>
                                    <p:animEffect transition="in" filter="fade">
                                      <p:cBhvr>
                                        <p:cTn id="143" dur="3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7" grpId="0" animBg="1"/>
      <p:bldP spid="18" grpId="0" animBg="1"/>
      <p:bldP spid="20" grpId="0" animBg="1"/>
      <p:bldP spid="21" grpId="0" animBg="1"/>
      <p:bldP spid="24" grpId="0" animBg="1"/>
      <p:bldP spid="25" grpId="0" animBg="1"/>
      <p:bldP spid="27" grpId="0" animBg="1"/>
      <p:bldP spid="28" grpId="0" animBg="1"/>
      <p:bldP spid="31" grpId="0" animBg="1"/>
      <p:bldP spid="32" grpId="0" animBg="1"/>
      <p:bldP spid="34" grpId="0" animBg="1"/>
      <p:bldP spid="35" grpId="0" animBg="1"/>
      <p:bldP spid="39" grpId="0" animBg="1"/>
      <p:bldP spid="41" grpId="0" animBg="1"/>
      <p:bldP spid="4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oundRect">
            <a:avLst>
              <a:gd name="adj" fmla="val 28571"/>
            </a:avLst>
          </a:prstGeom>
          <a:solidFill>
            <a:srgbClr val="E0F2FE"/>
          </a:solidFill>
          <a:ln w="12700">
            <a:solidFill>
              <a:srgbClr val="0A7E8C"/>
            </a:solidFill>
            <a:prstDash val="solid"/>
          </a:ln>
        </p:spPr>
      </p:sp>
      <p:sp>
        <p:nvSpPr>
          <p:cNvPr id="3" name="Text 1"/>
          <p:cNvSpPr/>
          <p:nvPr/>
        </p:nvSpPr>
        <p:spPr>
          <a:xfrm>
            <a:off x="731520" y="384048"/>
            <a:ext cx="2560320" cy="256032"/>
          </a:xfrm>
          <a:prstGeom prst="rect">
            <a:avLst/>
          </a:prstGeom>
          <a:noFill/>
          <a:ln/>
        </p:spPr>
        <p:txBody>
          <a:bodyPr wrap="square" lIns="0" tIns="0" rIns="0" bIns="0" rtlCol="0" anchor="ctr"/>
          <a:lstStyle/>
          <a:p>
            <a:pPr marL="0" indent="0" algn="ctr">
              <a:buNone/>
            </a:pPr>
            <a:r>
              <a:rPr lang="en-US" sz="850" b="1" dirty="0">
                <a:solidFill>
                  <a:srgbClr val="0A7E8C"/>
                </a:solidFill>
                <a:latin typeface="Calibri" pitchFamily="34" charset="0"/>
                <a:ea typeface="Calibri" pitchFamily="34" charset="-122"/>
                <a:cs typeface="Calibri" pitchFamily="34" charset="-120"/>
              </a:rPr>
              <a:t>MỤC TIÊU TỐI THƯỢNG</a:t>
            </a:r>
            <a:endParaRPr lang="en-US" sz="850" dirty="0"/>
          </a:p>
        </p:txBody>
      </p:sp>
      <p:sp>
        <p:nvSpPr>
          <p:cNvPr id="4" name="Text 2"/>
          <p:cNvSpPr/>
          <p:nvPr/>
        </p:nvSpPr>
        <p:spPr>
          <a:xfrm>
            <a:off x="731520" y="676656"/>
            <a:ext cx="10725912" cy="438912"/>
          </a:xfrm>
          <a:prstGeom prst="rect">
            <a:avLst/>
          </a:prstGeom>
          <a:noFill/>
          <a:ln/>
        </p:spPr>
        <p:txBody>
          <a:bodyPr wrap="square" lIns="0" tIns="0" rIns="0" bIns="0" rtlCol="0" anchor="ctr"/>
          <a:lstStyle/>
          <a:p>
            <a:pPr marL="0" indent="0">
              <a:buNone/>
            </a:pPr>
            <a:r>
              <a:rPr lang="en-US" sz="2200" b="1" dirty="0">
                <a:solidFill>
                  <a:srgbClr val="0F1B29"/>
                </a:solidFill>
                <a:latin typeface="Arial" pitchFamily="34" charset="0"/>
                <a:ea typeface="Arial" pitchFamily="34" charset="-122"/>
                <a:cs typeface="Arial" pitchFamily="34" charset="-120"/>
              </a:rPr>
              <a:t>Chính Sách Hành Động (π) &amp; Lợi Nhuận Tích Lũy Có Chiết Khấu (Gt)</a:t>
            </a:r>
            <a:endParaRPr lang="en-US" sz="2200" dirty="0"/>
          </a:p>
        </p:txBody>
      </p:sp>
      <p:sp>
        <p:nvSpPr>
          <p:cNvPr id="5" name="Text 3"/>
          <p:cNvSpPr/>
          <p:nvPr/>
        </p:nvSpPr>
        <p:spPr>
          <a:xfrm>
            <a:off x="731520" y="1115568"/>
            <a:ext cx="10725912" cy="292608"/>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Cách tác tử lựa chọn hành vi và thước đo chuẩn tắc định lượng thành công dài hạn</a:t>
            </a:r>
            <a:endParaRPr lang="en-US" sz="1200" dirty="0"/>
          </a:p>
        </p:txBody>
      </p:sp>
      <p:sp>
        <p:nvSpPr>
          <p:cNvPr id="6" name="Text 4"/>
          <p:cNvSpPr/>
          <p:nvPr/>
        </p:nvSpPr>
        <p:spPr>
          <a:xfrm>
            <a:off x="731520" y="6446520"/>
            <a:ext cx="7315200" cy="274320"/>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MARKOV DECISION PROCESSES (MDP) • AI &amp; REINFORCEMENT LEARNING</a:t>
            </a:r>
            <a:endParaRPr lang="en-US" sz="850" dirty="0"/>
          </a:p>
        </p:txBody>
      </p:sp>
      <p:sp>
        <p:nvSpPr>
          <p:cNvPr id="7" name="Text 5"/>
          <p:cNvSpPr/>
          <p:nvPr/>
        </p:nvSpPr>
        <p:spPr>
          <a:xfrm>
            <a:off x="9875520" y="6446520"/>
            <a:ext cx="1581912" cy="274320"/>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05 / 12</a:t>
            </a:r>
            <a:endParaRPr lang="en-US" sz="900" dirty="0"/>
          </a:p>
        </p:txBody>
      </p:sp>
      <p:sp>
        <p:nvSpPr>
          <p:cNvPr id="8" name="Shape 6"/>
          <p:cNvSpPr/>
          <p:nvPr/>
        </p:nvSpPr>
        <p:spPr>
          <a:xfrm>
            <a:off x="731520" y="1508760"/>
            <a:ext cx="5029200" cy="4709160"/>
          </a:xfrm>
          <a:prstGeom prst="roundRect">
            <a:avLst>
              <a:gd name="adj" fmla="val 2330"/>
            </a:avLst>
          </a:prstGeom>
          <a:solidFill>
            <a:srgbClr val="FFFFFF"/>
          </a:solidFill>
          <a:ln w="15240">
            <a:solidFill>
              <a:srgbClr val="E2E8F0"/>
            </a:solidFill>
            <a:prstDash val="solid"/>
          </a:ln>
        </p:spPr>
      </p:sp>
      <p:sp>
        <p:nvSpPr>
          <p:cNvPr id="9" name="Text 7"/>
          <p:cNvSpPr/>
          <p:nvPr/>
        </p:nvSpPr>
        <p:spPr>
          <a:xfrm>
            <a:off x="960120" y="1691640"/>
            <a:ext cx="4572000" cy="274320"/>
          </a:xfrm>
          <a:prstGeom prst="rect">
            <a:avLst/>
          </a:prstGeom>
          <a:noFill/>
          <a:ln/>
        </p:spPr>
        <p:txBody>
          <a:bodyPr wrap="square" lIns="0" tIns="0" rIns="0" bIns="0" rtlCol="0" anchor="ctr"/>
          <a:lstStyle/>
          <a:p>
            <a:pPr marL="0" indent="0">
              <a:buNone/>
            </a:pPr>
            <a:r>
              <a:rPr lang="en-US" sz="1200" b="1" dirty="0">
                <a:solidFill>
                  <a:srgbClr val="0F1B29"/>
                </a:solidFill>
                <a:latin typeface="Arial" pitchFamily="34" charset="0"/>
                <a:ea typeface="Arial" pitchFamily="34" charset="-122"/>
                <a:cs typeface="Arial" pitchFamily="34" charset="-120"/>
              </a:rPr>
              <a:t>CHÍNH SÁCH HÀNH ĐỘNG: π(a | s)</a:t>
            </a:r>
            <a:endParaRPr lang="en-US" sz="1200" dirty="0"/>
          </a:p>
        </p:txBody>
      </p:sp>
      <p:sp>
        <p:nvSpPr>
          <p:cNvPr id="10" name="Text 8"/>
          <p:cNvSpPr/>
          <p:nvPr/>
        </p:nvSpPr>
        <p:spPr>
          <a:xfrm>
            <a:off x="960120" y="2011680"/>
            <a:ext cx="4572000" cy="41148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Chính sách π là bộ quy tắc chỉ đạo tác tử lựa chọn hành động tại từng trạng thái cụ thể của môi trường:</a:t>
            </a:r>
            <a:endParaRPr lang="en-US" sz="1000" dirty="0"/>
          </a:p>
        </p:txBody>
      </p:sp>
      <p:sp>
        <p:nvSpPr>
          <p:cNvPr id="11" name="Shape 9"/>
          <p:cNvSpPr/>
          <p:nvPr/>
        </p:nvSpPr>
        <p:spPr>
          <a:xfrm>
            <a:off x="960120" y="2514600"/>
            <a:ext cx="4572000" cy="1051560"/>
          </a:xfrm>
          <a:prstGeom prst="roundRect">
            <a:avLst>
              <a:gd name="adj" fmla="val 6957"/>
            </a:avLst>
          </a:prstGeom>
          <a:solidFill>
            <a:srgbClr val="F0FDFA"/>
          </a:solidFill>
          <a:ln w="12700">
            <a:solidFill>
              <a:srgbClr val="99F6E4"/>
            </a:solidFill>
            <a:prstDash val="solid"/>
          </a:ln>
        </p:spPr>
      </p:sp>
      <p:sp>
        <p:nvSpPr>
          <p:cNvPr id="12" name="Text 10"/>
          <p:cNvSpPr/>
          <p:nvPr/>
        </p:nvSpPr>
        <p:spPr>
          <a:xfrm>
            <a:off x="1097280" y="2606040"/>
            <a:ext cx="4297680" cy="228600"/>
          </a:xfrm>
          <a:prstGeom prst="rect">
            <a:avLst/>
          </a:prstGeom>
          <a:noFill/>
          <a:ln/>
        </p:spPr>
        <p:txBody>
          <a:bodyPr wrap="square" lIns="0" tIns="0" rIns="0" bIns="0" rtlCol="0" anchor="ctr"/>
          <a:lstStyle/>
          <a:p>
            <a:pPr marL="0" indent="0">
              <a:buNone/>
            </a:pPr>
            <a:r>
              <a:rPr lang="en-US" sz="1050" b="1" dirty="0">
                <a:solidFill>
                  <a:srgbClr val="0A7E8C"/>
                </a:solidFill>
                <a:latin typeface="Arial" pitchFamily="34" charset="0"/>
                <a:ea typeface="Arial" pitchFamily="34" charset="-122"/>
                <a:cs typeface="Arial" pitchFamily="34" charset="-120"/>
              </a:rPr>
              <a:t>1. Chính Sách Xác Suất (Stochastic Policy)</a:t>
            </a:r>
            <a:endParaRPr lang="en-US" sz="1050" dirty="0"/>
          </a:p>
        </p:txBody>
      </p:sp>
      <p:sp>
        <p:nvSpPr>
          <p:cNvPr id="13" name="Text 11"/>
          <p:cNvSpPr/>
          <p:nvPr/>
        </p:nvSpPr>
        <p:spPr>
          <a:xfrm>
            <a:off x="1097280" y="2852928"/>
            <a:ext cx="4297680" cy="640080"/>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π(a | s) = P(At = a | St = s)</a:t>
            </a:r>
            <a:endParaRPr lang="en-US" sz="950" dirty="0"/>
          </a:p>
          <a:p>
            <a:pPr marL="0" indent="0">
              <a:buNone/>
            </a:pPr>
            <a:r>
              <a:rPr lang="en-US" sz="950" dirty="0">
                <a:solidFill>
                  <a:srgbClr val="475569"/>
                </a:solidFill>
                <a:latin typeface="Calibri" pitchFamily="34" charset="0"/>
                <a:ea typeface="Calibri" pitchFamily="34" charset="-122"/>
                <a:cs typeface="Calibri" pitchFamily="34" charset="-120"/>
              </a:rPr>
              <a:t>Phân phối xác suất chọn hành động a tại trạng thái s. Rất hữu ích cho tác tử thực hiện khám phá (exploration) các chiến lược mới.</a:t>
            </a:r>
            <a:endParaRPr lang="en-US" sz="950" dirty="0"/>
          </a:p>
        </p:txBody>
      </p:sp>
      <p:sp>
        <p:nvSpPr>
          <p:cNvPr id="14" name="Shape 12"/>
          <p:cNvSpPr/>
          <p:nvPr/>
        </p:nvSpPr>
        <p:spPr>
          <a:xfrm>
            <a:off x="960120" y="3703320"/>
            <a:ext cx="4572000" cy="914400"/>
          </a:xfrm>
          <a:prstGeom prst="roundRect">
            <a:avLst>
              <a:gd name="adj" fmla="val 8000"/>
            </a:avLst>
          </a:prstGeom>
          <a:solidFill>
            <a:srgbClr val="FEF3C7"/>
          </a:solidFill>
          <a:ln w="12700">
            <a:solidFill>
              <a:srgbClr val="FDE68A"/>
            </a:solidFill>
            <a:prstDash val="solid"/>
          </a:ln>
        </p:spPr>
      </p:sp>
      <p:sp>
        <p:nvSpPr>
          <p:cNvPr id="15" name="Text 13"/>
          <p:cNvSpPr/>
          <p:nvPr/>
        </p:nvSpPr>
        <p:spPr>
          <a:xfrm>
            <a:off x="1097280" y="3794760"/>
            <a:ext cx="4297680" cy="228600"/>
          </a:xfrm>
          <a:prstGeom prst="rect">
            <a:avLst/>
          </a:prstGeom>
          <a:noFill/>
          <a:ln/>
        </p:spPr>
        <p:txBody>
          <a:bodyPr wrap="square" lIns="0" tIns="0" rIns="0" bIns="0" rtlCol="0" anchor="ctr"/>
          <a:lstStyle/>
          <a:p>
            <a:pPr marL="0" indent="0">
              <a:buNone/>
            </a:pPr>
            <a:r>
              <a:rPr lang="en-US" sz="1050" b="1" dirty="0">
                <a:solidFill>
                  <a:srgbClr val="92400E"/>
                </a:solidFill>
                <a:latin typeface="Arial" pitchFamily="34" charset="0"/>
                <a:ea typeface="Arial" pitchFamily="34" charset="-122"/>
                <a:cs typeface="Arial" pitchFamily="34" charset="-120"/>
              </a:rPr>
              <a:t>2. Chính Sách Đơn Định (Deterministic Policy)</a:t>
            </a:r>
            <a:endParaRPr lang="en-US" sz="1050" dirty="0"/>
          </a:p>
        </p:txBody>
      </p:sp>
      <p:sp>
        <p:nvSpPr>
          <p:cNvPr id="16" name="Text 14"/>
          <p:cNvSpPr/>
          <p:nvPr/>
        </p:nvSpPr>
        <p:spPr>
          <a:xfrm>
            <a:off x="1097280" y="4041648"/>
            <a:ext cx="4297680" cy="502920"/>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a = π(s)</a:t>
            </a:r>
            <a:endParaRPr lang="en-US" sz="950" dirty="0"/>
          </a:p>
          <a:p>
            <a:pPr marL="0" indent="0">
              <a:buNone/>
            </a:pPr>
            <a:r>
              <a:rPr lang="en-US" sz="950" dirty="0">
                <a:solidFill>
                  <a:srgbClr val="475569"/>
                </a:solidFill>
                <a:latin typeface="Calibri" pitchFamily="34" charset="0"/>
                <a:ea typeface="Calibri" pitchFamily="34" charset="-122"/>
                <a:cs typeface="Calibri" pitchFamily="34" charset="-120"/>
              </a:rPr>
              <a:t>Ánh xạ trực tiếp mỗi trạng thái sang một hành động duy nhất dứt khoát. Thường là kết quả của chính sách tối ưu sau khi học xong.</a:t>
            </a:r>
            <a:endParaRPr lang="en-US" sz="950" dirty="0"/>
          </a:p>
        </p:txBody>
      </p:sp>
      <p:sp>
        <p:nvSpPr>
          <p:cNvPr id="17" name="Shape 15"/>
          <p:cNvSpPr/>
          <p:nvPr/>
        </p:nvSpPr>
        <p:spPr>
          <a:xfrm>
            <a:off x="960120" y="4754880"/>
            <a:ext cx="4572000" cy="1280160"/>
          </a:xfrm>
          <a:prstGeom prst="roundRect">
            <a:avLst>
              <a:gd name="adj" fmla="val 5714"/>
            </a:avLst>
          </a:prstGeom>
          <a:solidFill>
            <a:srgbClr val="F1F5F9"/>
          </a:solidFill>
          <a:ln w="15240">
            <a:solidFill>
              <a:srgbClr val="0F1B29"/>
            </a:solidFill>
            <a:prstDash val="solid"/>
          </a:ln>
        </p:spPr>
      </p:sp>
      <p:sp>
        <p:nvSpPr>
          <p:cNvPr id="18" name="Text 16"/>
          <p:cNvSpPr/>
          <p:nvPr/>
        </p:nvSpPr>
        <p:spPr>
          <a:xfrm>
            <a:off x="1097280" y="4846320"/>
            <a:ext cx="4297680" cy="228600"/>
          </a:xfrm>
          <a:prstGeom prst="rect">
            <a:avLst/>
          </a:prstGeom>
          <a:noFill/>
          <a:ln/>
        </p:spPr>
        <p:txBody>
          <a:bodyPr wrap="square" lIns="0" tIns="0" rIns="0" bIns="0" rtlCol="0" anchor="ctr"/>
          <a:lstStyle/>
          <a:p>
            <a:pPr marL="0" indent="0">
              <a:buNone/>
            </a:pPr>
            <a:r>
              <a:rPr lang="en-US" sz="1050" b="1" dirty="0">
                <a:solidFill>
                  <a:srgbClr val="0F1B29"/>
                </a:solidFill>
                <a:latin typeface="Arial" pitchFamily="34" charset="0"/>
                <a:ea typeface="Arial" pitchFamily="34" charset="-122"/>
                <a:cs typeface="Arial" pitchFamily="34" charset="-120"/>
              </a:rPr>
              <a:t>MỤC TIÊU TỐI THƯỢNG CỦA MDP</a:t>
            </a:r>
            <a:endParaRPr lang="en-US" sz="1050" dirty="0"/>
          </a:p>
        </p:txBody>
      </p:sp>
      <p:sp>
        <p:nvSpPr>
          <p:cNvPr id="19" name="Text 17"/>
          <p:cNvSpPr/>
          <p:nvPr/>
        </p:nvSpPr>
        <p:spPr>
          <a:xfrm>
            <a:off x="1097280" y="5102352"/>
            <a:ext cx="4297680" cy="411480"/>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Tìm chính sách tối ưu π* để tối đa hóa kỳ vọng lợi nhuận tích lũy Gt từ mọi trạng thái khởi đầu:</a:t>
            </a:r>
            <a:endParaRPr lang="en-US" sz="950" dirty="0"/>
          </a:p>
        </p:txBody>
      </p:sp>
      <p:sp>
        <p:nvSpPr>
          <p:cNvPr id="20" name="Text 18"/>
          <p:cNvSpPr/>
          <p:nvPr/>
        </p:nvSpPr>
        <p:spPr>
          <a:xfrm>
            <a:off x="1097280" y="5559552"/>
            <a:ext cx="4297680" cy="320040"/>
          </a:xfrm>
          <a:prstGeom prst="rect">
            <a:avLst/>
          </a:prstGeom>
          <a:noFill/>
          <a:ln/>
        </p:spPr>
        <p:txBody>
          <a:bodyPr wrap="square" lIns="0" tIns="0" rIns="0" bIns="0" rtlCol="0" anchor="ctr"/>
          <a:lstStyle/>
          <a:p>
            <a:pPr marL="0" indent="0" algn="ctr">
              <a:buNone/>
            </a:pPr>
            <a:r>
              <a:rPr lang="en-US" sz="1100" b="1" dirty="0">
                <a:solidFill>
                  <a:srgbClr val="0A7E8C"/>
                </a:solidFill>
                <a:latin typeface="Calibri" pitchFamily="34" charset="0"/>
                <a:ea typeface="Calibri" pitchFamily="34" charset="-122"/>
                <a:cs typeface="Calibri" pitchFamily="34" charset="-120"/>
              </a:rPr>
              <a:t>π* = arg max_π E_π [ Gt | S0 = s ]</a:t>
            </a:r>
            <a:endParaRPr lang="en-US" sz="1100" dirty="0"/>
          </a:p>
        </p:txBody>
      </p:sp>
      <p:sp>
        <p:nvSpPr>
          <p:cNvPr id="21" name="Shape 19"/>
          <p:cNvSpPr/>
          <p:nvPr/>
        </p:nvSpPr>
        <p:spPr>
          <a:xfrm>
            <a:off x="6035040" y="1508760"/>
            <a:ext cx="5422392" cy="4709160"/>
          </a:xfrm>
          <a:prstGeom prst="roundRect">
            <a:avLst>
              <a:gd name="adj" fmla="val 2330"/>
            </a:avLst>
          </a:prstGeom>
          <a:solidFill>
            <a:srgbClr val="FFFFFF"/>
          </a:solidFill>
          <a:ln w="15240">
            <a:solidFill>
              <a:srgbClr val="E2E8F0"/>
            </a:solidFill>
            <a:prstDash val="solid"/>
          </a:ln>
        </p:spPr>
      </p:sp>
      <p:sp>
        <p:nvSpPr>
          <p:cNvPr id="22" name="Text 20"/>
          <p:cNvSpPr/>
          <p:nvPr/>
        </p:nvSpPr>
        <p:spPr>
          <a:xfrm>
            <a:off x="6263640" y="1691640"/>
            <a:ext cx="4937760" cy="274320"/>
          </a:xfrm>
          <a:prstGeom prst="rect">
            <a:avLst/>
          </a:prstGeom>
          <a:noFill/>
          <a:ln/>
        </p:spPr>
        <p:txBody>
          <a:bodyPr wrap="square" lIns="0" tIns="0" rIns="0" bIns="0" rtlCol="0" anchor="ctr"/>
          <a:lstStyle/>
          <a:p>
            <a:pPr marL="0" indent="0">
              <a:buNone/>
            </a:pPr>
            <a:r>
              <a:rPr lang="en-US" sz="1200" b="1" dirty="0">
                <a:solidFill>
                  <a:srgbClr val="0F1B29"/>
                </a:solidFill>
                <a:latin typeface="Arial" pitchFamily="34" charset="0"/>
                <a:ea typeface="Arial" pitchFamily="34" charset="-122"/>
                <a:cs typeface="Arial" pitchFamily="34" charset="-120"/>
              </a:rPr>
              <a:t>LỢI NHUẬN TÍCH LŨY CÓ CHIẾT KHẤU (Gt)</a:t>
            </a:r>
            <a:endParaRPr lang="en-US" sz="1200" dirty="0"/>
          </a:p>
        </p:txBody>
      </p:sp>
      <p:pic>
        <p:nvPicPr>
          <p:cNvPr id="23" name="Image 0" descr="D:\Study\HK5\CSAI\ThuyetTrinhMDP\assets\formula_return.png"/>
          <p:cNvPicPr>
            <a:picLocks noChangeAspect="1"/>
          </p:cNvPicPr>
          <p:nvPr/>
        </p:nvPicPr>
        <p:blipFill>
          <a:blip r:embed="rId3"/>
          <a:stretch>
            <a:fillRect/>
          </a:stretch>
        </p:blipFill>
        <p:spPr>
          <a:xfrm>
            <a:off x="6492240" y="2011680"/>
            <a:ext cx="4507992" cy="594360"/>
          </a:xfrm>
          <a:prstGeom prst="rect">
            <a:avLst/>
          </a:prstGeom>
        </p:spPr>
      </p:pic>
      <p:pic>
        <p:nvPicPr>
          <p:cNvPr id="24" name="Image 1" descr="D:\Study\HK5\CSAI\ThuyetTrinhMDP\assets\diagram_discount_timeline.png"/>
          <p:cNvPicPr>
            <a:picLocks noChangeAspect="1"/>
          </p:cNvPicPr>
          <p:nvPr/>
        </p:nvPicPr>
        <p:blipFill>
          <a:blip r:embed="rId4"/>
          <a:stretch>
            <a:fillRect/>
          </a:stretch>
        </p:blipFill>
        <p:spPr>
          <a:xfrm>
            <a:off x="6263640" y="2697480"/>
            <a:ext cx="4965192" cy="2103120"/>
          </a:xfrm>
          <a:prstGeom prst="rect">
            <a:avLst/>
          </a:prstGeom>
        </p:spPr>
      </p:pic>
      <p:sp>
        <p:nvSpPr>
          <p:cNvPr id="25" name="Text 21"/>
          <p:cNvSpPr/>
          <p:nvPr/>
        </p:nvSpPr>
        <p:spPr>
          <a:xfrm>
            <a:off x="6263640" y="4937760"/>
            <a:ext cx="4965192" cy="1143000"/>
          </a:xfrm>
          <a:prstGeom prst="rect">
            <a:avLst/>
          </a:prstGeom>
          <a:noFill/>
          <a:ln/>
        </p:spPr>
        <p:txBody>
          <a:bodyPr wrap="square" lIns="0" tIns="0" rIns="0" bIns="0" rtlCol="0" anchor="ctr"/>
          <a:lstStyle/>
          <a:p>
            <a:pPr marL="0" indent="0">
              <a:buNone/>
            </a:pPr>
            <a:r>
              <a:rPr lang="en-US" sz="950" b="1" dirty="0">
                <a:solidFill>
                  <a:srgbClr val="92400E"/>
                </a:solidFill>
                <a:latin typeface="Calibri" pitchFamily="34" charset="0"/>
                <a:ea typeface="Calibri" pitchFamily="34" charset="-122"/>
                <a:cs typeface="Calibri" pitchFamily="34" charset="-120"/>
              </a:rPr>
              <a:t>• γ → 0 (Thiển cận): </a:t>
            </a:r>
            <a:r>
              <a:rPr lang="en-US" sz="950" dirty="0">
                <a:solidFill>
                  <a:srgbClr val="475569"/>
                </a:solidFill>
                <a:latin typeface="Calibri" pitchFamily="34" charset="0"/>
                <a:ea typeface="Calibri" pitchFamily="34" charset="-122"/>
                <a:cs typeface="Calibri" pitchFamily="34" charset="-120"/>
              </a:rPr>
              <a:t>Tác tử chỉ tối đa hóa phần thưởng ngay bước kế tiếp, bỏ qua cơ hội lớn dài hạn.
</a:t>
            </a:r>
            <a:r>
              <a:rPr lang="en-US" sz="950" b="1" dirty="0">
                <a:solidFill>
                  <a:srgbClr val="0A7E8C"/>
                </a:solidFill>
                <a:latin typeface="Calibri" pitchFamily="34" charset="0"/>
                <a:ea typeface="Calibri" pitchFamily="34" charset="-122"/>
                <a:cs typeface="Calibri" pitchFamily="34" charset="-120"/>
              </a:rPr>
              <a:t>• γ → 1 (Viễn kiến): </a:t>
            </a:r>
            <a:r>
              <a:rPr lang="en-US" sz="950" dirty="0">
                <a:solidFill>
                  <a:srgbClr val="475569"/>
                </a:solidFill>
                <a:latin typeface="Calibri" pitchFamily="34" charset="0"/>
                <a:ea typeface="Calibri" pitchFamily="34" charset="-122"/>
                <a:cs typeface="Calibri" pitchFamily="34" charset="-120"/>
              </a:rPr>
              <a:t>Tác tử đánh giá cao phần thưởng tương lai xa, chấp nhận hy sinh trước mắt.
</a:t>
            </a:r>
            <a:r>
              <a:rPr lang="en-US" sz="950" b="1" dirty="0">
                <a:solidFill>
                  <a:srgbClr val="0F1B29"/>
                </a:solidFill>
                <a:latin typeface="Calibri" pitchFamily="34" charset="0"/>
                <a:ea typeface="Calibri" pitchFamily="34" charset="-122"/>
                <a:cs typeface="Calibri" pitchFamily="34" charset="-120"/>
              </a:rPr>
              <a:t>• Tính hội tụ toán học: </a:t>
            </a:r>
            <a:r>
              <a:rPr lang="en-US" sz="950" dirty="0">
                <a:solidFill>
                  <a:srgbClr val="475569"/>
                </a:solidFill>
                <a:latin typeface="Calibri" pitchFamily="34" charset="0"/>
                <a:ea typeface="Calibri" pitchFamily="34" charset="-122"/>
                <a:cs typeface="Calibri" pitchFamily="34" charset="-120"/>
              </a:rPr>
              <a:t>Với γ &lt; 1 và phần thưởng hữu hạn R ≤ R_max, chuỗi tổng luôn bị chặn trên: Gt ≤ R_max / (1 - γ).</a:t>
            </a:r>
            <a:endParaRPr lang="en-US" sz="950" dirty="0"/>
          </a:p>
        </p:txBody>
      </p:sp>
    </p:spTree>
  </p:cSld>
  <p:clrMapOvr>
    <a:masterClrMapping/>
  </p:clrMapOvr>
  <mc:AlternateContent xmlns:mc="http://schemas.openxmlformats.org/markup-compatibility/2006">
    <mc:Choice xmlns:p14="http://schemas.microsoft.com/office/powerpoint/2010/main" Requires="p14">
      <p:transition p14:dur="400">
        <p:blinds/>
      </p:transition>
    </mc:Choice>
    <mc:Fallback>
      <p:transition>
        <p:blind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childTnLst>
                          </p:cTn>
                        </p:par>
                        <p:par>
                          <p:cTn id="8" fill="hold">
                            <p:stCondLst>
                              <p:cond delay="3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childTnLst>
                          </p:cTn>
                        </p:par>
                        <p:par>
                          <p:cTn id="12" fill="hold">
                            <p:stCondLst>
                              <p:cond delay="6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300"/>
                                        <p:tgtEl>
                                          <p:spTgt spid="10"/>
                                        </p:tgtEl>
                                      </p:cBhvr>
                                    </p:animEffect>
                                  </p:childTnLst>
                                </p:cTn>
                              </p:par>
                            </p:childTnLst>
                          </p:cTn>
                        </p:par>
                        <p:par>
                          <p:cTn id="16" fill="hold">
                            <p:stCondLst>
                              <p:cond delay="900"/>
                            </p:stCondLst>
                            <p:childTnLst>
                              <p:par>
                                <p:cTn id="17" presetID="10" presetClass="entr" presetSubtype="0"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300"/>
                                        <p:tgtEl>
                                          <p:spTgt spid="11"/>
                                        </p:tgtEl>
                                      </p:cBhvr>
                                    </p:animEffect>
                                  </p:childTnLst>
                                </p:cTn>
                              </p:par>
                            </p:childTnLst>
                          </p:cTn>
                        </p:par>
                        <p:par>
                          <p:cTn id="20" fill="hold">
                            <p:stCondLst>
                              <p:cond delay="1200"/>
                            </p:stCondLst>
                            <p:childTnLst>
                              <p:par>
                                <p:cTn id="21" presetID="10" presetClass="entr" presetSubtype="0"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300"/>
                                        <p:tgtEl>
                                          <p:spTgt spid="12"/>
                                        </p:tgtEl>
                                      </p:cBhvr>
                                    </p:animEffect>
                                  </p:childTnLst>
                                </p:cTn>
                              </p:par>
                            </p:childTnLst>
                          </p:cTn>
                        </p:par>
                        <p:par>
                          <p:cTn id="24" fill="hold">
                            <p:stCondLst>
                              <p:cond delay="1500"/>
                            </p:stCondLst>
                            <p:childTnLst>
                              <p:par>
                                <p:cTn id="25" presetID="10" presetClass="entr" presetSubtype="0"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300"/>
                                        <p:tgtEl>
                                          <p:spTgt spid="13"/>
                                        </p:tgtEl>
                                      </p:cBhvr>
                                    </p:animEffect>
                                  </p:childTnLst>
                                </p:cTn>
                              </p:par>
                            </p:childTnLst>
                          </p:cTn>
                        </p:par>
                        <p:par>
                          <p:cTn id="28" fill="hold">
                            <p:stCondLst>
                              <p:cond delay="1800"/>
                            </p:stCondLst>
                            <p:childTnLst>
                              <p:par>
                                <p:cTn id="29" presetID="10" presetClass="entr" presetSubtype="0" fill="hold"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300"/>
                                        <p:tgtEl>
                                          <p:spTgt spid="14"/>
                                        </p:tgtEl>
                                      </p:cBhvr>
                                    </p:animEffect>
                                  </p:childTnLst>
                                </p:cTn>
                              </p:par>
                            </p:childTnLst>
                          </p:cTn>
                        </p:par>
                        <p:par>
                          <p:cTn id="32" fill="hold">
                            <p:stCondLst>
                              <p:cond delay="2100"/>
                            </p:stCondLst>
                            <p:childTnLst>
                              <p:par>
                                <p:cTn id="33" presetID="10" presetClass="entr" presetSubtype="0"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00"/>
                                        <p:tgtEl>
                                          <p:spTgt spid="15"/>
                                        </p:tgtEl>
                                      </p:cBhvr>
                                    </p:animEffect>
                                  </p:childTnLst>
                                </p:cTn>
                              </p:par>
                            </p:childTnLst>
                          </p:cTn>
                        </p:par>
                        <p:par>
                          <p:cTn id="36" fill="hold">
                            <p:stCondLst>
                              <p:cond delay="2400"/>
                            </p:stCondLst>
                            <p:childTnLst>
                              <p:par>
                                <p:cTn id="37" presetID="10" presetClass="entr" presetSubtype="0"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300"/>
                                        <p:tgtEl>
                                          <p:spTgt spid="16"/>
                                        </p:tgtEl>
                                      </p:cBhvr>
                                    </p:animEffect>
                                  </p:childTnLst>
                                </p:cTn>
                              </p:par>
                            </p:childTnLst>
                          </p:cTn>
                        </p:par>
                        <p:par>
                          <p:cTn id="40" fill="hold">
                            <p:stCondLst>
                              <p:cond delay="2700"/>
                            </p:stCondLst>
                            <p:childTnLst>
                              <p:par>
                                <p:cTn id="41" presetID="10" presetClass="entr" presetSubtype="0" fill="hold"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300"/>
                                        <p:tgtEl>
                                          <p:spTgt spid="17"/>
                                        </p:tgtEl>
                                      </p:cBhvr>
                                    </p:animEffect>
                                  </p:childTnLst>
                                </p:cTn>
                              </p:par>
                            </p:childTnLst>
                          </p:cTn>
                        </p:par>
                        <p:par>
                          <p:cTn id="44" fill="hold">
                            <p:stCondLst>
                              <p:cond delay="3000"/>
                            </p:stCondLst>
                            <p:childTnLst>
                              <p:par>
                                <p:cTn id="45" presetID="10" presetClass="entr" presetSubtype="0"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300"/>
                                        <p:tgtEl>
                                          <p:spTgt spid="18"/>
                                        </p:tgtEl>
                                      </p:cBhvr>
                                    </p:animEffect>
                                  </p:childTnLst>
                                </p:cTn>
                              </p:par>
                            </p:childTnLst>
                          </p:cTn>
                        </p:par>
                        <p:par>
                          <p:cTn id="48" fill="hold">
                            <p:stCondLst>
                              <p:cond delay="3300"/>
                            </p:stCondLst>
                            <p:childTnLst>
                              <p:par>
                                <p:cTn id="49" presetID="10" presetClass="entr" presetSubtype="0" fill="hold" grpId="0"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300"/>
                                        <p:tgtEl>
                                          <p:spTgt spid="19"/>
                                        </p:tgtEl>
                                      </p:cBhvr>
                                    </p:animEffect>
                                  </p:childTnLst>
                                </p:cTn>
                              </p:par>
                            </p:childTnLst>
                          </p:cTn>
                        </p:par>
                        <p:par>
                          <p:cTn id="52" fill="hold">
                            <p:stCondLst>
                              <p:cond delay="3600"/>
                            </p:stCondLst>
                            <p:childTnLst>
                              <p:par>
                                <p:cTn id="53" presetID="10" presetClass="entr" presetSubtype="0" fill="hold" grpId="0" nodeType="after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300"/>
                                        <p:tgtEl>
                                          <p:spTgt spid="20"/>
                                        </p:tgtEl>
                                      </p:cBhvr>
                                    </p:animEffect>
                                  </p:childTnLst>
                                </p:cTn>
                              </p:par>
                            </p:childTnLst>
                          </p:cTn>
                        </p:par>
                        <p:par>
                          <p:cTn id="56" fill="hold">
                            <p:stCondLst>
                              <p:cond delay="3900"/>
                            </p:stCondLst>
                            <p:childTnLst>
                              <p:par>
                                <p:cTn id="57" presetID="10" presetClass="entr" presetSubtype="0" fill="hold" nodeType="after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300"/>
                                        <p:tgtEl>
                                          <p:spTgt spid="21"/>
                                        </p:tgtEl>
                                      </p:cBhvr>
                                    </p:animEffect>
                                  </p:childTnLst>
                                </p:cTn>
                              </p:par>
                            </p:childTnLst>
                          </p:cTn>
                        </p:par>
                        <p:par>
                          <p:cTn id="60" fill="hold">
                            <p:stCondLst>
                              <p:cond delay="4200"/>
                            </p:stCondLst>
                            <p:childTnLst>
                              <p:par>
                                <p:cTn id="61" presetID="10" presetClass="entr" presetSubtype="0" fill="hold" grpId="0" nodeType="after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300"/>
                                        <p:tgtEl>
                                          <p:spTgt spid="22"/>
                                        </p:tgtEl>
                                      </p:cBhvr>
                                    </p:animEffect>
                                  </p:childTnLst>
                                </p:cTn>
                              </p:par>
                            </p:childTnLst>
                          </p:cTn>
                        </p:par>
                        <p:par>
                          <p:cTn id="64" fill="hold">
                            <p:stCondLst>
                              <p:cond delay="4500"/>
                            </p:stCondLst>
                            <p:childTnLst>
                              <p:par>
                                <p:cTn id="65" presetID="10" presetClass="entr" presetSubtype="0" fill="hold" nodeType="after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300"/>
                                        <p:tgtEl>
                                          <p:spTgt spid="23"/>
                                        </p:tgtEl>
                                      </p:cBhvr>
                                    </p:animEffect>
                                  </p:childTnLst>
                                </p:cTn>
                              </p:par>
                            </p:childTnLst>
                          </p:cTn>
                        </p:par>
                        <p:par>
                          <p:cTn id="68" fill="hold">
                            <p:stCondLst>
                              <p:cond delay="4800"/>
                            </p:stCondLst>
                            <p:childTnLst>
                              <p:par>
                                <p:cTn id="69" presetID="10" presetClass="entr" presetSubtype="0" fill="hold" nodeType="after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300"/>
                                        <p:tgtEl>
                                          <p:spTgt spid="24"/>
                                        </p:tgtEl>
                                      </p:cBhvr>
                                    </p:animEffect>
                                  </p:childTnLst>
                                </p:cTn>
                              </p:par>
                            </p:childTnLst>
                          </p:cTn>
                        </p:par>
                        <p:par>
                          <p:cTn id="72" fill="hold">
                            <p:stCondLst>
                              <p:cond delay="5100"/>
                            </p:stCondLst>
                            <p:childTnLst>
                              <p:par>
                                <p:cTn id="73" presetID="10" presetClass="entr" presetSubtype="0" fill="hold" grpId="0" nodeType="after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3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3" grpId="0" animBg="1"/>
      <p:bldP spid="15" grpId="0" animBg="1"/>
      <p:bldP spid="16" grpId="0" animBg="1"/>
      <p:bldP spid="18" grpId="0" animBg="1"/>
      <p:bldP spid="19" grpId="0" animBg="1"/>
      <p:bldP spid="20" grpId="0" animBg="1"/>
      <p:bldP spid="22" grpId="0" animBg="1"/>
      <p:bldP spid="2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oundRect">
            <a:avLst>
              <a:gd name="adj" fmla="val 28571"/>
            </a:avLst>
          </a:prstGeom>
          <a:solidFill>
            <a:srgbClr val="E0F2FE"/>
          </a:solidFill>
          <a:ln w="12700">
            <a:solidFill>
              <a:srgbClr val="0A7E8C"/>
            </a:solidFill>
            <a:prstDash val="solid"/>
          </a:ln>
        </p:spPr>
      </p:sp>
      <p:sp>
        <p:nvSpPr>
          <p:cNvPr id="3" name="Text 1"/>
          <p:cNvSpPr/>
          <p:nvPr/>
        </p:nvSpPr>
        <p:spPr>
          <a:xfrm>
            <a:off x="731520" y="384048"/>
            <a:ext cx="2560320" cy="256032"/>
          </a:xfrm>
          <a:prstGeom prst="rect">
            <a:avLst/>
          </a:prstGeom>
          <a:noFill/>
          <a:ln/>
        </p:spPr>
        <p:txBody>
          <a:bodyPr wrap="square" lIns="0" tIns="0" rIns="0" bIns="0" rtlCol="0" anchor="ctr"/>
          <a:lstStyle/>
          <a:p>
            <a:pPr marL="0" indent="0" algn="ctr">
              <a:buNone/>
            </a:pPr>
            <a:r>
              <a:rPr lang="en-US" sz="850" b="1" dirty="0">
                <a:solidFill>
                  <a:srgbClr val="0A7E8C"/>
                </a:solidFill>
                <a:latin typeface="Calibri" pitchFamily="34" charset="0"/>
                <a:ea typeface="Calibri" pitchFamily="34" charset="-122"/>
                <a:cs typeface="Calibri" pitchFamily="34" charset="-120"/>
              </a:rPr>
              <a:t>THƯỚC ĐO GIÁ TRỊ</a:t>
            </a:r>
            <a:endParaRPr lang="en-US" sz="850" dirty="0"/>
          </a:p>
        </p:txBody>
      </p:sp>
      <p:sp>
        <p:nvSpPr>
          <p:cNvPr id="4" name="Text 2"/>
          <p:cNvSpPr/>
          <p:nvPr/>
        </p:nvSpPr>
        <p:spPr>
          <a:xfrm>
            <a:off x="731520" y="676656"/>
            <a:ext cx="10725912" cy="438912"/>
          </a:xfrm>
          <a:prstGeom prst="rect">
            <a:avLst/>
          </a:prstGeom>
          <a:noFill/>
          <a:ln/>
        </p:spPr>
        <p:txBody>
          <a:bodyPr wrap="square" lIns="0" tIns="0" rIns="0" bIns="0" rtlCol="0" anchor="ctr"/>
          <a:lstStyle/>
          <a:p>
            <a:pPr marL="0" indent="0">
              <a:buNone/>
            </a:pPr>
            <a:r>
              <a:rPr lang="en-US" sz="2200" b="1" dirty="0">
                <a:solidFill>
                  <a:srgbClr val="0F1B29"/>
                </a:solidFill>
                <a:latin typeface="Arial" pitchFamily="34" charset="0"/>
                <a:ea typeface="Arial" pitchFamily="34" charset="-122"/>
                <a:cs typeface="Arial" pitchFamily="34" charset="-120"/>
              </a:rPr>
              <a:t>Hai Thước Đo Nền Tảng: State-Value V(s) &amp; Action-Value Q(s, a)</a:t>
            </a:r>
            <a:endParaRPr lang="en-US" sz="2200" dirty="0"/>
          </a:p>
        </p:txBody>
      </p:sp>
      <p:sp>
        <p:nvSpPr>
          <p:cNvPr id="5" name="Text 3"/>
          <p:cNvSpPr/>
          <p:nvPr/>
        </p:nvSpPr>
        <p:spPr>
          <a:xfrm>
            <a:off x="731520" y="1115568"/>
            <a:ext cx="10725912" cy="292608"/>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Định lượng tiềm năng của vị trí hiện tại và mức độ sinh lợi của từng quyết định cụ thể</a:t>
            </a:r>
            <a:endParaRPr lang="en-US" sz="1200" dirty="0"/>
          </a:p>
        </p:txBody>
      </p:sp>
      <p:sp>
        <p:nvSpPr>
          <p:cNvPr id="6" name="Text 4"/>
          <p:cNvSpPr/>
          <p:nvPr/>
        </p:nvSpPr>
        <p:spPr>
          <a:xfrm>
            <a:off x="731520" y="6446520"/>
            <a:ext cx="7315200" cy="274320"/>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MARKOV DECISION PROCESSES (MDP) • AI &amp; REINFORCEMENT LEARNING</a:t>
            </a:r>
            <a:endParaRPr lang="en-US" sz="850" dirty="0"/>
          </a:p>
        </p:txBody>
      </p:sp>
      <p:sp>
        <p:nvSpPr>
          <p:cNvPr id="7" name="Text 5"/>
          <p:cNvSpPr/>
          <p:nvPr/>
        </p:nvSpPr>
        <p:spPr>
          <a:xfrm>
            <a:off x="9875520" y="6446520"/>
            <a:ext cx="1581912" cy="274320"/>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06 / 12</a:t>
            </a:r>
            <a:endParaRPr lang="en-US" sz="900" dirty="0"/>
          </a:p>
        </p:txBody>
      </p:sp>
      <p:sp>
        <p:nvSpPr>
          <p:cNvPr id="8" name="Shape 6"/>
          <p:cNvSpPr/>
          <p:nvPr/>
        </p:nvSpPr>
        <p:spPr>
          <a:xfrm>
            <a:off x="731520" y="1508760"/>
            <a:ext cx="5212080" cy="3566160"/>
          </a:xfrm>
          <a:prstGeom prst="roundRect">
            <a:avLst>
              <a:gd name="adj" fmla="val 3077"/>
            </a:avLst>
          </a:prstGeom>
          <a:solidFill>
            <a:srgbClr val="FFFFFF"/>
          </a:solidFill>
          <a:ln w="19050">
            <a:solidFill>
              <a:srgbClr val="0284C7"/>
            </a:solidFill>
            <a:prstDash val="solid"/>
          </a:ln>
        </p:spPr>
      </p:sp>
      <p:sp>
        <p:nvSpPr>
          <p:cNvPr id="9" name="Shape 7"/>
          <p:cNvSpPr/>
          <p:nvPr/>
        </p:nvSpPr>
        <p:spPr>
          <a:xfrm>
            <a:off x="960120" y="1691640"/>
            <a:ext cx="1280160" cy="411480"/>
          </a:xfrm>
          <a:prstGeom prst="roundRect">
            <a:avLst>
              <a:gd name="adj" fmla="val 17778"/>
            </a:avLst>
          </a:prstGeom>
          <a:solidFill>
            <a:srgbClr val="E0F2FE"/>
          </a:solidFill>
          <a:ln w="12700">
            <a:solidFill>
              <a:srgbClr val="0284C7"/>
            </a:solidFill>
            <a:prstDash val="solid"/>
          </a:ln>
        </p:spPr>
      </p:sp>
      <p:sp>
        <p:nvSpPr>
          <p:cNvPr id="10" name="Text 8"/>
          <p:cNvSpPr/>
          <p:nvPr/>
        </p:nvSpPr>
        <p:spPr>
          <a:xfrm>
            <a:off x="960120" y="1691640"/>
            <a:ext cx="1280160" cy="411480"/>
          </a:xfrm>
          <a:prstGeom prst="rect">
            <a:avLst/>
          </a:prstGeom>
          <a:noFill/>
          <a:ln/>
        </p:spPr>
        <p:txBody>
          <a:bodyPr wrap="square" lIns="0" tIns="0" rIns="0" bIns="0" rtlCol="0" anchor="ctr"/>
          <a:lstStyle/>
          <a:p>
            <a:pPr marL="0" indent="0" algn="ctr">
              <a:buNone/>
            </a:pPr>
            <a:r>
              <a:rPr lang="en-US" sz="1100" b="1" dirty="0">
                <a:solidFill>
                  <a:srgbClr val="0369A1"/>
                </a:solidFill>
                <a:latin typeface="Arial" pitchFamily="34" charset="0"/>
                <a:ea typeface="Arial" pitchFamily="34" charset="-122"/>
                <a:cs typeface="Arial" pitchFamily="34" charset="-120"/>
              </a:rPr>
              <a:t>HÀM Vπ(s)</a:t>
            </a:r>
            <a:endParaRPr lang="en-US" sz="1100" dirty="0"/>
          </a:p>
        </p:txBody>
      </p:sp>
      <p:sp>
        <p:nvSpPr>
          <p:cNvPr id="11" name="Text 9"/>
          <p:cNvSpPr/>
          <p:nvPr/>
        </p:nvSpPr>
        <p:spPr>
          <a:xfrm>
            <a:off x="2377440" y="1691640"/>
            <a:ext cx="3383280" cy="411480"/>
          </a:xfrm>
          <a:prstGeom prst="rect">
            <a:avLst/>
          </a:prstGeom>
          <a:noFill/>
          <a:ln/>
        </p:spPr>
        <p:txBody>
          <a:bodyPr wrap="square" lIns="0" tIns="0" rIns="0" bIns="0" rtlCol="0" anchor="ctr"/>
          <a:lstStyle/>
          <a:p>
            <a:pPr marL="0" indent="0">
              <a:buNone/>
            </a:pPr>
            <a:r>
              <a:rPr lang="en-US" sz="1200" b="1" dirty="0">
                <a:solidFill>
                  <a:srgbClr val="0F1B29"/>
                </a:solidFill>
                <a:latin typeface="Arial" pitchFamily="34" charset="0"/>
                <a:ea typeface="Arial" pitchFamily="34" charset="-122"/>
                <a:cs typeface="Arial" pitchFamily="34" charset="-120"/>
              </a:rPr>
              <a:t>State-Value Function (Hàm giá trị trạng thái)</a:t>
            </a:r>
            <a:endParaRPr lang="en-US" sz="1200" dirty="0"/>
          </a:p>
        </p:txBody>
      </p:sp>
      <p:sp>
        <p:nvSpPr>
          <p:cNvPr id="12" name="Shape 10"/>
          <p:cNvSpPr/>
          <p:nvPr/>
        </p:nvSpPr>
        <p:spPr>
          <a:xfrm>
            <a:off x="960120" y="2240280"/>
            <a:ext cx="4754880" cy="411480"/>
          </a:xfrm>
          <a:prstGeom prst="roundRect">
            <a:avLst>
              <a:gd name="adj" fmla="val 13333"/>
            </a:avLst>
          </a:prstGeom>
          <a:solidFill>
            <a:srgbClr val="F0FDFA"/>
          </a:solidFill>
          <a:ln w="10160">
            <a:solidFill>
              <a:srgbClr val="CBD5E1"/>
            </a:solidFill>
            <a:prstDash val="solid"/>
          </a:ln>
        </p:spPr>
      </p:sp>
      <p:sp>
        <p:nvSpPr>
          <p:cNvPr id="13" name="Text 11"/>
          <p:cNvSpPr/>
          <p:nvPr/>
        </p:nvSpPr>
        <p:spPr>
          <a:xfrm>
            <a:off x="960120" y="2240280"/>
            <a:ext cx="4754880" cy="411480"/>
          </a:xfrm>
          <a:prstGeom prst="rect">
            <a:avLst/>
          </a:prstGeom>
          <a:noFill/>
          <a:ln/>
        </p:spPr>
        <p:txBody>
          <a:bodyPr wrap="square" lIns="0" tIns="0" rIns="0" bIns="0" rtlCol="0" anchor="ctr"/>
          <a:lstStyle/>
          <a:p>
            <a:pPr marL="0" indent="0" algn="ctr">
              <a:buNone/>
            </a:pPr>
            <a:r>
              <a:rPr lang="en-US" sz="1100" b="1" dirty="0">
                <a:solidFill>
                  <a:srgbClr val="0369A1"/>
                </a:solidFill>
                <a:latin typeface="Calibri" pitchFamily="34" charset="0"/>
                <a:ea typeface="Calibri" pitchFamily="34" charset="-122"/>
                <a:cs typeface="Calibri" pitchFamily="34" charset="-120"/>
              </a:rPr>
              <a:t>Vπ(s) = E_π [ Gt | St = s ]</a:t>
            </a:r>
            <a:endParaRPr lang="en-US" sz="1100" dirty="0"/>
          </a:p>
        </p:txBody>
      </p:sp>
      <p:sp>
        <p:nvSpPr>
          <p:cNvPr id="14" name="Text 12"/>
          <p:cNvSpPr/>
          <p:nvPr/>
        </p:nvSpPr>
        <p:spPr>
          <a:xfrm>
            <a:off x="960120" y="2788920"/>
            <a:ext cx="4754880" cy="475488"/>
          </a:xfrm>
          <a:prstGeom prst="rect">
            <a:avLst/>
          </a:prstGeom>
          <a:noFill/>
          <a:ln/>
        </p:spPr>
        <p:txBody>
          <a:bodyPr wrap="square" lIns="0" tIns="0" rIns="0" bIns="0" rtlCol="0" anchor="ctr"/>
          <a:lstStyle/>
          <a:p>
            <a:pPr marL="0" indent="0">
              <a:buNone/>
            </a:pPr>
            <a:r>
              <a:rPr lang="en-US" sz="950" b="1" dirty="0">
                <a:solidFill>
                  <a:srgbClr val="0284C7"/>
                </a:solidFill>
                <a:latin typeface="Calibri" pitchFamily="34" charset="0"/>
                <a:ea typeface="Calibri" pitchFamily="34" charset="-122"/>
                <a:cs typeface="Calibri" pitchFamily="34" charset="-120"/>
              </a:rPr>
              <a:t>•  </a:t>
            </a:r>
            <a:r>
              <a:rPr lang="en-US" sz="950" b="1" dirty="0">
                <a:solidFill>
                  <a:srgbClr val="0F1B29"/>
                </a:solidFill>
                <a:latin typeface="Calibri" pitchFamily="34" charset="0"/>
                <a:ea typeface="Calibri" pitchFamily="34" charset="-122"/>
                <a:cs typeface="Calibri" pitchFamily="34" charset="-120"/>
              </a:rPr>
              <a:t>Bản chất:</a:t>
            </a:r>
            <a:r>
              <a:rPr lang="en-US" sz="950" dirty="0">
                <a:solidFill>
                  <a:srgbClr val="475569"/>
                </a:solidFill>
                <a:latin typeface="Calibri" pitchFamily="34" charset="0"/>
                <a:ea typeface="Calibri" pitchFamily="34" charset="-122"/>
                <a:cs typeface="Calibri" pitchFamily="34" charset="-120"/>
              </a:rPr>
              <a:t> Kỳ vọng lợi nhuận tích lũy nếu tác tử xuất phát từ trạng thái s và tiếp tục hành động theo chính sách π.</a:t>
            </a:r>
            <a:endParaRPr lang="en-US" sz="950" dirty="0"/>
          </a:p>
        </p:txBody>
      </p:sp>
      <p:sp>
        <p:nvSpPr>
          <p:cNvPr id="15" name="Text 13"/>
          <p:cNvSpPr/>
          <p:nvPr/>
        </p:nvSpPr>
        <p:spPr>
          <a:xfrm>
            <a:off x="960120" y="3319272"/>
            <a:ext cx="4754880" cy="475488"/>
          </a:xfrm>
          <a:prstGeom prst="rect">
            <a:avLst/>
          </a:prstGeom>
          <a:noFill/>
          <a:ln/>
        </p:spPr>
        <p:txBody>
          <a:bodyPr wrap="square" lIns="0" tIns="0" rIns="0" bIns="0" rtlCol="0" anchor="ctr"/>
          <a:lstStyle/>
          <a:p>
            <a:pPr marL="0" indent="0">
              <a:buNone/>
            </a:pPr>
            <a:r>
              <a:rPr lang="en-US" sz="950" b="1" dirty="0">
                <a:solidFill>
                  <a:srgbClr val="0284C7"/>
                </a:solidFill>
                <a:latin typeface="Calibri" pitchFamily="34" charset="0"/>
                <a:ea typeface="Calibri" pitchFamily="34" charset="-122"/>
                <a:cs typeface="Calibri" pitchFamily="34" charset="-120"/>
              </a:rPr>
              <a:t>•  </a:t>
            </a:r>
            <a:r>
              <a:rPr lang="en-US" sz="950" b="1" dirty="0">
                <a:solidFill>
                  <a:srgbClr val="0F1B29"/>
                </a:solidFill>
                <a:latin typeface="Calibri" pitchFamily="34" charset="0"/>
                <a:ea typeface="Calibri" pitchFamily="34" charset="-122"/>
                <a:cs typeface="Calibri" pitchFamily="34" charset="-120"/>
              </a:rPr>
              <a:t>Câu hỏi then chốt:</a:t>
            </a:r>
            <a:r>
              <a:rPr lang="en-US" sz="950" dirty="0">
                <a:solidFill>
                  <a:srgbClr val="475569"/>
                </a:solidFill>
                <a:latin typeface="Calibri" pitchFamily="34" charset="0"/>
                <a:ea typeface="Calibri" pitchFamily="34" charset="-122"/>
                <a:cs typeface="Calibri" pitchFamily="34" charset="-120"/>
              </a:rPr>
              <a:t> "Trạng thái này tiềm năng đến mức nào? Vị trí hiện tại có mang lại lợi thế cho ta không?"</a:t>
            </a:r>
            <a:endParaRPr lang="en-US" sz="950" dirty="0"/>
          </a:p>
        </p:txBody>
      </p:sp>
      <p:sp>
        <p:nvSpPr>
          <p:cNvPr id="16" name="Text 14"/>
          <p:cNvSpPr/>
          <p:nvPr/>
        </p:nvSpPr>
        <p:spPr>
          <a:xfrm>
            <a:off x="960120" y="3849624"/>
            <a:ext cx="4754880" cy="475488"/>
          </a:xfrm>
          <a:prstGeom prst="rect">
            <a:avLst/>
          </a:prstGeom>
          <a:noFill/>
          <a:ln/>
        </p:spPr>
        <p:txBody>
          <a:bodyPr wrap="square" lIns="0" tIns="0" rIns="0" bIns="0" rtlCol="0" anchor="ctr"/>
          <a:lstStyle/>
          <a:p>
            <a:pPr marL="0" indent="0">
              <a:buNone/>
            </a:pPr>
            <a:r>
              <a:rPr lang="en-US" sz="950" b="1" dirty="0">
                <a:solidFill>
                  <a:srgbClr val="0284C7"/>
                </a:solidFill>
                <a:latin typeface="Calibri" pitchFamily="34" charset="0"/>
                <a:ea typeface="Calibri" pitchFamily="34" charset="-122"/>
                <a:cs typeface="Calibri" pitchFamily="34" charset="-120"/>
              </a:rPr>
              <a:t>•  </a:t>
            </a:r>
            <a:r>
              <a:rPr lang="en-US" sz="950" b="1" dirty="0">
                <a:solidFill>
                  <a:srgbClr val="0F1B29"/>
                </a:solidFill>
                <a:latin typeface="Calibri" pitchFamily="34" charset="0"/>
                <a:ea typeface="Calibri" pitchFamily="34" charset="-122"/>
                <a:cs typeface="Calibri" pitchFamily="34" charset="-120"/>
              </a:rPr>
              <a:t>Biểu tượng học thuật:</a:t>
            </a:r>
            <a:r>
              <a:rPr lang="en-US" sz="950" dirty="0">
                <a:solidFill>
                  <a:srgbClr val="475569"/>
                </a:solidFill>
                <a:latin typeface="Calibri" pitchFamily="34" charset="0"/>
                <a:ea typeface="Calibri" pitchFamily="34" charset="-122"/>
                <a:cs typeface="Calibri" pitchFamily="34" charset="-120"/>
              </a:rPr>
              <a:t> Node trạng thái tròn rỗng (○) trong cây phân rã giá trị Bellman.</a:t>
            </a:r>
            <a:endParaRPr lang="en-US" sz="950" dirty="0"/>
          </a:p>
        </p:txBody>
      </p:sp>
      <p:sp>
        <p:nvSpPr>
          <p:cNvPr id="17" name="Text 15"/>
          <p:cNvSpPr/>
          <p:nvPr/>
        </p:nvSpPr>
        <p:spPr>
          <a:xfrm>
            <a:off x="960120" y="4379976"/>
            <a:ext cx="4754880" cy="475488"/>
          </a:xfrm>
          <a:prstGeom prst="rect">
            <a:avLst/>
          </a:prstGeom>
          <a:noFill/>
          <a:ln/>
        </p:spPr>
        <p:txBody>
          <a:bodyPr wrap="square" lIns="0" tIns="0" rIns="0" bIns="0" rtlCol="0" anchor="ctr"/>
          <a:lstStyle/>
          <a:p>
            <a:pPr marL="0" indent="0">
              <a:buNone/>
            </a:pPr>
            <a:r>
              <a:rPr lang="en-US" sz="950" b="1" dirty="0">
                <a:solidFill>
                  <a:srgbClr val="0284C7"/>
                </a:solidFill>
                <a:latin typeface="Calibri" pitchFamily="34" charset="0"/>
                <a:ea typeface="Calibri" pitchFamily="34" charset="-122"/>
                <a:cs typeface="Calibri" pitchFamily="34" charset="-120"/>
              </a:rPr>
              <a:t>•  </a:t>
            </a:r>
            <a:r>
              <a:rPr lang="en-US" sz="950" b="1" dirty="0">
                <a:solidFill>
                  <a:srgbClr val="0F1B29"/>
                </a:solidFill>
                <a:latin typeface="Calibri" pitchFamily="34" charset="0"/>
                <a:ea typeface="Calibri" pitchFamily="34" charset="-122"/>
                <a:cs typeface="Calibri" pitchFamily="34" charset="-120"/>
              </a:rPr>
              <a:t>Vai trò:</a:t>
            </a:r>
            <a:r>
              <a:rPr lang="en-US" sz="950" dirty="0">
                <a:solidFill>
                  <a:srgbClr val="475569"/>
                </a:solidFill>
                <a:latin typeface="Calibri" pitchFamily="34" charset="0"/>
                <a:ea typeface="Calibri" pitchFamily="34" charset="-122"/>
                <a:cs typeface="Calibri" pitchFamily="34" charset="-120"/>
              </a:rPr>
              <a:t> Đánh giá chất lượng của chính sách hiện hành (Policy Evaluation) và làm thước đo tiềm năng trạng thái.</a:t>
            </a:r>
            <a:endParaRPr lang="en-US" sz="950" dirty="0"/>
          </a:p>
        </p:txBody>
      </p:sp>
      <p:sp>
        <p:nvSpPr>
          <p:cNvPr id="18" name="Shape 16"/>
          <p:cNvSpPr/>
          <p:nvPr/>
        </p:nvSpPr>
        <p:spPr>
          <a:xfrm>
            <a:off x="6245352" y="1508760"/>
            <a:ext cx="5212080" cy="3566160"/>
          </a:xfrm>
          <a:prstGeom prst="roundRect">
            <a:avLst>
              <a:gd name="adj" fmla="val 3077"/>
            </a:avLst>
          </a:prstGeom>
          <a:solidFill>
            <a:srgbClr val="FFFFFF"/>
          </a:solidFill>
          <a:ln w="19050">
            <a:solidFill>
              <a:srgbClr val="D97706"/>
            </a:solidFill>
            <a:prstDash val="solid"/>
          </a:ln>
        </p:spPr>
      </p:sp>
      <p:sp>
        <p:nvSpPr>
          <p:cNvPr id="19" name="Shape 17"/>
          <p:cNvSpPr/>
          <p:nvPr/>
        </p:nvSpPr>
        <p:spPr>
          <a:xfrm>
            <a:off x="6473952" y="1691640"/>
            <a:ext cx="1280160" cy="411480"/>
          </a:xfrm>
          <a:prstGeom prst="roundRect">
            <a:avLst>
              <a:gd name="adj" fmla="val 17778"/>
            </a:avLst>
          </a:prstGeom>
          <a:solidFill>
            <a:srgbClr val="FEF3C7"/>
          </a:solidFill>
          <a:ln w="12700">
            <a:solidFill>
              <a:srgbClr val="D97706"/>
            </a:solidFill>
            <a:prstDash val="solid"/>
          </a:ln>
        </p:spPr>
      </p:sp>
      <p:sp>
        <p:nvSpPr>
          <p:cNvPr id="20" name="Text 18"/>
          <p:cNvSpPr/>
          <p:nvPr/>
        </p:nvSpPr>
        <p:spPr>
          <a:xfrm>
            <a:off x="6473952" y="1691640"/>
            <a:ext cx="1280160" cy="411480"/>
          </a:xfrm>
          <a:prstGeom prst="rect">
            <a:avLst/>
          </a:prstGeom>
          <a:noFill/>
          <a:ln/>
        </p:spPr>
        <p:txBody>
          <a:bodyPr wrap="square" lIns="0" tIns="0" rIns="0" bIns="0" rtlCol="0" anchor="ctr"/>
          <a:lstStyle/>
          <a:p>
            <a:pPr marL="0" indent="0" algn="ctr">
              <a:buNone/>
            </a:pPr>
            <a:r>
              <a:rPr lang="en-US" sz="1100" b="1" dirty="0">
                <a:solidFill>
                  <a:srgbClr val="92400E"/>
                </a:solidFill>
                <a:latin typeface="Arial" pitchFamily="34" charset="0"/>
                <a:ea typeface="Arial" pitchFamily="34" charset="-122"/>
                <a:cs typeface="Arial" pitchFamily="34" charset="-120"/>
              </a:rPr>
              <a:t>HÀM Qπ(s, a)</a:t>
            </a:r>
            <a:endParaRPr lang="en-US" sz="1100" dirty="0"/>
          </a:p>
        </p:txBody>
      </p:sp>
      <p:sp>
        <p:nvSpPr>
          <p:cNvPr id="21" name="Text 19"/>
          <p:cNvSpPr/>
          <p:nvPr/>
        </p:nvSpPr>
        <p:spPr>
          <a:xfrm>
            <a:off x="7891272" y="1691640"/>
            <a:ext cx="3383280" cy="411480"/>
          </a:xfrm>
          <a:prstGeom prst="rect">
            <a:avLst/>
          </a:prstGeom>
          <a:noFill/>
          <a:ln/>
        </p:spPr>
        <p:txBody>
          <a:bodyPr wrap="square" lIns="0" tIns="0" rIns="0" bIns="0" rtlCol="0" anchor="ctr"/>
          <a:lstStyle/>
          <a:p>
            <a:pPr marL="0" indent="0">
              <a:buNone/>
            </a:pPr>
            <a:r>
              <a:rPr lang="en-US" sz="1200" b="1" dirty="0">
                <a:solidFill>
                  <a:srgbClr val="0F1B29"/>
                </a:solidFill>
                <a:latin typeface="Arial" pitchFamily="34" charset="0"/>
                <a:ea typeface="Arial" pitchFamily="34" charset="-122"/>
                <a:cs typeface="Arial" pitchFamily="34" charset="-120"/>
              </a:rPr>
              <a:t>Action-Value Function (Hàm giá trị hành động)</a:t>
            </a:r>
            <a:endParaRPr lang="en-US" sz="1200" dirty="0"/>
          </a:p>
        </p:txBody>
      </p:sp>
      <p:sp>
        <p:nvSpPr>
          <p:cNvPr id="22" name="Shape 20"/>
          <p:cNvSpPr/>
          <p:nvPr/>
        </p:nvSpPr>
        <p:spPr>
          <a:xfrm>
            <a:off x="6473952" y="2240280"/>
            <a:ext cx="4754880" cy="411480"/>
          </a:xfrm>
          <a:prstGeom prst="roundRect">
            <a:avLst>
              <a:gd name="adj" fmla="val 13333"/>
            </a:avLst>
          </a:prstGeom>
          <a:solidFill>
            <a:srgbClr val="FFFBEB"/>
          </a:solidFill>
          <a:ln w="10160">
            <a:solidFill>
              <a:srgbClr val="CBD5E1"/>
            </a:solidFill>
            <a:prstDash val="solid"/>
          </a:ln>
        </p:spPr>
      </p:sp>
      <p:sp>
        <p:nvSpPr>
          <p:cNvPr id="23" name="Text 21"/>
          <p:cNvSpPr/>
          <p:nvPr/>
        </p:nvSpPr>
        <p:spPr>
          <a:xfrm>
            <a:off x="6473952" y="2240280"/>
            <a:ext cx="4754880" cy="411480"/>
          </a:xfrm>
          <a:prstGeom prst="rect">
            <a:avLst/>
          </a:prstGeom>
          <a:noFill/>
          <a:ln/>
        </p:spPr>
        <p:txBody>
          <a:bodyPr wrap="square" lIns="0" tIns="0" rIns="0" bIns="0" rtlCol="0" anchor="ctr"/>
          <a:lstStyle/>
          <a:p>
            <a:pPr marL="0" indent="0" algn="ctr">
              <a:buNone/>
            </a:pPr>
            <a:r>
              <a:rPr lang="en-US" sz="1100" b="1" dirty="0">
                <a:solidFill>
                  <a:srgbClr val="92400E"/>
                </a:solidFill>
                <a:latin typeface="Calibri" pitchFamily="34" charset="0"/>
                <a:ea typeface="Calibri" pitchFamily="34" charset="-122"/>
                <a:cs typeface="Calibri" pitchFamily="34" charset="-120"/>
              </a:rPr>
              <a:t>Qπ(s, a) = E_π [ Gt | St = s, At = a ]</a:t>
            </a:r>
            <a:endParaRPr lang="en-US" sz="1100" dirty="0"/>
          </a:p>
        </p:txBody>
      </p:sp>
      <p:sp>
        <p:nvSpPr>
          <p:cNvPr id="24" name="Text 22"/>
          <p:cNvSpPr/>
          <p:nvPr/>
        </p:nvSpPr>
        <p:spPr>
          <a:xfrm>
            <a:off x="6473952" y="2788920"/>
            <a:ext cx="4754880" cy="475488"/>
          </a:xfrm>
          <a:prstGeom prst="rect">
            <a:avLst/>
          </a:prstGeom>
          <a:noFill/>
          <a:ln/>
        </p:spPr>
        <p:txBody>
          <a:bodyPr wrap="square" lIns="0" tIns="0" rIns="0" bIns="0" rtlCol="0" anchor="ctr"/>
          <a:lstStyle/>
          <a:p>
            <a:pPr marL="0" indent="0">
              <a:buNone/>
            </a:pPr>
            <a:r>
              <a:rPr lang="en-US" sz="950" b="1" dirty="0">
                <a:solidFill>
                  <a:srgbClr val="D97706"/>
                </a:solidFill>
                <a:latin typeface="Calibri" pitchFamily="34" charset="0"/>
                <a:ea typeface="Calibri" pitchFamily="34" charset="-122"/>
                <a:cs typeface="Calibri" pitchFamily="34" charset="-120"/>
              </a:rPr>
              <a:t>•  </a:t>
            </a:r>
            <a:r>
              <a:rPr lang="en-US" sz="950" b="1" dirty="0">
                <a:solidFill>
                  <a:srgbClr val="0F1B29"/>
                </a:solidFill>
                <a:latin typeface="Calibri" pitchFamily="34" charset="0"/>
                <a:ea typeface="Calibri" pitchFamily="34" charset="-122"/>
                <a:cs typeface="Calibri" pitchFamily="34" charset="-120"/>
              </a:rPr>
              <a:t>Bản chất:</a:t>
            </a:r>
            <a:r>
              <a:rPr lang="en-US" sz="950" dirty="0">
                <a:solidFill>
                  <a:srgbClr val="475569"/>
                </a:solidFill>
                <a:latin typeface="Calibri" pitchFamily="34" charset="0"/>
                <a:ea typeface="Calibri" pitchFamily="34" charset="-122"/>
                <a:cs typeface="Calibri" pitchFamily="34" charset="-120"/>
              </a:rPr>
              <a:t> Kỳ vọng lợi nhuận nếu thực hiện hành động cụ thể a tại trạng thái s, sau đó mới tiếp tục tuân thủ chính sách π.</a:t>
            </a:r>
            <a:endParaRPr lang="en-US" sz="950" dirty="0"/>
          </a:p>
        </p:txBody>
      </p:sp>
      <p:sp>
        <p:nvSpPr>
          <p:cNvPr id="25" name="Text 23"/>
          <p:cNvSpPr/>
          <p:nvPr/>
        </p:nvSpPr>
        <p:spPr>
          <a:xfrm>
            <a:off x="6473952" y="3319272"/>
            <a:ext cx="4754880" cy="475488"/>
          </a:xfrm>
          <a:prstGeom prst="rect">
            <a:avLst/>
          </a:prstGeom>
          <a:noFill/>
          <a:ln/>
        </p:spPr>
        <p:txBody>
          <a:bodyPr wrap="square" lIns="0" tIns="0" rIns="0" bIns="0" rtlCol="0" anchor="ctr"/>
          <a:lstStyle/>
          <a:p>
            <a:pPr marL="0" indent="0">
              <a:buNone/>
            </a:pPr>
            <a:r>
              <a:rPr lang="en-US" sz="950" b="1" dirty="0">
                <a:solidFill>
                  <a:srgbClr val="D97706"/>
                </a:solidFill>
                <a:latin typeface="Calibri" pitchFamily="34" charset="0"/>
                <a:ea typeface="Calibri" pitchFamily="34" charset="-122"/>
                <a:cs typeface="Calibri" pitchFamily="34" charset="-120"/>
              </a:rPr>
              <a:t>•  </a:t>
            </a:r>
            <a:r>
              <a:rPr lang="en-US" sz="950" b="1" dirty="0">
                <a:solidFill>
                  <a:srgbClr val="0F1B29"/>
                </a:solidFill>
                <a:latin typeface="Calibri" pitchFamily="34" charset="0"/>
                <a:ea typeface="Calibri" pitchFamily="34" charset="-122"/>
                <a:cs typeface="Calibri" pitchFamily="34" charset="-120"/>
              </a:rPr>
              <a:t>Câu hỏi then chốt:</a:t>
            </a:r>
            <a:r>
              <a:rPr lang="en-US" sz="950" dirty="0">
                <a:solidFill>
                  <a:srgbClr val="475569"/>
                </a:solidFill>
                <a:latin typeface="Calibri" pitchFamily="34" charset="0"/>
                <a:ea typeface="Calibri" pitchFamily="34" charset="-122"/>
                <a:cs typeface="Calibri" pitchFamily="34" charset="-120"/>
              </a:rPr>
              <a:t> "Hành động này mang lại lợi ích bao nhiêu so với các hành động khác cùng vị trí?"</a:t>
            </a:r>
            <a:endParaRPr lang="en-US" sz="950" dirty="0"/>
          </a:p>
        </p:txBody>
      </p:sp>
      <p:sp>
        <p:nvSpPr>
          <p:cNvPr id="26" name="Text 24"/>
          <p:cNvSpPr/>
          <p:nvPr/>
        </p:nvSpPr>
        <p:spPr>
          <a:xfrm>
            <a:off x="6473952" y="3849624"/>
            <a:ext cx="4754880" cy="475488"/>
          </a:xfrm>
          <a:prstGeom prst="rect">
            <a:avLst/>
          </a:prstGeom>
          <a:noFill/>
          <a:ln/>
        </p:spPr>
        <p:txBody>
          <a:bodyPr wrap="square" lIns="0" tIns="0" rIns="0" bIns="0" rtlCol="0" anchor="ctr"/>
          <a:lstStyle/>
          <a:p>
            <a:pPr marL="0" indent="0">
              <a:buNone/>
            </a:pPr>
            <a:r>
              <a:rPr lang="en-US" sz="950" b="1" dirty="0">
                <a:solidFill>
                  <a:srgbClr val="D97706"/>
                </a:solidFill>
                <a:latin typeface="Calibri" pitchFamily="34" charset="0"/>
                <a:ea typeface="Calibri" pitchFamily="34" charset="-122"/>
                <a:cs typeface="Calibri" pitchFamily="34" charset="-120"/>
              </a:rPr>
              <a:t>•  </a:t>
            </a:r>
            <a:r>
              <a:rPr lang="en-US" sz="950" b="1" dirty="0">
                <a:solidFill>
                  <a:srgbClr val="0F1B29"/>
                </a:solidFill>
                <a:latin typeface="Calibri" pitchFamily="34" charset="0"/>
                <a:ea typeface="Calibri" pitchFamily="34" charset="-122"/>
                <a:cs typeface="Calibri" pitchFamily="34" charset="-120"/>
              </a:rPr>
              <a:t>Biểu tượng học thuật:</a:t>
            </a:r>
            <a:r>
              <a:rPr lang="en-US" sz="950" dirty="0">
                <a:solidFill>
                  <a:srgbClr val="475569"/>
                </a:solidFill>
                <a:latin typeface="Calibri" pitchFamily="34" charset="0"/>
                <a:ea typeface="Calibri" pitchFamily="34" charset="-122"/>
                <a:cs typeface="Calibri" pitchFamily="34" charset="-120"/>
              </a:rPr>
              <a:t> Node hành động chấm đặc (●) trong cây phân rã giá trị Bellman.</a:t>
            </a:r>
            <a:endParaRPr lang="en-US" sz="950" dirty="0"/>
          </a:p>
        </p:txBody>
      </p:sp>
      <p:sp>
        <p:nvSpPr>
          <p:cNvPr id="27" name="Text 25"/>
          <p:cNvSpPr/>
          <p:nvPr/>
        </p:nvSpPr>
        <p:spPr>
          <a:xfrm>
            <a:off x="6473952" y="4379976"/>
            <a:ext cx="4754880" cy="475488"/>
          </a:xfrm>
          <a:prstGeom prst="rect">
            <a:avLst/>
          </a:prstGeom>
          <a:noFill/>
          <a:ln/>
        </p:spPr>
        <p:txBody>
          <a:bodyPr wrap="square" lIns="0" tIns="0" rIns="0" bIns="0" rtlCol="0" anchor="ctr"/>
          <a:lstStyle/>
          <a:p>
            <a:pPr marL="0" indent="0">
              <a:buNone/>
            </a:pPr>
            <a:r>
              <a:rPr lang="en-US" sz="950" b="1" dirty="0">
                <a:solidFill>
                  <a:srgbClr val="D97706"/>
                </a:solidFill>
                <a:latin typeface="Calibri" pitchFamily="34" charset="0"/>
                <a:ea typeface="Calibri" pitchFamily="34" charset="-122"/>
                <a:cs typeface="Calibri" pitchFamily="34" charset="-120"/>
              </a:rPr>
              <a:t>•  </a:t>
            </a:r>
            <a:r>
              <a:rPr lang="en-US" sz="950" b="1" dirty="0">
                <a:solidFill>
                  <a:srgbClr val="0F1B29"/>
                </a:solidFill>
                <a:latin typeface="Calibri" pitchFamily="34" charset="0"/>
                <a:ea typeface="Calibri" pitchFamily="34" charset="-122"/>
                <a:cs typeface="Calibri" pitchFamily="34" charset="-120"/>
              </a:rPr>
              <a:t>Vai trò:</a:t>
            </a:r>
            <a:r>
              <a:rPr lang="en-US" sz="950" dirty="0">
                <a:solidFill>
                  <a:srgbClr val="475569"/>
                </a:solidFill>
                <a:latin typeface="Calibri" pitchFamily="34" charset="0"/>
                <a:ea typeface="Calibri" pitchFamily="34" charset="-122"/>
                <a:cs typeface="Calibri" pitchFamily="34" charset="-120"/>
              </a:rPr>
              <a:t> Cực kỳ quan trọng! Là cơ sở trực tiếp để cải tiến chính sách và nền tảng thuật toán Q-Learning trong RL.</a:t>
            </a:r>
            <a:endParaRPr lang="en-US" sz="950" dirty="0"/>
          </a:p>
        </p:txBody>
      </p:sp>
      <p:sp>
        <p:nvSpPr>
          <p:cNvPr id="28" name="Shape 26"/>
          <p:cNvSpPr/>
          <p:nvPr/>
        </p:nvSpPr>
        <p:spPr>
          <a:xfrm>
            <a:off x="731520" y="5257800"/>
            <a:ext cx="10725912" cy="960120"/>
          </a:xfrm>
          <a:prstGeom prst="roundRect">
            <a:avLst>
              <a:gd name="adj" fmla="val 9524"/>
            </a:avLst>
          </a:prstGeom>
          <a:solidFill>
            <a:srgbClr val="F1F5F9"/>
          </a:solidFill>
          <a:ln w="15240">
            <a:solidFill>
              <a:srgbClr val="0F1B29"/>
            </a:solidFill>
            <a:prstDash val="solid"/>
          </a:ln>
        </p:spPr>
      </p:sp>
      <p:sp>
        <p:nvSpPr>
          <p:cNvPr id="29" name="Text 27"/>
          <p:cNvSpPr/>
          <p:nvPr/>
        </p:nvSpPr>
        <p:spPr>
          <a:xfrm>
            <a:off x="960120" y="5349240"/>
            <a:ext cx="4572000" cy="228600"/>
          </a:xfrm>
          <a:prstGeom prst="rect">
            <a:avLst/>
          </a:prstGeom>
          <a:noFill/>
          <a:ln/>
        </p:spPr>
        <p:txBody>
          <a:bodyPr wrap="square" lIns="0" tIns="0" rIns="0" bIns="0" rtlCol="0" anchor="ctr"/>
          <a:lstStyle/>
          <a:p>
            <a:pPr marL="0" indent="0">
              <a:buNone/>
            </a:pPr>
            <a:r>
              <a:rPr lang="en-US" sz="1000" b="1" dirty="0">
                <a:solidFill>
                  <a:srgbClr val="0F1B29"/>
                </a:solidFill>
                <a:latin typeface="Arial" pitchFamily="34" charset="0"/>
                <a:ea typeface="Arial" pitchFamily="34" charset="-122"/>
                <a:cs typeface="Arial" pitchFamily="34" charset="-120"/>
              </a:rPr>
              <a:t>MỐI LIÊN HỆ TOÁN HỌC CỐT LÕI GIỮA HAI HÀM GIÁ TRỊ</a:t>
            </a:r>
            <a:endParaRPr lang="en-US" sz="1000" dirty="0"/>
          </a:p>
        </p:txBody>
      </p:sp>
      <p:pic>
        <p:nvPicPr>
          <p:cNvPr id="30" name="Image 0" descr="D:\Study\HK5\CSAI\ThuyetTrinhMDP\assets\formula_vq_connection.png"/>
          <p:cNvPicPr>
            <a:picLocks noChangeAspect="1"/>
          </p:cNvPicPr>
          <p:nvPr/>
        </p:nvPicPr>
        <p:blipFill>
          <a:blip r:embed="rId3"/>
          <a:stretch>
            <a:fillRect/>
          </a:stretch>
        </p:blipFill>
        <p:spPr>
          <a:xfrm>
            <a:off x="960120" y="5596128"/>
            <a:ext cx="3474720" cy="530352"/>
          </a:xfrm>
          <a:prstGeom prst="rect">
            <a:avLst/>
          </a:prstGeom>
        </p:spPr>
      </p:pic>
      <p:sp>
        <p:nvSpPr>
          <p:cNvPr id="31" name="Text 28"/>
          <p:cNvSpPr/>
          <p:nvPr/>
        </p:nvSpPr>
        <p:spPr>
          <a:xfrm>
            <a:off x="4572000" y="5596128"/>
            <a:ext cx="6656832" cy="530352"/>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Ý nghĩa: Giá trị của một trạng thái s bằng trung bình có trọng số của các giá trị hành động Q(s, a) tại trạng thái đó theo phân phối chính sách π(a | s).</a:t>
            </a:r>
            <a:endParaRPr lang="en-US" sz="950" dirty="0"/>
          </a:p>
        </p:txBody>
      </p:sp>
    </p:spTree>
  </p:cSld>
  <p:clrMapOvr>
    <a:masterClrMapping/>
  </p:clrMapOvr>
  <mc:AlternateContent xmlns:mc="http://schemas.openxmlformats.org/markup-compatibility/2006">
    <mc:Choice xmlns:p14="http://schemas.microsoft.com/office/powerpoint/2010/main" Requires="p14">
      <p:transition p14:dur="400">
        <p:blinds/>
      </p:transition>
    </mc:Choice>
    <mc:Fallback>
      <p:transition>
        <p:blind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childTnLst>
                          </p:cTn>
                        </p:par>
                        <p:par>
                          <p:cTn id="8" fill="hold">
                            <p:stCondLst>
                              <p:cond delay="300"/>
                            </p:stCondLst>
                            <p:childTnLst>
                              <p:par>
                                <p:cTn id="9" presetID="10" presetClass="entr" presetSubtype="0"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300"/>
                                        <p:tgtEl>
                                          <p:spTgt spid="28"/>
                                        </p:tgtEl>
                                      </p:cBhvr>
                                    </p:animEffect>
                                  </p:childTnLst>
                                </p:cTn>
                              </p:par>
                            </p:childTnLst>
                          </p:cTn>
                        </p:par>
                        <p:par>
                          <p:cTn id="12" fill="hold">
                            <p:stCondLst>
                              <p:cond delay="6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00"/>
                                        <p:tgtEl>
                                          <p:spTgt spid="9"/>
                                        </p:tgtEl>
                                      </p:cBhvr>
                                    </p:animEffect>
                                  </p:childTnLst>
                                </p:cTn>
                              </p:par>
                            </p:childTnLst>
                          </p:cTn>
                        </p:par>
                        <p:par>
                          <p:cTn id="16" fill="hold">
                            <p:stCondLst>
                              <p:cond delay="90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00"/>
                                        <p:tgtEl>
                                          <p:spTgt spid="10"/>
                                        </p:tgtEl>
                                      </p:cBhvr>
                                    </p:animEffect>
                                  </p:childTnLst>
                                </p:cTn>
                              </p:par>
                            </p:childTnLst>
                          </p:cTn>
                        </p:par>
                        <p:par>
                          <p:cTn id="20" fill="hold">
                            <p:stCondLst>
                              <p:cond delay="1200"/>
                            </p:stCondLst>
                            <p:childTnLst>
                              <p:par>
                                <p:cTn id="21" presetID="10"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00"/>
                                        <p:tgtEl>
                                          <p:spTgt spid="11"/>
                                        </p:tgtEl>
                                      </p:cBhvr>
                                    </p:animEffect>
                                  </p:childTnLst>
                                </p:cTn>
                              </p:par>
                            </p:childTnLst>
                          </p:cTn>
                        </p:par>
                        <p:par>
                          <p:cTn id="24" fill="hold">
                            <p:stCondLst>
                              <p:cond delay="1500"/>
                            </p:stCondLst>
                            <p:childTnLst>
                              <p:par>
                                <p:cTn id="25" presetID="10" presetClass="entr" presetSubtype="0"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300"/>
                                        <p:tgtEl>
                                          <p:spTgt spid="12"/>
                                        </p:tgtEl>
                                      </p:cBhvr>
                                    </p:animEffect>
                                  </p:childTnLst>
                                </p:cTn>
                              </p:par>
                            </p:childTnLst>
                          </p:cTn>
                        </p:par>
                        <p:par>
                          <p:cTn id="28" fill="hold">
                            <p:stCondLst>
                              <p:cond delay="180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00"/>
                                        <p:tgtEl>
                                          <p:spTgt spid="13"/>
                                        </p:tgtEl>
                                      </p:cBhvr>
                                    </p:animEffect>
                                  </p:childTnLst>
                                </p:cTn>
                              </p:par>
                            </p:childTnLst>
                          </p:cTn>
                        </p:par>
                        <p:par>
                          <p:cTn id="32" fill="hold">
                            <p:stCondLst>
                              <p:cond delay="2100"/>
                            </p:stCondLst>
                            <p:childTnLst>
                              <p:par>
                                <p:cTn id="33" presetID="10"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300"/>
                                        <p:tgtEl>
                                          <p:spTgt spid="14"/>
                                        </p:tgtEl>
                                      </p:cBhvr>
                                    </p:animEffect>
                                  </p:childTnLst>
                                </p:cTn>
                              </p:par>
                            </p:childTnLst>
                          </p:cTn>
                        </p:par>
                        <p:par>
                          <p:cTn id="36" fill="hold">
                            <p:stCondLst>
                              <p:cond delay="2400"/>
                            </p:stCondLst>
                            <p:childTnLst>
                              <p:par>
                                <p:cTn id="37" presetID="10" presetClass="entr" presetSubtype="0"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300"/>
                                        <p:tgtEl>
                                          <p:spTgt spid="15"/>
                                        </p:tgtEl>
                                      </p:cBhvr>
                                    </p:animEffect>
                                  </p:childTnLst>
                                </p:cTn>
                              </p:par>
                            </p:childTnLst>
                          </p:cTn>
                        </p:par>
                        <p:par>
                          <p:cTn id="40" fill="hold">
                            <p:stCondLst>
                              <p:cond delay="2700"/>
                            </p:stCondLst>
                            <p:childTnLst>
                              <p:par>
                                <p:cTn id="41" presetID="10" presetClass="entr" presetSubtype="0"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300"/>
                                        <p:tgtEl>
                                          <p:spTgt spid="16"/>
                                        </p:tgtEl>
                                      </p:cBhvr>
                                    </p:animEffect>
                                  </p:childTnLst>
                                </p:cTn>
                              </p:par>
                            </p:childTnLst>
                          </p:cTn>
                        </p:par>
                        <p:par>
                          <p:cTn id="44" fill="hold">
                            <p:stCondLst>
                              <p:cond delay="3000"/>
                            </p:stCondLst>
                            <p:childTnLst>
                              <p:par>
                                <p:cTn id="45" presetID="10" presetClass="entr" presetSubtype="0" fill="hold" grpId="0" nodeType="after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300"/>
                                        <p:tgtEl>
                                          <p:spTgt spid="17"/>
                                        </p:tgtEl>
                                      </p:cBhvr>
                                    </p:animEffect>
                                  </p:childTnLst>
                                </p:cTn>
                              </p:par>
                            </p:childTnLst>
                          </p:cTn>
                        </p:par>
                        <p:par>
                          <p:cTn id="48" fill="hold">
                            <p:stCondLst>
                              <p:cond delay="3300"/>
                            </p:stCondLst>
                            <p:childTnLst>
                              <p:par>
                                <p:cTn id="49" presetID="10" presetClass="entr" presetSubtype="0" fill="hold" grpId="0" nodeType="after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fade">
                                      <p:cBhvr>
                                        <p:cTn id="51" dur="300"/>
                                        <p:tgtEl>
                                          <p:spTgt spid="29"/>
                                        </p:tgtEl>
                                      </p:cBhvr>
                                    </p:animEffect>
                                  </p:childTnLst>
                                </p:cTn>
                              </p:par>
                            </p:childTnLst>
                          </p:cTn>
                        </p:par>
                        <p:par>
                          <p:cTn id="52" fill="hold">
                            <p:stCondLst>
                              <p:cond delay="3600"/>
                            </p:stCondLst>
                            <p:childTnLst>
                              <p:par>
                                <p:cTn id="53" presetID="10" presetClass="entr" presetSubtype="0" fill="hold" nodeType="after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300"/>
                                        <p:tgtEl>
                                          <p:spTgt spid="30"/>
                                        </p:tgtEl>
                                      </p:cBhvr>
                                    </p:animEffect>
                                  </p:childTnLst>
                                </p:cTn>
                              </p:par>
                            </p:childTnLst>
                          </p:cTn>
                        </p:par>
                        <p:par>
                          <p:cTn id="56" fill="hold">
                            <p:stCondLst>
                              <p:cond delay="3900"/>
                            </p:stCondLst>
                            <p:childTnLst>
                              <p:par>
                                <p:cTn id="57" presetID="10" presetClass="entr" presetSubtype="0" fill="hold" grpId="0" nodeType="after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300"/>
                                        <p:tgtEl>
                                          <p:spTgt spid="31"/>
                                        </p:tgtEl>
                                      </p:cBhvr>
                                    </p:animEffect>
                                  </p:childTnLst>
                                </p:cTn>
                              </p:par>
                            </p:childTnLst>
                          </p:cTn>
                        </p:par>
                        <p:par>
                          <p:cTn id="60" fill="hold">
                            <p:stCondLst>
                              <p:cond delay="4200"/>
                            </p:stCondLst>
                            <p:childTnLst>
                              <p:par>
                                <p:cTn id="61" presetID="10" presetClass="entr" presetSubtype="0" fill="hold" nodeType="after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300"/>
                                        <p:tgtEl>
                                          <p:spTgt spid="18"/>
                                        </p:tgtEl>
                                      </p:cBhvr>
                                    </p:animEffect>
                                  </p:childTnLst>
                                </p:cTn>
                              </p:par>
                            </p:childTnLst>
                          </p:cTn>
                        </p:par>
                        <p:par>
                          <p:cTn id="64" fill="hold">
                            <p:stCondLst>
                              <p:cond delay="4500"/>
                            </p:stCondLst>
                            <p:childTnLst>
                              <p:par>
                                <p:cTn id="65" presetID="10" presetClass="entr" presetSubtype="0" fill="hold" nodeType="after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par>
                          <p:cTn id="68" fill="hold">
                            <p:stCondLst>
                              <p:cond delay="4800"/>
                            </p:stCondLst>
                            <p:childTnLst>
                              <p:par>
                                <p:cTn id="69" presetID="10" presetClass="entr" presetSubtype="0" fill="hold" grpId="0" nodeType="after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300"/>
                                        <p:tgtEl>
                                          <p:spTgt spid="20"/>
                                        </p:tgtEl>
                                      </p:cBhvr>
                                    </p:animEffect>
                                  </p:childTnLst>
                                </p:cTn>
                              </p:par>
                            </p:childTnLst>
                          </p:cTn>
                        </p:par>
                        <p:par>
                          <p:cTn id="72" fill="hold">
                            <p:stCondLst>
                              <p:cond delay="5100"/>
                            </p:stCondLst>
                            <p:childTnLst>
                              <p:par>
                                <p:cTn id="73" presetID="10" presetClass="entr" presetSubtype="0" fill="hold" nodeType="after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300"/>
                                        <p:tgtEl>
                                          <p:spTgt spid="22"/>
                                        </p:tgtEl>
                                      </p:cBhvr>
                                    </p:animEffect>
                                  </p:childTnLst>
                                </p:cTn>
                              </p:par>
                            </p:childTnLst>
                          </p:cTn>
                        </p:par>
                        <p:par>
                          <p:cTn id="76" fill="hold">
                            <p:stCondLst>
                              <p:cond delay="5400"/>
                            </p:stCondLst>
                            <p:childTnLst>
                              <p:par>
                                <p:cTn id="77" presetID="10" presetClass="entr" presetSubtype="0" fill="hold" grpId="0" nodeType="afterEffect">
                                  <p:stCondLst>
                                    <p:cond delay="0"/>
                                  </p:stCondLst>
                                  <p:childTnLst>
                                    <p:set>
                                      <p:cBhvr>
                                        <p:cTn id="78" dur="1" fill="hold">
                                          <p:stCondLst>
                                            <p:cond delay="0"/>
                                          </p:stCondLst>
                                        </p:cTn>
                                        <p:tgtEl>
                                          <p:spTgt spid="23"/>
                                        </p:tgtEl>
                                        <p:attrNameLst>
                                          <p:attrName>style.visibility</p:attrName>
                                        </p:attrNameLst>
                                      </p:cBhvr>
                                      <p:to>
                                        <p:strVal val="visible"/>
                                      </p:to>
                                    </p:set>
                                    <p:animEffect transition="in" filter="fade">
                                      <p:cBhvr>
                                        <p:cTn id="79" dur="300"/>
                                        <p:tgtEl>
                                          <p:spTgt spid="23"/>
                                        </p:tgtEl>
                                      </p:cBhvr>
                                    </p:animEffect>
                                  </p:childTnLst>
                                </p:cTn>
                              </p:par>
                            </p:childTnLst>
                          </p:cTn>
                        </p:par>
                        <p:par>
                          <p:cTn id="80" fill="hold">
                            <p:stCondLst>
                              <p:cond delay="5700"/>
                            </p:stCondLst>
                            <p:childTnLst>
                              <p:par>
                                <p:cTn id="81" presetID="10" presetClass="entr" presetSubtype="0" fill="hold" grpId="0" nodeType="after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300"/>
                                        <p:tgtEl>
                                          <p:spTgt spid="24"/>
                                        </p:tgtEl>
                                      </p:cBhvr>
                                    </p:animEffect>
                                  </p:childTnLst>
                                </p:cTn>
                              </p:par>
                            </p:childTnLst>
                          </p:cTn>
                        </p:par>
                        <p:par>
                          <p:cTn id="84" fill="hold">
                            <p:stCondLst>
                              <p:cond delay="6000"/>
                            </p:stCondLst>
                            <p:childTnLst>
                              <p:par>
                                <p:cTn id="85" presetID="10" presetClass="entr" presetSubtype="0" fill="hold" grpId="0" nodeType="afterEffect">
                                  <p:stCondLst>
                                    <p:cond delay="0"/>
                                  </p:stCondLst>
                                  <p:childTnLst>
                                    <p:set>
                                      <p:cBhvr>
                                        <p:cTn id="86" dur="1" fill="hold">
                                          <p:stCondLst>
                                            <p:cond delay="0"/>
                                          </p:stCondLst>
                                        </p:cTn>
                                        <p:tgtEl>
                                          <p:spTgt spid="25"/>
                                        </p:tgtEl>
                                        <p:attrNameLst>
                                          <p:attrName>style.visibility</p:attrName>
                                        </p:attrNameLst>
                                      </p:cBhvr>
                                      <p:to>
                                        <p:strVal val="visible"/>
                                      </p:to>
                                    </p:set>
                                    <p:animEffect transition="in" filter="fade">
                                      <p:cBhvr>
                                        <p:cTn id="87" dur="300"/>
                                        <p:tgtEl>
                                          <p:spTgt spid="25"/>
                                        </p:tgtEl>
                                      </p:cBhvr>
                                    </p:animEffect>
                                  </p:childTnLst>
                                </p:cTn>
                              </p:par>
                            </p:childTnLst>
                          </p:cTn>
                        </p:par>
                        <p:par>
                          <p:cTn id="88" fill="hold">
                            <p:stCondLst>
                              <p:cond delay="6300"/>
                            </p:stCondLst>
                            <p:childTnLst>
                              <p:par>
                                <p:cTn id="89" presetID="10" presetClass="entr" presetSubtype="0" fill="hold" grpId="0" nodeType="afterEffect">
                                  <p:stCondLst>
                                    <p:cond delay="0"/>
                                  </p:stCondLst>
                                  <p:childTnLst>
                                    <p:set>
                                      <p:cBhvr>
                                        <p:cTn id="90" dur="1" fill="hold">
                                          <p:stCondLst>
                                            <p:cond delay="0"/>
                                          </p:stCondLst>
                                        </p:cTn>
                                        <p:tgtEl>
                                          <p:spTgt spid="26"/>
                                        </p:tgtEl>
                                        <p:attrNameLst>
                                          <p:attrName>style.visibility</p:attrName>
                                        </p:attrNameLst>
                                      </p:cBhvr>
                                      <p:to>
                                        <p:strVal val="visible"/>
                                      </p:to>
                                    </p:set>
                                    <p:animEffect transition="in" filter="fade">
                                      <p:cBhvr>
                                        <p:cTn id="91" dur="300"/>
                                        <p:tgtEl>
                                          <p:spTgt spid="26"/>
                                        </p:tgtEl>
                                      </p:cBhvr>
                                    </p:animEffect>
                                  </p:childTnLst>
                                </p:cTn>
                              </p:par>
                            </p:childTnLst>
                          </p:cTn>
                        </p:par>
                        <p:par>
                          <p:cTn id="92" fill="hold">
                            <p:stCondLst>
                              <p:cond delay="6600"/>
                            </p:stCondLst>
                            <p:childTnLst>
                              <p:par>
                                <p:cTn id="93" presetID="10" presetClass="entr" presetSubtype="0" fill="hold" grpId="0" nodeType="afterEffect">
                                  <p:stCondLst>
                                    <p:cond delay="0"/>
                                  </p:stCondLst>
                                  <p:childTnLst>
                                    <p:set>
                                      <p:cBhvr>
                                        <p:cTn id="94" dur="1" fill="hold">
                                          <p:stCondLst>
                                            <p:cond delay="0"/>
                                          </p:stCondLst>
                                        </p:cTn>
                                        <p:tgtEl>
                                          <p:spTgt spid="27"/>
                                        </p:tgtEl>
                                        <p:attrNameLst>
                                          <p:attrName>style.visibility</p:attrName>
                                        </p:attrNameLst>
                                      </p:cBhvr>
                                      <p:to>
                                        <p:strVal val="visible"/>
                                      </p:to>
                                    </p:set>
                                    <p:animEffect transition="in" filter="fade">
                                      <p:cBhvr>
                                        <p:cTn id="95" dur="300"/>
                                        <p:tgtEl>
                                          <p:spTgt spid="27"/>
                                        </p:tgtEl>
                                      </p:cBhvr>
                                    </p:animEffect>
                                  </p:childTnLst>
                                </p:cTn>
                              </p:par>
                            </p:childTnLst>
                          </p:cTn>
                        </p:par>
                        <p:par>
                          <p:cTn id="96" fill="hold">
                            <p:stCondLst>
                              <p:cond delay="6900"/>
                            </p:stCondLst>
                            <p:childTnLst>
                              <p:par>
                                <p:cTn id="97" presetID="10" presetClass="entr" presetSubtype="0" fill="hold" grpId="0" nodeType="afterEffect">
                                  <p:stCondLst>
                                    <p:cond delay="0"/>
                                  </p:stCondLst>
                                  <p:childTnLst>
                                    <p:set>
                                      <p:cBhvr>
                                        <p:cTn id="98" dur="1" fill="hold">
                                          <p:stCondLst>
                                            <p:cond delay="0"/>
                                          </p:stCondLst>
                                        </p:cTn>
                                        <p:tgtEl>
                                          <p:spTgt spid="21"/>
                                        </p:tgtEl>
                                        <p:attrNameLst>
                                          <p:attrName>style.visibility</p:attrName>
                                        </p:attrNameLst>
                                      </p:cBhvr>
                                      <p:to>
                                        <p:strVal val="visible"/>
                                      </p:to>
                                    </p:set>
                                    <p:animEffect transition="in" filter="fade">
                                      <p:cBhvr>
                                        <p:cTn id="99" dur="3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5" grpId="0" animBg="1"/>
      <p:bldP spid="16" grpId="0" animBg="1"/>
      <p:bldP spid="17" grpId="0" animBg="1"/>
      <p:bldP spid="20" grpId="0" animBg="1"/>
      <p:bldP spid="21" grpId="0" animBg="1"/>
      <p:bldP spid="23" grpId="0" animBg="1"/>
      <p:bldP spid="24" grpId="0" animBg="1"/>
      <p:bldP spid="25" grpId="0" animBg="1"/>
      <p:bldP spid="26" grpId="0" animBg="1"/>
      <p:bldP spid="27" grpId="0" animBg="1"/>
      <p:bldP spid="29" grpId="0" animBg="1"/>
      <p:bldP spid="3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oundRect">
            <a:avLst>
              <a:gd name="adj" fmla="val 28571"/>
            </a:avLst>
          </a:prstGeom>
          <a:solidFill>
            <a:srgbClr val="E0F2FE"/>
          </a:solidFill>
          <a:ln w="12700">
            <a:solidFill>
              <a:srgbClr val="0A7E8C"/>
            </a:solidFill>
            <a:prstDash val="solid"/>
          </a:ln>
        </p:spPr>
      </p:sp>
      <p:sp>
        <p:nvSpPr>
          <p:cNvPr id="3" name="Text 1"/>
          <p:cNvSpPr/>
          <p:nvPr/>
        </p:nvSpPr>
        <p:spPr>
          <a:xfrm>
            <a:off x="731520" y="384048"/>
            <a:ext cx="2560320" cy="256032"/>
          </a:xfrm>
          <a:prstGeom prst="rect">
            <a:avLst/>
          </a:prstGeom>
          <a:noFill/>
          <a:ln/>
        </p:spPr>
        <p:txBody>
          <a:bodyPr wrap="square" lIns="0" tIns="0" rIns="0" bIns="0" rtlCol="0" anchor="ctr"/>
          <a:lstStyle/>
          <a:p>
            <a:pPr marL="0" indent="0" algn="ctr">
              <a:buNone/>
            </a:pPr>
            <a:r>
              <a:rPr lang="en-US" sz="850" b="1" dirty="0">
                <a:solidFill>
                  <a:srgbClr val="0A7E8C"/>
                </a:solidFill>
                <a:latin typeface="Calibri" pitchFamily="34" charset="0"/>
                <a:ea typeface="Calibri" pitchFamily="34" charset="-122"/>
                <a:cs typeface="Calibri" pitchFamily="34" charset="-120"/>
              </a:rPr>
              <a:t>NGUYÊN LÝ ĐỘT PHÁ</a:t>
            </a:r>
            <a:endParaRPr lang="en-US" sz="850" dirty="0"/>
          </a:p>
        </p:txBody>
      </p:sp>
      <p:sp>
        <p:nvSpPr>
          <p:cNvPr id="4" name="Text 2"/>
          <p:cNvSpPr/>
          <p:nvPr/>
        </p:nvSpPr>
        <p:spPr>
          <a:xfrm>
            <a:off x="731520" y="676656"/>
            <a:ext cx="10725912" cy="438912"/>
          </a:xfrm>
          <a:prstGeom prst="rect">
            <a:avLst/>
          </a:prstGeom>
          <a:noFill/>
          <a:ln/>
        </p:spPr>
        <p:txBody>
          <a:bodyPr wrap="square" lIns="0" tIns="0" rIns="0" bIns="0" rtlCol="0" anchor="ctr"/>
          <a:lstStyle/>
          <a:p>
            <a:pPr marL="0" indent="0">
              <a:buNone/>
            </a:pPr>
            <a:r>
              <a:rPr lang="en-US" sz="2200" b="1" dirty="0">
                <a:solidFill>
                  <a:srgbClr val="0F1B29"/>
                </a:solidFill>
                <a:latin typeface="Arial" pitchFamily="34" charset="0"/>
                <a:ea typeface="Arial" pitchFamily="34" charset="-122"/>
                <a:cs typeface="Arial" pitchFamily="34" charset="-120"/>
              </a:rPr>
              <a:t>Hệ Phương Trình Bellman: Trái Tim Toán Học Của MDP</a:t>
            </a:r>
            <a:endParaRPr lang="en-US" sz="2200" dirty="0"/>
          </a:p>
        </p:txBody>
      </p:sp>
      <p:sp>
        <p:nvSpPr>
          <p:cNvPr id="5" name="Text 3"/>
          <p:cNvSpPr/>
          <p:nvPr/>
        </p:nvSpPr>
        <p:spPr>
          <a:xfrm>
            <a:off x="731520" y="1115568"/>
            <a:ext cx="10725912" cy="292608"/>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Phân rã đệ quy: Giá trị hiện tại = Phần thưởng tức thì + Kỳ vọng tương lai có chiết khấu</a:t>
            </a:r>
            <a:endParaRPr lang="en-US" sz="1200" dirty="0"/>
          </a:p>
        </p:txBody>
      </p:sp>
      <p:sp>
        <p:nvSpPr>
          <p:cNvPr id="6" name="Text 4"/>
          <p:cNvSpPr/>
          <p:nvPr/>
        </p:nvSpPr>
        <p:spPr>
          <a:xfrm>
            <a:off x="731520" y="6446520"/>
            <a:ext cx="7315200" cy="274320"/>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MARKOV DECISION PROCESSES (MDP) • AI &amp; REINFORCEMENT LEARNING</a:t>
            </a:r>
            <a:endParaRPr lang="en-US" sz="850" dirty="0"/>
          </a:p>
        </p:txBody>
      </p:sp>
      <p:sp>
        <p:nvSpPr>
          <p:cNvPr id="7" name="Text 5"/>
          <p:cNvSpPr/>
          <p:nvPr/>
        </p:nvSpPr>
        <p:spPr>
          <a:xfrm>
            <a:off x="9875520" y="6446520"/>
            <a:ext cx="1581912" cy="274320"/>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07 / 12</a:t>
            </a:r>
            <a:endParaRPr lang="en-US" sz="900" dirty="0"/>
          </a:p>
        </p:txBody>
      </p:sp>
      <p:sp>
        <p:nvSpPr>
          <p:cNvPr id="8" name="Shape 6"/>
          <p:cNvSpPr/>
          <p:nvPr/>
        </p:nvSpPr>
        <p:spPr>
          <a:xfrm>
            <a:off x="731520" y="1508760"/>
            <a:ext cx="4754880" cy="4709160"/>
          </a:xfrm>
          <a:prstGeom prst="roundRect">
            <a:avLst>
              <a:gd name="adj" fmla="val 2330"/>
            </a:avLst>
          </a:prstGeom>
          <a:solidFill>
            <a:srgbClr val="FFFFFF"/>
          </a:solidFill>
          <a:ln w="15240">
            <a:solidFill>
              <a:srgbClr val="E2E8F0"/>
            </a:solidFill>
            <a:prstDash val="solid"/>
          </a:ln>
        </p:spPr>
      </p:sp>
      <p:sp>
        <p:nvSpPr>
          <p:cNvPr id="9" name="Text 7"/>
          <p:cNvSpPr/>
          <p:nvPr/>
        </p:nvSpPr>
        <p:spPr>
          <a:xfrm>
            <a:off x="914400" y="1691640"/>
            <a:ext cx="4389120" cy="274320"/>
          </a:xfrm>
          <a:prstGeom prst="rect">
            <a:avLst/>
          </a:prstGeom>
          <a:noFill/>
          <a:ln/>
        </p:spPr>
        <p:txBody>
          <a:bodyPr wrap="square" lIns="0" tIns="0" rIns="0" bIns="0" rtlCol="0" anchor="ctr"/>
          <a:lstStyle/>
          <a:p>
            <a:pPr marL="0" indent="0">
              <a:buNone/>
            </a:pPr>
            <a:r>
              <a:rPr lang="en-US" sz="1150" b="1" dirty="0">
                <a:solidFill>
                  <a:srgbClr val="0F1B29"/>
                </a:solidFill>
                <a:latin typeface="Arial" pitchFamily="34" charset="0"/>
                <a:ea typeface="Arial" pitchFamily="34" charset="-122"/>
                <a:cs typeface="Arial" pitchFamily="34" charset="-120"/>
              </a:rPr>
              <a:t>CÂY PHÂN RÃ GIÁ TRỊ BELLMAN (BACKUP TREE)</a:t>
            </a:r>
            <a:endParaRPr lang="en-US" sz="1150" dirty="0"/>
          </a:p>
        </p:txBody>
      </p:sp>
      <p:pic>
        <p:nvPicPr>
          <p:cNvPr id="10" name="Image 0" descr="D:\Study\HK5\CSAI\ThuyetTrinhMDP\assets\diagram_bellman_tree.png"/>
          <p:cNvPicPr>
            <a:picLocks noChangeAspect="1"/>
          </p:cNvPicPr>
          <p:nvPr/>
        </p:nvPicPr>
        <p:blipFill>
          <a:blip r:embed="rId3"/>
          <a:stretch>
            <a:fillRect/>
          </a:stretch>
        </p:blipFill>
        <p:spPr>
          <a:xfrm>
            <a:off x="868680" y="2011680"/>
            <a:ext cx="4480560" cy="3108960"/>
          </a:xfrm>
          <a:prstGeom prst="rect">
            <a:avLst/>
          </a:prstGeom>
        </p:spPr>
      </p:pic>
      <p:sp>
        <p:nvSpPr>
          <p:cNvPr id="11" name="Text 8"/>
          <p:cNvSpPr/>
          <p:nvPr/>
        </p:nvSpPr>
        <p:spPr>
          <a:xfrm>
            <a:off x="914400" y="5257800"/>
            <a:ext cx="4389120" cy="822960"/>
          </a:xfrm>
          <a:prstGeom prst="rect">
            <a:avLst/>
          </a:prstGeom>
          <a:noFill/>
          <a:ln/>
        </p:spPr>
        <p:txBody>
          <a:bodyPr wrap="square" lIns="0" tIns="0" rIns="0" bIns="0" rtlCol="0" anchor="ctr"/>
          <a:lstStyle/>
          <a:p>
            <a:pPr marL="0" indent="0" algn="ctr">
              <a:buNone/>
            </a:pPr>
            <a:r>
              <a:rPr lang="en-US" sz="950" b="1" dirty="0">
                <a:solidFill>
                  <a:srgbClr val="065F6B"/>
                </a:solidFill>
                <a:latin typeface="Calibri" pitchFamily="34" charset="0"/>
                <a:ea typeface="Calibri" pitchFamily="34" charset="-122"/>
                <a:cs typeface="Calibri" pitchFamily="34" charset="-120"/>
              </a:rPr>
              <a:t>Nguyên lý đệ quy Bellman:</a:t>
            </a:r>
            <a:endParaRPr lang="en-US" sz="950" dirty="0"/>
          </a:p>
          <a:p>
            <a:pPr marL="0" indent="0" algn="ctr">
              <a:buNone/>
            </a:pPr>
            <a:r>
              <a:rPr lang="en-US" sz="950" b="1" dirty="0">
                <a:solidFill>
                  <a:srgbClr val="065F6B"/>
                </a:solidFill>
                <a:latin typeface="Calibri" pitchFamily="34" charset="0"/>
                <a:ea typeface="Calibri" pitchFamily="34" charset="-122"/>
                <a:cs typeface="Calibri" pitchFamily="34" charset="-120"/>
              </a:rPr>
              <a:t>Giá trị hiện tại = Thưởng tức thì R(s, a) + γ × Kỳ vọng tương lai E[V(s')]</a:t>
            </a:r>
            <a:endParaRPr lang="en-US" sz="950" dirty="0"/>
          </a:p>
        </p:txBody>
      </p:sp>
      <p:sp>
        <p:nvSpPr>
          <p:cNvPr id="12" name="Shape 9"/>
          <p:cNvSpPr/>
          <p:nvPr/>
        </p:nvSpPr>
        <p:spPr>
          <a:xfrm>
            <a:off x="5715000" y="1508760"/>
            <a:ext cx="5742432" cy="2011680"/>
          </a:xfrm>
          <a:prstGeom prst="roundRect">
            <a:avLst>
              <a:gd name="adj" fmla="val 5455"/>
            </a:avLst>
          </a:prstGeom>
          <a:solidFill>
            <a:srgbClr val="FFFFFF"/>
          </a:solidFill>
          <a:ln w="19050">
            <a:solidFill>
              <a:srgbClr val="0A7E8C"/>
            </a:solidFill>
            <a:prstDash val="solid"/>
          </a:ln>
        </p:spPr>
      </p:sp>
      <p:sp>
        <p:nvSpPr>
          <p:cNvPr id="13" name="Text 10"/>
          <p:cNvSpPr/>
          <p:nvPr/>
        </p:nvSpPr>
        <p:spPr>
          <a:xfrm>
            <a:off x="5897880" y="1645920"/>
            <a:ext cx="5376672" cy="256032"/>
          </a:xfrm>
          <a:prstGeom prst="rect">
            <a:avLst/>
          </a:prstGeom>
          <a:noFill/>
          <a:ln/>
        </p:spPr>
        <p:txBody>
          <a:bodyPr wrap="square" lIns="0" tIns="0" rIns="0" bIns="0" rtlCol="0" anchor="ctr"/>
          <a:lstStyle/>
          <a:p>
            <a:pPr marL="0" indent="0">
              <a:buNone/>
            </a:pPr>
            <a:r>
              <a:rPr lang="en-US" sz="1100" b="1" dirty="0">
                <a:solidFill>
                  <a:srgbClr val="0A7E8C"/>
                </a:solidFill>
                <a:latin typeface="Arial" pitchFamily="34" charset="0"/>
                <a:ea typeface="Arial" pitchFamily="34" charset="-122"/>
                <a:cs typeface="Arial" pitchFamily="34" charset="-120"/>
              </a:rPr>
              <a:t>1. PHƯƠNG TRÌNH KỲ VỌNG BELLMAN (POLICY EVALUATION)</a:t>
            </a:r>
            <a:endParaRPr lang="en-US" sz="1100" dirty="0"/>
          </a:p>
        </p:txBody>
      </p:sp>
      <p:sp>
        <p:nvSpPr>
          <p:cNvPr id="14" name="Text 11"/>
          <p:cNvSpPr/>
          <p:nvPr/>
        </p:nvSpPr>
        <p:spPr>
          <a:xfrm>
            <a:off x="5897880" y="1920240"/>
            <a:ext cx="5376672" cy="228600"/>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Dùng để đánh giá giá trị trạng thái Vπ(s) của một chính sách π cho trước:</a:t>
            </a:r>
            <a:endParaRPr lang="en-US" sz="950" dirty="0"/>
          </a:p>
        </p:txBody>
      </p:sp>
      <p:pic>
        <p:nvPicPr>
          <p:cNvPr id="15" name="Image 1" descr="D:\Study\HK5\CSAI\ThuyetTrinhMDP\assets\formula_bellman_exp.png"/>
          <p:cNvPicPr>
            <a:picLocks noChangeAspect="1"/>
          </p:cNvPicPr>
          <p:nvPr/>
        </p:nvPicPr>
        <p:blipFill>
          <a:blip r:embed="rId4"/>
          <a:stretch>
            <a:fillRect/>
          </a:stretch>
        </p:blipFill>
        <p:spPr>
          <a:xfrm>
            <a:off x="6035040" y="2176272"/>
            <a:ext cx="5102352" cy="658368"/>
          </a:xfrm>
          <a:prstGeom prst="rect">
            <a:avLst/>
          </a:prstGeom>
        </p:spPr>
      </p:pic>
      <p:sp>
        <p:nvSpPr>
          <p:cNvPr id="16" name="Text 12"/>
          <p:cNvSpPr/>
          <p:nvPr/>
        </p:nvSpPr>
        <p:spPr>
          <a:xfrm>
            <a:off x="5897880" y="2907792"/>
            <a:ext cx="5376672" cy="530352"/>
          </a:xfrm>
          <a:prstGeom prst="rect">
            <a:avLst/>
          </a:prstGeom>
          <a:noFill/>
          <a:ln/>
        </p:spPr>
        <p:txBody>
          <a:bodyPr wrap="square" lIns="0" tIns="0" rIns="0" bIns="0" rtlCol="0" anchor="ctr"/>
          <a:lstStyle/>
          <a:p>
            <a:pPr marL="0" indent="0">
              <a:buNone/>
            </a:pPr>
            <a:r>
              <a:rPr lang="en-US" sz="880" dirty="0">
                <a:solidFill>
                  <a:srgbClr val="475569"/>
                </a:solidFill>
                <a:latin typeface="Calibri" pitchFamily="34" charset="0"/>
                <a:ea typeface="Calibri" pitchFamily="34" charset="-122"/>
                <a:cs typeface="Calibri" pitchFamily="34" charset="-120"/>
              </a:rPr>
              <a:t>Ý nghĩa: Giá trị trạng thái s bằng trung bình theo xác suất hành động π(a|s) của tổng thưởng nhận ngay R(s, a) và giá trị chiết khấu trung bình của trạng thái tiếp theo s'.</a:t>
            </a:r>
            <a:endParaRPr lang="en-US" sz="880" dirty="0"/>
          </a:p>
        </p:txBody>
      </p:sp>
      <p:sp>
        <p:nvSpPr>
          <p:cNvPr id="17" name="Shape 13"/>
          <p:cNvSpPr/>
          <p:nvPr/>
        </p:nvSpPr>
        <p:spPr>
          <a:xfrm>
            <a:off x="5715000" y="3657600"/>
            <a:ext cx="5742432" cy="2560320"/>
          </a:xfrm>
          <a:prstGeom prst="roundRect">
            <a:avLst>
              <a:gd name="adj" fmla="val 4286"/>
            </a:avLst>
          </a:prstGeom>
          <a:solidFill>
            <a:srgbClr val="FFFFFF"/>
          </a:solidFill>
          <a:ln w="19050">
            <a:solidFill>
              <a:srgbClr val="D97706"/>
            </a:solidFill>
            <a:prstDash val="solid"/>
          </a:ln>
        </p:spPr>
      </p:sp>
      <p:sp>
        <p:nvSpPr>
          <p:cNvPr id="18" name="Text 14"/>
          <p:cNvSpPr/>
          <p:nvPr/>
        </p:nvSpPr>
        <p:spPr>
          <a:xfrm>
            <a:off x="5897880" y="3794760"/>
            <a:ext cx="5376672" cy="256032"/>
          </a:xfrm>
          <a:prstGeom prst="rect">
            <a:avLst/>
          </a:prstGeom>
          <a:noFill/>
          <a:ln/>
        </p:spPr>
        <p:txBody>
          <a:bodyPr wrap="square" lIns="0" tIns="0" rIns="0" bIns="0" rtlCol="0" anchor="ctr"/>
          <a:lstStyle/>
          <a:p>
            <a:pPr marL="0" indent="0">
              <a:buNone/>
            </a:pPr>
            <a:r>
              <a:rPr lang="en-US" sz="1100" b="1" dirty="0">
                <a:solidFill>
                  <a:srgbClr val="92400E"/>
                </a:solidFill>
                <a:latin typeface="Arial" pitchFamily="34" charset="0"/>
                <a:ea typeface="Arial" pitchFamily="34" charset="-122"/>
                <a:cs typeface="Arial" pitchFamily="34" charset="-120"/>
              </a:rPr>
              <a:t>2. PHƯƠNG TRÌNH TỐI ƯU BELLMAN (BELLMAN OPTIMALITY)</a:t>
            </a:r>
            <a:endParaRPr lang="en-US" sz="1100" dirty="0"/>
          </a:p>
        </p:txBody>
      </p:sp>
      <p:sp>
        <p:nvSpPr>
          <p:cNvPr id="19" name="Text 15"/>
          <p:cNvSpPr/>
          <p:nvPr/>
        </p:nvSpPr>
        <p:spPr>
          <a:xfrm>
            <a:off x="5897880" y="4069080"/>
            <a:ext cx="5376672" cy="228600"/>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Đặc tả cặp nghiệm tối ưu V*(s) và Q*(s, a) dưới chính sách tốt nhất π*:</a:t>
            </a:r>
            <a:endParaRPr lang="en-US" sz="950" dirty="0"/>
          </a:p>
        </p:txBody>
      </p:sp>
      <p:pic>
        <p:nvPicPr>
          <p:cNvPr id="20" name="Image 2" descr="D:\Study\HK5\CSAI\ThuyetTrinhMDP\assets\formula_bellman_opt_v.png"/>
          <p:cNvPicPr>
            <a:picLocks noChangeAspect="1"/>
          </p:cNvPicPr>
          <p:nvPr/>
        </p:nvPicPr>
        <p:blipFill>
          <a:blip r:embed="rId5"/>
          <a:stretch>
            <a:fillRect/>
          </a:stretch>
        </p:blipFill>
        <p:spPr>
          <a:xfrm>
            <a:off x="6126480" y="4343400"/>
            <a:ext cx="4919472" cy="594360"/>
          </a:xfrm>
          <a:prstGeom prst="rect">
            <a:avLst/>
          </a:prstGeom>
        </p:spPr>
      </p:pic>
      <p:pic>
        <p:nvPicPr>
          <p:cNvPr id="21" name="Image 3" descr="D:\Study\HK5\CSAI\ThuyetTrinhMDP\assets\formula_bellman_opt_q.png"/>
          <p:cNvPicPr>
            <a:picLocks noChangeAspect="1"/>
          </p:cNvPicPr>
          <p:nvPr/>
        </p:nvPicPr>
        <p:blipFill>
          <a:blip r:embed="rId6"/>
          <a:stretch>
            <a:fillRect/>
          </a:stretch>
        </p:blipFill>
        <p:spPr>
          <a:xfrm>
            <a:off x="6126480" y="4983480"/>
            <a:ext cx="4919472" cy="594360"/>
          </a:xfrm>
          <a:prstGeom prst="rect">
            <a:avLst/>
          </a:prstGeom>
        </p:spPr>
      </p:pic>
      <p:sp>
        <p:nvSpPr>
          <p:cNvPr id="22" name="Text 16"/>
          <p:cNvSpPr/>
          <p:nvPr/>
        </p:nvSpPr>
        <p:spPr>
          <a:xfrm>
            <a:off x="5897880" y="5650992"/>
            <a:ext cx="5376672" cy="502920"/>
          </a:xfrm>
          <a:prstGeom prst="rect">
            <a:avLst/>
          </a:prstGeom>
          <a:noFill/>
          <a:ln/>
        </p:spPr>
        <p:txBody>
          <a:bodyPr wrap="square" lIns="0" tIns="0" rIns="0" bIns="0" rtlCol="0" anchor="ctr"/>
          <a:lstStyle/>
          <a:p>
            <a:pPr marL="0" indent="0">
              <a:buNone/>
            </a:pPr>
            <a:r>
              <a:rPr lang="en-US" sz="880" dirty="0">
                <a:solidFill>
                  <a:srgbClr val="475569"/>
                </a:solidFill>
                <a:latin typeface="Calibri" pitchFamily="34" charset="0"/>
                <a:ea typeface="Calibri" pitchFamily="34" charset="-122"/>
                <a:cs typeface="Calibri" pitchFamily="34" charset="-120"/>
              </a:rPr>
              <a:t>Ý nghĩa: Thay phép lấy trung bình có trọng số bằng toán tử max_a để chọn hành động hoàn hảo nhất. Là nền tảng chứng minh tính hội tụ của Quy hoạch động và Q-Learning.</a:t>
            </a:r>
            <a:endParaRPr lang="en-US" sz="880" dirty="0"/>
          </a:p>
        </p:txBody>
      </p:sp>
    </p:spTree>
  </p:cSld>
  <p:clrMapOvr>
    <a:masterClrMapping/>
  </p:clrMapOvr>
  <mc:AlternateContent xmlns:mc="http://schemas.openxmlformats.org/markup-compatibility/2006">
    <mc:Choice xmlns:p14="http://schemas.microsoft.com/office/powerpoint/2010/main" Requires="p14">
      <p:transition p14:dur="400">
        <p:blinds/>
      </p:transition>
    </mc:Choice>
    <mc:Fallback>
      <p:transition>
        <p:blind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childTnLst>
                          </p:cTn>
                        </p:par>
                        <p:par>
                          <p:cTn id="8" fill="hold">
                            <p:stCondLst>
                              <p:cond delay="3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childTnLst>
                          </p:cTn>
                        </p:par>
                        <p:par>
                          <p:cTn id="12" fill="hold">
                            <p:stCondLst>
                              <p:cond delay="6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300"/>
                                        <p:tgtEl>
                                          <p:spTgt spid="10"/>
                                        </p:tgtEl>
                                      </p:cBhvr>
                                    </p:animEffect>
                                  </p:childTnLst>
                                </p:cTn>
                              </p:par>
                            </p:childTnLst>
                          </p:cTn>
                        </p:par>
                        <p:par>
                          <p:cTn id="16" fill="hold">
                            <p:stCondLst>
                              <p:cond delay="900"/>
                            </p:stCondLst>
                            <p:childTnLst>
                              <p:par>
                                <p:cTn id="17" presetID="10"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300"/>
                                        <p:tgtEl>
                                          <p:spTgt spid="11"/>
                                        </p:tgtEl>
                                      </p:cBhvr>
                                    </p:animEffect>
                                  </p:childTnLst>
                                </p:cTn>
                              </p:par>
                            </p:childTnLst>
                          </p:cTn>
                        </p:par>
                        <p:par>
                          <p:cTn id="20" fill="hold">
                            <p:stCondLst>
                              <p:cond delay="12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300"/>
                                        <p:tgtEl>
                                          <p:spTgt spid="12"/>
                                        </p:tgtEl>
                                      </p:cBhvr>
                                    </p:animEffect>
                                  </p:childTnLst>
                                </p:cTn>
                              </p:par>
                            </p:childTnLst>
                          </p:cTn>
                        </p:par>
                        <p:par>
                          <p:cTn id="24" fill="hold">
                            <p:stCondLst>
                              <p:cond delay="1500"/>
                            </p:stCondLst>
                            <p:childTnLst>
                              <p:par>
                                <p:cTn id="25" presetID="10" presetClass="entr" presetSubtype="0"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300"/>
                                        <p:tgtEl>
                                          <p:spTgt spid="13"/>
                                        </p:tgtEl>
                                      </p:cBhvr>
                                    </p:animEffect>
                                  </p:childTnLst>
                                </p:cTn>
                              </p:par>
                            </p:childTnLst>
                          </p:cTn>
                        </p:par>
                        <p:par>
                          <p:cTn id="28" fill="hold">
                            <p:stCondLst>
                              <p:cond delay="1800"/>
                            </p:stCondLst>
                            <p:childTnLst>
                              <p:par>
                                <p:cTn id="29" presetID="10" presetClass="entr" presetSubtype="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300"/>
                                        <p:tgtEl>
                                          <p:spTgt spid="14"/>
                                        </p:tgtEl>
                                      </p:cBhvr>
                                    </p:animEffect>
                                  </p:childTnLst>
                                </p:cTn>
                              </p:par>
                            </p:childTnLst>
                          </p:cTn>
                        </p:par>
                        <p:par>
                          <p:cTn id="32" fill="hold">
                            <p:stCondLst>
                              <p:cond delay="2100"/>
                            </p:stCondLst>
                            <p:childTnLst>
                              <p:par>
                                <p:cTn id="33" presetID="10" presetClass="entr" presetSubtype="0" fill="hold"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00"/>
                                        <p:tgtEl>
                                          <p:spTgt spid="15"/>
                                        </p:tgtEl>
                                      </p:cBhvr>
                                    </p:animEffect>
                                  </p:childTnLst>
                                </p:cTn>
                              </p:par>
                            </p:childTnLst>
                          </p:cTn>
                        </p:par>
                        <p:par>
                          <p:cTn id="36" fill="hold">
                            <p:stCondLst>
                              <p:cond delay="2400"/>
                            </p:stCondLst>
                            <p:childTnLst>
                              <p:par>
                                <p:cTn id="37" presetID="10" presetClass="entr" presetSubtype="0"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300"/>
                                        <p:tgtEl>
                                          <p:spTgt spid="16"/>
                                        </p:tgtEl>
                                      </p:cBhvr>
                                    </p:animEffect>
                                  </p:childTnLst>
                                </p:cTn>
                              </p:par>
                            </p:childTnLst>
                          </p:cTn>
                        </p:par>
                        <p:par>
                          <p:cTn id="40" fill="hold">
                            <p:stCondLst>
                              <p:cond delay="2700"/>
                            </p:stCondLst>
                            <p:childTnLst>
                              <p:par>
                                <p:cTn id="41" presetID="10" presetClass="entr" presetSubtype="0" fill="hold"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300"/>
                                        <p:tgtEl>
                                          <p:spTgt spid="17"/>
                                        </p:tgtEl>
                                      </p:cBhvr>
                                    </p:animEffect>
                                  </p:childTnLst>
                                </p:cTn>
                              </p:par>
                            </p:childTnLst>
                          </p:cTn>
                        </p:par>
                        <p:par>
                          <p:cTn id="44" fill="hold">
                            <p:stCondLst>
                              <p:cond delay="3000"/>
                            </p:stCondLst>
                            <p:childTnLst>
                              <p:par>
                                <p:cTn id="45" presetID="10" presetClass="entr" presetSubtype="0"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300"/>
                                        <p:tgtEl>
                                          <p:spTgt spid="18"/>
                                        </p:tgtEl>
                                      </p:cBhvr>
                                    </p:animEffect>
                                  </p:childTnLst>
                                </p:cTn>
                              </p:par>
                            </p:childTnLst>
                          </p:cTn>
                        </p:par>
                        <p:par>
                          <p:cTn id="48" fill="hold">
                            <p:stCondLst>
                              <p:cond delay="3300"/>
                            </p:stCondLst>
                            <p:childTnLst>
                              <p:par>
                                <p:cTn id="49" presetID="10" presetClass="entr" presetSubtype="0" fill="hold" grpId="0"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300"/>
                                        <p:tgtEl>
                                          <p:spTgt spid="19"/>
                                        </p:tgtEl>
                                      </p:cBhvr>
                                    </p:animEffect>
                                  </p:childTnLst>
                                </p:cTn>
                              </p:par>
                            </p:childTnLst>
                          </p:cTn>
                        </p:par>
                        <p:par>
                          <p:cTn id="52" fill="hold">
                            <p:stCondLst>
                              <p:cond delay="3600"/>
                            </p:stCondLst>
                            <p:childTnLst>
                              <p:par>
                                <p:cTn id="53" presetID="10" presetClass="entr" presetSubtype="0" fill="hold" nodeType="after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300"/>
                                        <p:tgtEl>
                                          <p:spTgt spid="20"/>
                                        </p:tgtEl>
                                      </p:cBhvr>
                                    </p:animEffect>
                                  </p:childTnLst>
                                </p:cTn>
                              </p:par>
                            </p:childTnLst>
                          </p:cTn>
                        </p:par>
                        <p:par>
                          <p:cTn id="56" fill="hold">
                            <p:stCondLst>
                              <p:cond delay="3900"/>
                            </p:stCondLst>
                            <p:childTnLst>
                              <p:par>
                                <p:cTn id="57" presetID="10" presetClass="entr" presetSubtype="0" fill="hold" nodeType="after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300"/>
                                        <p:tgtEl>
                                          <p:spTgt spid="21"/>
                                        </p:tgtEl>
                                      </p:cBhvr>
                                    </p:animEffect>
                                  </p:childTnLst>
                                </p:cTn>
                              </p:par>
                            </p:childTnLst>
                          </p:cTn>
                        </p:par>
                        <p:par>
                          <p:cTn id="60" fill="hold">
                            <p:stCondLst>
                              <p:cond delay="4200"/>
                            </p:stCondLst>
                            <p:childTnLst>
                              <p:par>
                                <p:cTn id="61" presetID="10" presetClass="entr" presetSubtype="0" fill="hold" grpId="0" nodeType="after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3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4" grpId="0" animBg="1"/>
      <p:bldP spid="16" grpId="0" animBg="1"/>
      <p:bldP spid="18" grpId="0" animBg="1"/>
      <p:bldP spid="19" grpId="0" animBg="1"/>
      <p:bldP spid="2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oundRect">
            <a:avLst>
              <a:gd name="adj" fmla="val 28571"/>
            </a:avLst>
          </a:prstGeom>
          <a:solidFill>
            <a:srgbClr val="E0F2FE"/>
          </a:solidFill>
          <a:ln w="12700">
            <a:solidFill>
              <a:srgbClr val="0A7E8C"/>
            </a:solidFill>
            <a:prstDash val="solid"/>
          </a:ln>
        </p:spPr>
      </p:sp>
      <p:sp>
        <p:nvSpPr>
          <p:cNvPr id="3" name="Text 1"/>
          <p:cNvSpPr/>
          <p:nvPr/>
        </p:nvSpPr>
        <p:spPr>
          <a:xfrm>
            <a:off x="731520" y="384048"/>
            <a:ext cx="2560320" cy="256032"/>
          </a:xfrm>
          <a:prstGeom prst="rect">
            <a:avLst/>
          </a:prstGeom>
          <a:noFill/>
          <a:ln/>
        </p:spPr>
        <p:txBody>
          <a:bodyPr wrap="square" lIns="0" tIns="0" rIns="0" bIns="0" rtlCol="0" anchor="ctr"/>
          <a:lstStyle/>
          <a:p>
            <a:pPr marL="0" indent="0" algn="ctr">
              <a:buNone/>
            </a:pPr>
            <a:r>
              <a:rPr lang="en-US" sz="850" b="1" dirty="0">
                <a:solidFill>
                  <a:srgbClr val="0A7E8C"/>
                </a:solidFill>
                <a:latin typeface="Calibri" pitchFamily="34" charset="0"/>
                <a:ea typeface="Calibri" pitchFamily="34" charset="-122"/>
                <a:cs typeface="Calibri" pitchFamily="34" charset="-120"/>
              </a:rPr>
              <a:t>THUẬT TOÁN TÍNH TOÁN</a:t>
            </a:r>
            <a:endParaRPr lang="en-US" sz="850" dirty="0"/>
          </a:p>
        </p:txBody>
      </p:sp>
      <p:sp>
        <p:nvSpPr>
          <p:cNvPr id="4" name="Text 2"/>
          <p:cNvSpPr/>
          <p:nvPr/>
        </p:nvSpPr>
        <p:spPr>
          <a:xfrm>
            <a:off x="731520" y="676656"/>
            <a:ext cx="10725912" cy="438912"/>
          </a:xfrm>
          <a:prstGeom prst="rect">
            <a:avLst/>
          </a:prstGeom>
          <a:noFill/>
          <a:ln/>
        </p:spPr>
        <p:txBody>
          <a:bodyPr wrap="square" lIns="0" tIns="0" rIns="0" bIns="0" rtlCol="0" anchor="ctr"/>
          <a:lstStyle/>
          <a:p>
            <a:pPr marL="0" indent="0">
              <a:buNone/>
            </a:pPr>
            <a:r>
              <a:rPr lang="en-US" sz="2200" b="1" dirty="0">
                <a:solidFill>
                  <a:srgbClr val="0F1B29"/>
                </a:solidFill>
                <a:latin typeface="Arial" pitchFamily="34" charset="0"/>
                <a:ea typeface="Arial" pitchFamily="34" charset="-122"/>
                <a:cs typeface="Arial" pitchFamily="34" charset="-120"/>
              </a:rPr>
              <a:t>Giải Quyết MDP: Policy Iteration vs Value Iteration</a:t>
            </a:r>
            <a:endParaRPr lang="en-US" sz="2200" dirty="0"/>
          </a:p>
        </p:txBody>
      </p:sp>
      <p:sp>
        <p:nvSpPr>
          <p:cNvPr id="5" name="Text 3"/>
          <p:cNvSpPr/>
          <p:nvPr/>
        </p:nvSpPr>
        <p:spPr>
          <a:xfrm>
            <a:off x="731520" y="1115568"/>
            <a:ext cx="10725912" cy="292608"/>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Model-based Planning khi đã biết trước toàn bộ mô hình môi trường (P, R)</a:t>
            </a:r>
            <a:endParaRPr lang="en-US" sz="1200" dirty="0"/>
          </a:p>
        </p:txBody>
      </p:sp>
      <p:sp>
        <p:nvSpPr>
          <p:cNvPr id="6" name="Text 4"/>
          <p:cNvSpPr/>
          <p:nvPr/>
        </p:nvSpPr>
        <p:spPr>
          <a:xfrm>
            <a:off x="731520" y="6446520"/>
            <a:ext cx="7315200" cy="274320"/>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MARKOV DECISION PROCESSES (MDP) • AI &amp; REINFORCEMENT LEARNING</a:t>
            </a:r>
            <a:endParaRPr lang="en-US" sz="850" dirty="0"/>
          </a:p>
        </p:txBody>
      </p:sp>
      <p:sp>
        <p:nvSpPr>
          <p:cNvPr id="7" name="Text 5"/>
          <p:cNvSpPr/>
          <p:nvPr/>
        </p:nvSpPr>
        <p:spPr>
          <a:xfrm>
            <a:off x="9875520" y="6446520"/>
            <a:ext cx="1581912" cy="274320"/>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08 / 12</a:t>
            </a:r>
            <a:endParaRPr lang="en-US" sz="900" dirty="0"/>
          </a:p>
        </p:txBody>
      </p:sp>
      <p:sp>
        <p:nvSpPr>
          <p:cNvPr id="8" name="Shape 6"/>
          <p:cNvSpPr/>
          <p:nvPr/>
        </p:nvSpPr>
        <p:spPr>
          <a:xfrm>
            <a:off x="731520" y="1508760"/>
            <a:ext cx="10725912" cy="640080"/>
          </a:xfrm>
          <a:prstGeom prst="roundRect">
            <a:avLst>
              <a:gd name="adj" fmla="val 14286"/>
            </a:avLst>
          </a:prstGeom>
          <a:solidFill>
            <a:srgbClr val="F0FDFA"/>
          </a:solidFill>
          <a:ln w="15240">
            <a:solidFill>
              <a:srgbClr val="99F6E4"/>
            </a:solidFill>
            <a:prstDash val="solid"/>
          </a:ln>
        </p:spPr>
      </p:sp>
      <p:sp>
        <p:nvSpPr>
          <p:cNvPr id="9" name="Text 7"/>
          <p:cNvSpPr/>
          <p:nvPr/>
        </p:nvSpPr>
        <p:spPr>
          <a:xfrm>
            <a:off x="960120" y="1600200"/>
            <a:ext cx="4114800" cy="228600"/>
          </a:xfrm>
          <a:prstGeom prst="rect">
            <a:avLst/>
          </a:prstGeom>
          <a:noFill/>
          <a:ln/>
        </p:spPr>
        <p:txBody>
          <a:bodyPr wrap="square" lIns="0" tIns="0" rIns="0" bIns="0" rtlCol="0" anchor="ctr"/>
          <a:lstStyle/>
          <a:p>
            <a:pPr marL="0" indent="0">
              <a:buNone/>
            </a:pPr>
            <a:r>
              <a:rPr lang="en-US" sz="1050" b="1" dirty="0">
                <a:solidFill>
                  <a:srgbClr val="065F6B"/>
                </a:solidFill>
                <a:latin typeface="Arial" pitchFamily="34" charset="0"/>
                <a:ea typeface="Arial" pitchFamily="34" charset="-122"/>
                <a:cs typeface="Arial" pitchFamily="34" charset="-120"/>
              </a:rPr>
              <a:t>ĐIỀU KIỆN TIÊN QUYẾT: MODEL-BASED PLANNING</a:t>
            </a:r>
            <a:endParaRPr lang="en-US" sz="1050" dirty="0"/>
          </a:p>
        </p:txBody>
      </p:sp>
      <p:sp>
        <p:nvSpPr>
          <p:cNvPr id="10" name="Text 8"/>
          <p:cNvSpPr/>
          <p:nvPr/>
        </p:nvSpPr>
        <p:spPr>
          <a:xfrm>
            <a:off x="960120" y="1847088"/>
            <a:ext cx="10268712" cy="256032"/>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Cả hai thuật toán đều yêu cầu tác tử đã biết trước hoàn toàn ma trận xác suất chuyển trạng thái P(s' | s, a) và hàm phần thưởng R(s, a). Khi đó, bài toán chuyển thành bài toán lập kế hoạch (Planning) giải tích thuần túy.</a:t>
            </a:r>
            <a:endParaRPr lang="en-US" sz="950" dirty="0"/>
          </a:p>
        </p:txBody>
      </p:sp>
      <p:sp>
        <p:nvSpPr>
          <p:cNvPr id="11" name="Shape 9"/>
          <p:cNvSpPr/>
          <p:nvPr/>
        </p:nvSpPr>
        <p:spPr>
          <a:xfrm>
            <a:off x="731520" y="2286000"/>
            <a:ext cx="5212080" cy="3931920"/>
          </a:xfrm>
          <a:prstGeom prst="roundRect">
            <a:avLst>
              <a:gd name="adj" fmla="val 2791"/>
            </a:avLst>
          </a:prstGeom>
          <a:solidFill>
            <a:srgbClr val="FFFFFF"/>
          </a:solidFill>
          <a:ln w="19050">
            <a:solidFill>
              <a:srgbClr val="0284C7"/>
            </a:solidFill>
            <a:prstDash val="solid"/>
          </a:ln>
        </p:spPr>
      </p:sp>
      <p:sp>
        <p:nvSpPr>
          <p:cNvPr id="12" name="Text 10"/>
          <p:cNvSpPr/>
          <p:nvPr/>
        </p:nvSpPr>
        <p:spPr>
          <a:xfrm>
            <a:off x="960120" y="2468880"/>
            <a:ext cx="4754880" cy="274320"/>
          </a:xfrm>
          <a:prstGeom prst="rect">
            <a:avLst/>
          </a:prstGeom>
          <a:noFill/>
          <a:ln/>
        </p:spPr>
        <p:txBody>
          <a:bodyPr wrap="square" lIns="0" tIns="0" rIns="0" bIns="0" rtlCol="0" anchor="ctr"/>
          <a:lstStyle/>
          <a:p>
            <a:pPr marL="0" indent="0">
              <a:buNone/>
            </a:pPr>
            <a:r>
              <a:rPr lang="en-US" sz="1200" b="1" dirty="0">
                <a:solidFill>
                  <a:srgbClr val="0369A1"/>
                </a:solidFill>
                <a:latin typeface="Arial" pitchFamily="34" charset="0"/>
                <a:ea typeface="Arial" pitchFamily="34" charset="-122"/>
                <a:cs typeface="Arial" pitchFamily="34" charset="-120"/>
              </a:rPr>
              <a:t>1. POLICY ITERATION (LẶP CHÍNH SÁCH)</a:t>
            </a:r>
            <a:endParaRPr lang="en-US" sz="1200" dirty="0"/>
          </a:p>
        </p:txBody>
      </p:sp>
      <p:sp>
        <p:nvSpPr>
          <p:cNvPr id="13" name="Text 11"/>
          <p:cNvSpPr/>
          <p:nvPr/>
        </p:nvSpPr>
        <p:spPr>
          <a:xfrm>
            <a:off x="960120" y="2761488"/>
            <a:ext cx="4754880" cy="228600"/>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Luân phiên lặp qua hai pha rõ rệt cho đến khi chính sách không đổi:</a:t>
            </a:r>
            <a:endParaRPr lang="en-US" sz="950" dirty="0"/>
          </a:p>
        </p:txBody>
      </p:sp>
      <p:sp>
        <p:nvSpPr>
          <p:cNvPr id="14" name="Shape 12"/>
          <p:cNvSpPr/>
          <p:nvPr/>
        </p:nvSpPr>
        <p:spPr>
          <a:xfrm>
            <a:off x="960120" y="3035808"/>
            <a:ext cx="4754880" cy="914400"/>
          </a:xfrm>
          <a:prstGeom prst="roundRect">
            <a:avLst>
              <a:gd name="adj" fmla="val 8000"/>
            </a:avLst>
          </a:prstGeom>
          <a:solidFill>
            <a:srgbClr val="F0FDFA"/>
          </a:solidFill>
          <a:ln w="12700">
            <a:solidFill>
              <a:srgbClr val="BAE6FD"/>
            </a:solidFill>
            <a:prstDash val="solid"/>
          </a:ln>
        </p:spPr>
      </p:sp>
      <p:sp>
        <p:nvSpPr>
          <p:cNvPr id="15" name="Text 13"/>
          <p:cNvSpPr/>
          <p:nvPr/>
        </p:nvSpPr>
        <p:spPr>
          <a:xfrm>
            <a:off x="1097280" y="3108960"/>
            <a:ext cx="4480560" cy="228600"/>
          </a:xfrm>
          <a:prstGeom prst="rect">
            <a:avLst/>
          </a:prstGeom>
          <a:noFill/>
          <a:ln/>
        </p:spPr>
        <p:txBody>
          <a:bodyPr wrap="square" lIns="0" tIns="0" rIns="0" bIns="0" rtlCol="0" anchor="ctr"/>
          <a:lstStyle/>
          <a:p>
            <a:pPr marL="0" indent="0">
              <a:buNone/>
            </a:pPr>
            <a:r>
              <a:rPr lang="en-US" sz="1000" b="1" dirty="0">
                <a:solidFill>
                  <a:srgbClr val="0369A1"/>
                </a:solidFill>
                <a:latin typeface="Arial" pitchFamily="34" charset="0"/>
                <a:ea typeface="Arial" pitchFamily="34" charset="-122"/>
                <a:cs typeface="Arial" pitchFamily="34" charset="-120"/>
              </a:rPr>
              <a:t>Pha 1: Policy Evaluation (Đánh giá chính sách)</a:t>
            </a:r>
            <a:endParaRPr lang="en-US" sz="1000" dirty="0"/>
          </a:p>
        </p:txBody>
      </p:sp>
      <p:sp>
        <p:nvSpPr>
          <p:cNvPr id="16" name="Text 14"/>
          <p:cNvSpPr/>
          <p:nvPr/>
        </p:nvSpPr>
        <p:spPr>
          <a:xfrm>
            <a:off x="1097280" y="3364992"/>
            <a:ext cx="4480560" cy="530352"/>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Tính toán giá trị chính xác V^{π_k}(s) của chính sách hiện tại bằng cách giải hệ phương trình Bellman tuyến tính hoặc lặp cập nhật cho đến khi hội tụ hoàn toàn.</a:t>
            </a:r>
            <a:endParaRPr lang="en-US" sz="900" dirty="0"/>
          </a:p>
        </p:txBody>
      </p:sp>
      <p:sp>
        <p:nvSpPr>
          <p:cNvPr id="17" name="Shape 15"/>
          <p:cNvSpPr/>
          <p:nvPr/>
        </p:nvSpPr>
        <p:spPr>
          <a:xfrm>
            <a:off x="960120" y="4069080"/>
            <a:ext cx="4754880" cy="1325880"/>
          </a:xfrm>
          <a:prstGeom prst="roundRect">
            <a:avLst>
              <a:gd name="adj" fmla="val 5517"/>
            </a:avLst>
          </a:prstGeom>
          <a:solidFill>
            <a:srgbClr val="FEF3C7"/>
          </a:solidFill>
          <a:ln w="12700">
            <a:solidFill>
              <a:srgbClr val="FDE68A"/>
            </a:solidFill>
            <a:prstDash val="solid"/>
          </a:ln>
        </p:spPr>
      </p:sp>
      <p:sp>
        <p:nvSpPr>
          <p:cNvPr id="18" name="Text 16"/>
          <p:cNvSpPr/>
          <p:nvPr/>
        </p:nvSpPr>
        <p:spPr>
          <a:xfrm>
            <a:off x="1097280" y="4142232"/>
            <a:ext cx="4480560" cy="228600"/>
          </a:xfrm>
          <a:prstGeom prst="rect">
            <a:avLst/>
          </a:prstGeom>
          <a:noFill/>
          <a:ln/>
        </p:spPr>
        <p:txBody>
          <a:bodyPr wrap="square" lIns="0" tIns="0" rIns="0" bIns="0" rtlCol="0" anchor="ctr"/>
          <a:lstStyle/>
          <a:p>
            <a:pPr marL="0" indent="0">
              <a:buNone/>
            </a:pPr>
            <a:r>
              <a:rPr lang="en-US" sz="1000" b="1" dirty="0">
                <a:solidFill>
                  <a:srgbClr val="92400E"/>
                </a:solidFill>
                <a:latin typeface="Arial" pitchFamily="34" charset="0"/>
                <a:ea typeface="Arial" pitchFamily="34" charset="-122"/>
                <a:cs typeface="Arial" pitchFamily="34" charset="-120"/>
              </a:rPr>
              <a:t>Pha 2: Policy Improvement (Cải tiến chính sách tham lam)</a:t>
            </a:r>
            <a:endParaRPr lang="en-US" sz="1000" dirty="0"/>
          </a:p>
        </p:txBody>
      </p:sp>
      <p:pic>
        <p:nvPicPr>
          <p:cNvPr id="19" name="Image 0" descr="D:\Study\HK5\CSAI\ThuyetTrinhMDP\assets\formula_policy_improvement.png"/>
          <p:cNvPicPr>
            <a:picLocks noChangeAspect="1"/>
          </p:cNvPicPr>
          <p:nvPr/>
        </p:nvPicPr>
        <p:blipFill>
          <a:blip r:embed="rId3"/>
          <a:stretch>
            <a:fillRect/>
          </a:stretch>
        </p:blipFill>
        <p:spPr>
          <a:xfrm>
            <a:off x="1097280" y="4407408"/>
            <a:ext cx="4480560" cy="530352"/>
          </a:xfrm>
          <a:prstGeom prst="rect">
            <a:avLst/>
          </a:prstGeom>
        </p:spPr>
      </p:pic>
      <p:sp>
        <p:nvSpPr>
          <p:cNvPr id="20" name="Text 17"/>
          <p:cNvSpPr/>
          <p:nvPr/>
        </p:nvSpPr>
        <p:spPr>
          <a:xfrm>
            <a:off x="1097280" y="5010912"/>
            <a:ext cx="4480560" cy="320040"/>
          </a:xfrm>
          <a:prstGeom prst="rect">
            <a:avLst/>
          </a:prstGeom>
          <a:noFill/>
          <a:ln/>
        </p:spPr>
        <p:txBody>
          <a:bodyPr wrap="square" lIns="0" tIns="0" rIns="0" bIns="0" rtlCol="0" anchor="ctr"/>
          <a:lstStyle/>
          <a:p>
            <a:pPr marL="0" indent="0">
              <a:buNone/>
            </a:pPr>
            <a:r>
              <a:rPr lang="en-US" sz="880" dirty="0">
                <a:solidFill>
                  <a:srgbClr val="475569"/>
                </a:solidFill>
                <a:latin typeface="Calibri" pitchFamily="34" charset="0"/>
                <a:ea typeface="Calibri" pitchFamily="34" charset="-122"/>
                <a:cs typeface="Calibri" pitchFamily="34" charset="-120"/>
              </a:rPr>
              <a:t>Dừng lặp khi π_{k+1}(s) = π_k(s) với mọi trạng thái s.</a:t>
            </a:r>
            <a:endParaRPr lang="en-US" sz="880" dirty="0"/>
          </a:p>
        </p:txBody>
      </p:sp>
      <p:sp>
        <p:nvSpPr>
          <p:cNvPr id="21" name="Text 18"/>
          <p:cNvSpPr/>
          <p:nvPr/>
        </p:nvSpPr>
        <p:spPr>
          <a:xfrm>
            <a:off x="960120" y="5486400"/>
            <a:ext cx="4754880" cy="640080"/>
          </a:xfrm>
          <a:prstGeom prst="rect">
            <a:avLst/>
          </a:prstGeom>
          <a:noFill/>
          <a:ln/>
        </p:spPr>
        <p:txBody>
          <a:bodyPr wrap="square" lIns="0" tIns="0" rIns="0" bIns="0" rtlCol="0" anchor="ctr"/>
          <a:lstStyle/>
          <a:p>
            <a:pPr marL="0" indent="0">
              <a:buNone/>
            </a:pPr>
            <a:r>
              <a:rPr lang="en-US" sz="920" b="1" dirty="0">
                <a:solidFill>
                  <a:srgbClr val="0F1B29"/>
                </a:solidFill>
                <a:latin typeface="Calibri" pitchFamily="34" charset="0"/>
                <a:ea typeface="Calibri" pitchFamily="34" charset="-122"/>
                <a:cs typeface="Calibri" pitchFamily="34" charset="-120"/>
              </a:rPr>
              <a:t>★ Đặc điểm: Số vòng lặp lớn rất ít (hội tụ nhanh theo số lần đổi chính sách), nhưng mỗi vòng tính V^{π_k} rất nặng về chi phí tính toán.</a:t>
            </a:r>
            <a:endParaRPr lang="en-US" sz="920" dirty="0"/>
          </a:p>
        </p:txBody>
      </p:sp>
      <p:sp>
        <p:nvSpPr>
          <p:cNvPr id="22" name="Shape 19"/>
          <p:cNvSpPr/>
          <p:nvPr/>
        </p:nvSpPr>
        <p:spPr>
          <a:xfrm>
            <a:off x="6245352" y="2286000"/>
            <a:ext cx="5212080" cy="3931920"/>
          </a:xfrm>
          <a:prstGeom prst="roundRect">
            <a:avLst>
              <a:gd name="adj" fmla="val 2791"/>
            </a:avLst>
          </a:prstGeom>
          <a:solidFill>
            <a:srgbClr val="FFFFFF"/>
          </a:solidFill>
          <a:ln w="19050">
            <a:solidFill>
              <a:srgbClr val="D97706"/>
            </a:solidFill>
            <a:prstDash val="solid"/>
          </a:ln>
        </p:spPr>
      </p:sp>
      <p:sp>
        <p:nvSpPr>
          <p:cNvPr id="23" name="Text 20"/>
          <p:cNvSpPr/>
          <p:nvPr/>
        </p:nvSpPr>
        <p:spPr>
          <a:xfrm>
            <a:off x="6473952" y="2468880"/>
            <a:ext cx="4754880" cy="274320"/>
          </a:xfrm>
          <a:prstGeom prst="rect">
            <a:avLst/>
          </a:prstGeom>
          <a:noFill/>
          <a:ln/>
        </p:spPr>
        <p:txBody>
          <a:bodyPr wrap="square" lIns="0" tIns="0" rIns="0" bIns="0" rtlCol="0" anchor="ctr"/>
          <a:lstStyle/>
          <a:p>
            <a:pPr marL="0" indent="0">
              <a:buNone/>
            </a:pPr>
            <a:r>
              <a:rPr lang="en-US" sz="1200" b="1" dirty="0">
                <a:solidFill>
                  <a:srgbClr val="92400E"/>
                </a:solidFill>
                <a:latin typeface="Arial" pitchFamily="34" charset="0"/>
                <a:ea typeface="Arial" pitchFamily="34" charset="-122"/>
                <a:cs typeface="Arial" pitchFamily="34" charset="-120"/>
              </a:rPr>
              <a:t>2. VALUE ITERATION (LẶP GIÁ TRỊ)</a:t>
            </a:r>
            <a:endParaRPr lang="en-US" sz="1200" dirty="0"/>
          </a:p>
        </p:txBody>
      </p:sp>
      <p:sp>
        <p:nvSpPr>
          <p:cNvPr id="24" name="Text 21"/>
          <p:cNvSpPr/>
          <p:nvPr/>
        </p:nvSpPr>
        <p:spPr>
          <a:xfrm>
            <a:off x="6473952" y="2761488"/>
            <a:ext cx="4754880" cy="228600"/>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Cập nhật trực tiếp toán tử Bellman tối ưu sau từng bước đơn lẻ:</a:t>
            </a:r>
            <a:endParaRPr lang="en-US" sz="950" dirty="0"/>
          </a:p>
        </p:txBody>
      </p:sp>
      <p:sp>
        <p:nvSpPr>
          <p:cNvPr id="25" name="Shape 22"/>
          <p:cNvSpPr/>
          <p:nvPr/>
        </p:nvSpPr>
        <p:spPr>
          <a:xfrm>
            <a:off x="6473952" y="3035808"/>
            <a:ext cx="4754880" cy="1280160"/>
          </a:xfrm>
          <a:prstGeom prst="roundRect">
            <a:avLst>
              <a:gd name="adj" fmla="val 5714"/>
            </a:avLst>
          </a:prstGeom>
          <a:solidFill>
            <a:srgbClr val="FFFBEB"/>
          </a:solidFill>
          <a:ln w="12700">
            <a:solidFill>
              <a:srgbClr val="FDE68A"/>
            </a:solidFill>
            <a:prstDash val="solid"/>
          </a:ln>
        </p:spPr>
      </p:sp>
      <p:sp>
        <p:nvSpPr>
          <p:cNvPr id="26" name="Text 23"/>
          <p:cNvSpPr/>
          <p:nvPr/>
        </p:nvSpPr>
        <p:spPr>
          <a:xfrm>
            <a:off x="6611112" y="3108960"/>
            <a:ext cx="4480560" cy="228600"/>
          </a:xfrm>
          <a:prstGeom prst="rect">
            <a:avLst/>
          </a:prstGeom>
          <a:noFill/>
          <a:ln/>
        </p:spPr>
        <p:txBody>
          <a:bodyPr wrap="square" lIns="0" tIns="0" rIns="0" bIns="0" rtlCol="0" anchor="ctr"/>
          <a:lstStyle/>
          <a:p>
            <a:pPr marL="0" indent="0">
              <a:buNone/>
            </a:pPr>
            <a:r>
              <a:rPr lang="en-US" sz="1000" b="1" dirty="0">
                <a:solidFill>
                  <a:srgbClr val="92400E"/>
                </a:solidFill>
                <a:latin typeface="Arial" pitchFamily="34" charset="0"/>
                <a:ea typeface="Arial" pitchFamily="34" charset="-122"/>
                <a:cs typeface="Arial" pitchFamily="34" charset="-120"/>
              </a:rPr>
              <a:t>Toán tử cập nhật Bellman Optimality Backup</a:t>
            </a:r>
            <a:endParaRPr lang="en-US" sz="1000" dirty="0"/>
          </a:p>
        </p:txBody>
      </p:sp>
      <p:pic>
        <p:nvPicPr>
          <p:cNvPr id="27" name="Image 1" descr="D:\Study\HK5\CSAI\ThuyetTrinhMDP\assets\formula_value_iteration.png"/>
          <p:cNvPicPr>
            <a:picLocks noChangeAspect="1"/>
          </p:cNvPicPr>
          <p:nvPr/>
        </p:nvPicPr>
        <p:blipFill>
          <a:blip r:embed="rId4"/>
          <a:stretch>
            <a:fillRect/>
          </a:stretch>
        </p:blipFill>
        <p:spPr>
          <a:xfrm>
            <a:off x="6611112" y="3383280"/>
            <a:ext cx="4480560" cy="530352"/>
          </a:xfrm>
          <a:prstGeom prst="rect">
            <a:avLst/>
          </a:prstGeom>
        </p:spPr>
      </p:pic>
      <p:sp>
        <p:nvSpPr>
          <p:cNvPr id="28" name="Text 24"/>
          <p:cNvSpPr/>
          <p:nvPr/>
        </p:nvSpPr>
        <p:spPr>
          <a:xfrm>
            <a:off x="6611112" y="3977640"/>
            <a:ext cx="4480560" cy="292608"/>
          </a:xfrm>
          <a:prstGeom prst="rect">
            <a:avLst/>
          </a:prstGeom>
          <a:noFill/>
          <a:ln/>
        </p:spPr>
        <p:txBody>
          <a:bodyPr wrap="square" lIns="0" tIns="0" rIns="0" bIns="0" rtlCol="0" anchor="ctr"/>
          <a:lstStyle/>
          <a:p>
            <a:pPr marL="0" indent="0">
              <a:buNone/>
            </a:pPr>
            <a:r>
              <a:rPr lang="en-US" sz="880" dirty="0">
                <a:solidFill>
                  <a:srgbClr val="475569"/>
                </a:solidFill>
                <a:latin typeface="Calibri" pitchFamily="34" charset="0"/>
                <a:ea typeface="Calibri" pitchFamily="34" charset="-122"/>
                <a:cs typeface="Calibri" pitchFamily="34" charset="-120"/>
              </a:rPr>
              <a:t>Không cần chờ giải chính sách; cập nhật đồng loạt mảng giá trị sau mỗi bước lặp.</a:t>
            </a:r>
            <a:endParaRPr lang="en-US" sz="880" dirty="0"/>
          </a:p>
        </p:txBody>
      </p:sp>
      <p:sp>
        <p:nvSpPr>
          <p:cNvPr id="29" name="Shape 25"/>
          <p:cNvSpPr/>
          <p:nvPr/>
        </p:nvSpPr>
        <p:spPr>
          <a:xfrm>
            <a:off x="6473952" y="4434840"/>
            <a:ext cx="4754880" cy="960120"/>
          </a:xfrm>
          <a:prstGeom prst="roundRect">
            <a:avLst>
              <a:gd name="adj" fmla="val 7619"/>
            </a:avLst>
          </a:prstGeom>
          <a:solidFill>
            <a:srgbClr val="F0FDFA"/>
          </a:solidFill>
          <a:ln w="12700">
            <a:solidFill>
              <a:srgbClr val="99F6E4"/>
            </a:solidFill>
            <a:prstDash val="solid"/>
          </a:ln>
        </p:spPr>
      </p:sp>
      <p:sp>
        <p:nvSpPr>
          <p:cNvPr id="30" name="Text 26"/>
          <p:cNvSpPr/>
          <p:nvPr/>
        </p:nvSpPr>
        <p:spPr>
          <a:xfrm>
            <a:off x="6611112" y="4507992"/>
            <a:ext cx="4480560" cy="228600"/>
          </a:xfrm>
          <a:prstGeom prst="rect">
            <a:avLst/>
          </a:prstGeom>
          <a:noFill/>
          <a:ln/>
        </p:spPr>
        <p:txBody>
          <a:bodyPr wrap="square" lIns="0" tIns="0" rIns="0" bIns="0" rtlCol="0" anchor="ctr"/>
          <a:lstStyle/>
          <a:p>
            <a:pPr marL="0" indent="0">
              <a:buNone/>
            </a:pPr>
            <a:r>
              <a:rPr lang="en-US" sz="1000" b="1" dirty="0">
                <a:solidFill>
                  <a:srgbClr val="0A7E8C"/>
                </a:solidFill>
                <a:latin typeface="Arial" pitchFamily="34" charset="0"/>
                <a:ea typeface="Arial" pitchFamily="34" charset="-122"/>
                <a:cs typeface="Arial" pitchFamily="34" charset="-120"/>
              </a:rPr>
              <a:t>Điều kiện dừng &amp; Trích xuất nghiệm tối ưu</a:t>
            </a:r>
            <a:endParaRPr lang="en-US" sz="1000" dirty="0"/>
          </a:p>
        </p:txBody>
      </p:sp>
      <p:sp>
        <p:nvSpPr>
          <p:cNvPr id="31" name="Text 27"/>
          <p:cNvSpPr/>
          <p:nvPr/>
        </p:nvSpPr>
        <p:spPr>
          <a:xfrm>
            <a:off x="6611112" y="4754880"/>
            <a:ext cx="4480560" cy="59436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Dừng lặp khi sai số cực đại: || V_{k+1} - V_k ||_∞ &lt; ε.</a:t>
            </a:r>
            <a:endParaRPr lang="en-US" sz="900" dirty="0"/>
          </a:p>
          <a:p>
            <a:pPr marL="0" indent="0">
              <a:buNone/>
            </a:pPr>
            <a:r>
              <a:rPr lang="en-US" sz="900" dirty="0">
                <a:solidFill>
                  <a:srgbClr val="475569"/>
                </a:solidFill>
                <a:latin typeface="Calibri" pitchFamily="34" charset="0"/>
                <a:ea typeface="Calibri" pitchFamily="34" charset="-122"/>
                <a:cs typeface="Calibri" pitchFamily="34" charset="-120"/>
              </a:rPr>
              <a:t>Sau đó, trích xuất chính sách tối ưu π*(s) một lần duy nhất bằng phép arg max.</a:t>
            </a:r>
            <a:endParaRPr lang="en-US" sz="900" dirty="0"/>
          </a:p>
        </p:txBody>
      </p:sp>
      <p:sp>
        <p:nvSpPr>
          <p:cNvPr id="32" name="Text 28"/>
          <p:cNvSpPr/>
          <p:nvPr/>
        </p:nvSpPr>
        <p:spPr>
          <a:xfrm>
            <a:off x="6473952" y="5486400"/>
            <a:ext cx="4754880" cy="640080"/>
          </a:xfrm>
          <a:prstGeom prst="rect">
            <a:avLst/>
          </a:prstGeom>
          <a:noFill/>
          <a:ln/>
        </p:spPr>
        <p:txBody>
          <a:bodyPr wrap="square" lIns="0" tIns="0" rIns="0" bIns="0" rtlCol="0" anchor="ctr"/>
          <a:lstStyle/>
          <a:p>
            <a:pPr marL="0" indent="0">
              <a:buNone/>
            </a:pPr>
            <a:r>
              <a:rPr lang="en-US" sz="920" b="1" dirty="0">
                <a:solidFill>
                  <a:srgbClr val="0F1B29"/>
                </a:solidFill>
                <a:latin typeface="Calibri" pitchFamily="34" charset="0"/>
                <a:ea typeface="Calibri" pitchFamily="34" charset="-122"/>
                <a:cs typeface="Calibri" pitchFamily="34" charset="-120"/>
              </a:rPr>
              <a:t>★ Đặc điểm: Cần nhiều vòng lặp nhỏ hơn, nhưng tính toán từng bước cực kỳ nhanh và triển khai thuật toán đơn giản hơn rất nhiều.</a:t>
            </a:r>
            <a:endParaRPr lang="en-US" sz="920" dirty="0"/>
          </a:p>
        </p:txBody>
      </p:sp>
    </p:spTree>
  </p:cSld>
  <p:clrMapOvr>
    <a:masterClrMapping/>
  </p:clrMapOvr>
  <mc:AlternateContent xmlns:mc="http://schemas.openxmlformats.org/markup-compatibility/2006">
    <mc:Choice xmlns:p14="http://schemas.microsoft.com/office/powerpoint/2010/main" Requires="p14">
      <p:transition p14:dur="400">
        <p:blinds/>
      </p:transition>
    </mc:Choice>
    <mc:Fallback>
      <p:transition>
        <p:blind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childTnLst>
                          </p:cTn>
                        </p:par>
                        <p:par>
                          <p:cTn id="8" fill="hold">
                            <p:stCondLst>
                              <p:cond delay="300"/>
                            </p:stCondLst>
                            <p:childTnLst>
                              <p:par>
                                <p:cTn id="9" presetID="10"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300"/>
                                        <p:tgtEl>
                                          <p:spTgt spid="11"/>
                                        </p:tgtEl>
                                      </p:cBhvr>
                                    </p:animEffect>
                                  </p:childTnLst>
                                </p:cTn>
                              </p:par>
                            </p:childTnLst>
                          </p:cTn>
                        </p:par>
                        <p:par>
                          <p:cTn id="12" fill="hold">
                            <p:stCondLst>
                              <p:cond delay="600"/>
                            </p:stCondLst>
                            <p:childTnLst>
                              <p:par>
                                <p:cTn id="13" presetID="10"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00"/>
                                        <p:tgtEl>
                                          <p:spTgt spid="9"/>
                                        </p:tgtEl>
                                      </p:cBhvr>
                                    </p:animEffect>
                                  </p:childTnLst>
                                </p:cTn>
                              </p:par>
                            </p:childTnLst>
                          </p:cTn>
                        </p:par>
                        <p:par>
                          <p:cTn id="16" fill="hold">
                            <p:stCondLst>
                              <p:cond delay="90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00"/>
                                        <p:tgtEl>
                                          <p:spTgt spid="10"/>
                                        </p:tgtEl>
                                      </p:cBhvr>
                                    </p:animEffect>
                                  </p:childTnLst>
                                </p:cTn>
                              </p:par>
                            </p:childTnLst>
                          </p:cTn>
                        </p:par>
                        <p:par>
                          <p:cTn id="20" fill="hold">
                            <p:stCondLst>
                              <p:cond delay="1200"/>
                            </p:stCondLst>
                            <p:childTnLst>
                              <p:par>
                                <p:cTn id="21" presetID="10" presetClass="entr" presetSubtype="0"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300"/>
                                        <p:tgtEl>
                                          <p:spTgt spid="12"/>
                                        </p:tgtEl>
                                      </p:cBhvr>
                                    </p:animEffect>
                                  </p:childTnLst>
                                </p:cTn>
                              </p:par>
                            </p:childTnLst>
                          </p:cTn>
                        </p:par>
                        <p:par>
                          <p:cTn id="24" fill="hold">
                            <p:stCondLst>
                              <p:cond delay="1500"/>
                            </p:stCondLst>
                            <p:childTnLst>
                              <p:par>
                                <p:cTn id="25" presetID="10" presetClass="entr" presetSubtype="0"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300"/>
                                        <p:tgtEl>
                                          <p:spTgt spid="13"/>
                                        </p:tgtEl>
                                      </p:cBhvr>
                                    </p:animEffect>
                                  </p:childTnLst>
                                </p:cTn>
                              </p:par>
                            </p:childTnLst>
                          </p:cTn>
                        </p:par>
                        <p:par>
                          <p:cTn id="28" fill="hold">
                            <p:stCondLst>
                              <p:cond delay="1800"/>
                            </p:stCondLst>
                            <p:childTnLst>
                              <p:par>
                                <p:cTn id="29" presetID="10" presetClass="entr" presetSubtype="0" fill="hold"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300"/>
                                        <p:tgtEl>
                                          <p:spTgt spid="14"/>
                                        </p:tgtEl>
                                      </p:cBhvr>
                                    </p:animEffect>
                                  </p:childTnLst>
                                </p:cTn>
                              </p:par>
                            </p:childTnLst>
                          </p:cTn>
                        </p:par>
                        <p:par>
                          <p:cTn id="32" fill="hold">
                            <p:stCondLst>
                              <p:cond delay="2100"/>
                            </p:stCondLst>
                            <p:childTnLst>
                              <p:par>
                                <p:cTn id="33" presetID="10" presetClass="entr" presetSubtype="0"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00"/>
                                        <p:tgtEl>
                                          <p:spTgt spid="15"/>
                                        </p:tgtEl>
                                      </p:cBhvr>
                                    </p:animEffect>
                                  </p:childTnLst>
                                </p:cTn>
                              </p:par>
                            </p:childTnLst>
                          </p:cTn>
                        </p:par>
                        <p:par>
                          <p:cTn id="36" fill="hold">
                            <p:stCondLst>
                              <p:cond delay="2400"/>
                            </p:stCondLst>
                            <p:childTnLst>
                              <p:par>
                                <p:cTn id="37" presetID="10" presetClass="entr" presetSubtype="0"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300"/>
                                        <p:tgtEl>
                                          <p:spTgt spid="16"/>
                                        </p:tgtEl>
                                      </p:cBhvr>
                                    </p:animEffect>
                                  </p:childTnLst>
                                </p:cTn>
                              </p:par>
                            </p:childTnLst>
                          </p:cTn>
                        </p:par>
                        <p:par>
                          <p:cTn id="40" fill="hold">
                            <p:stCondLst>
                              <p:cond delay="2700"/>
                            </p:stCondLst>
                            <p:childTnLst>
                              <p:par>
                                <p:cTn id="41" presetID="10" presetClass="entr" presetSubtype="0" fill="hold"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300"/>
                                        <p:tgtEl>
                                          <p:spTgt spid="17"/>
                                        </p:tgtEl>
                                      </p:cBhvr>
                                    </p:animEffect>
                                  </p:childTnLst>
                                </p:cTn>
                              </p:par>
                            </p:childTnLst>
                          </p:cTn>
                        </p:par>
                        <p:par>
                          <p:cTn id="44" fill="hold">
                            <p:stCondLst>
                              <p:cond delay="3000"/>
                            </p:stCondLst>
                            <p:childTnLst>
                              <p:par>
                                <p:cTn id="45" presetID="10" presetClass="entr" presetSubtype="0"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300"/>
                                        <p:tgtEl>
                                          <p:spTgt spid="18"/>
                                        </p:tgtEl>
                                      </p:cBhvr>
                                    </p:animEffect>
                                  </p:childTnLst>
                                </p:cTn>
                              </p:par>
                            </p:childTnLst>
                          </p:cTn>
                        </p:par>
                        <p:par>
                          <p:cTn id="48" fill="hold">
                            <p:stCondLst>
                              <p:cond delay="3300"/>
                            </p:stCondLst>
                            <p:childTnLst>
                              <p:par>
                                <p:cTn id="49" presetID="10" presetClass="entr" presetSubtype="0" fill="hold"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300"/>
                                        <p:tgtEl>
                                          <p:spTgt spid="19"/>
                                        </p:tgtEl>
                                      </p:cBhvr>
                                    </p:animEffect>
                                  </p:childTnLst>
                                </p:cTn>
                              </p:par>
                            </p:childTnLst>
                          </p:cTn>
                        </p:par>
                        <p:par>
                          <p:cTn id="52" fill="hold">
                            <p:stCondLst>
                              <p:cond delay="3600"/>
                            </p:stCondLst>
                            <p:childTnLst>
                              <p:par>
                                <p:cTn id="53" presetID="10" presetClass="entr" presetSubtype="0" fill="hold" grpId="0" nodeType="after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300"/>
                                        <p:tgtEl>
                                          <p:spTgt spid="20"/>
                                        </p:tgtEl>
                                      </p:cBhvr>
                                    </p:animEffect>
                                  </p:childTnLst>
                                </p:cTn>
                              </p:par>
                            </p:childTnLst>
                          </p:cTn>
                        </p:par>
                        <p:par>
                          <p:cTn id="56" fill="hold">
                            <p:stCondLst>
                              <p:cond delay="3900"/>
                            </p:stCondLst>
                            <p:childTnLst>
                              <p:par>
                                <p:cTn id="57" presetID="10" presetClass="entr" presetSubtype="0" fill="hold" grpId="0" nodeType="after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300"/>
                                        <p:tgtEl>
                                          <p:spTgt spid="21"/>
                                        </p:tgtEl>
                                      </p:cBhvr>
                                    </p:animEffect>
                                  </p:childTnLst>
                                </p:cTn>
                              </p:par>
                            </p:childTnLst>
                          </p:cTn>
                        </p:par>
                        <p:par>
                          <p:cTn id="60" fill="hold">
                            <p:stCondLst>
                              <p:cond delay="4200"/>
                            </p:stCondLst>
                            <p:childTnLst>
                              <p:par>
                                <p:cTn id="61" presetID="10" presetClass="entr" presetSubtype="0" fill="hold" nodeType="after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300"/>
                                        <p:tgtEl>
                                          <p:spTgt spid="22"/>
                                        </p:tgtEl>
                                      </p:cBhvr>
                                    </p:animEffect>
                                  </p:childTnLst>
                                </p:cTn>
                              </p:par>
                            </p:childTnLst>
                          </p:cTn>
                        </p:par>
                        <p:par>
                          <p:cTn id="64" fill="hold">
                            <p:stCondLst>
                              <p:cond delay="4500"/>
                            </p:stCondLst>
                            <p:childTnLst>
                              <p:par>
                                <p:cTn id="65" presetID="10" presetClass="entr" presetSubtype="0" fill="hold" grpId="0" nodeType="after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300"/>
                                        <p:tgtEl>
                                          <p:spTgt spid="23"/>
                                        </p:tgtEl>
                                      </p:cBhvr>
                                    </p:animEffect>
                                  </p:childTnLst>
                                </p:cTn>
                              </p:par>
                            </p:childTnLst>
                          </p:cTn>
                        </p:par>
                        <p:par>
                          <p:cTn id="68" fill="hold">
                            <p:stCondLst>
                              <p:cond delay="4800"/>
                            </p:stCondLst>
                            <p:childTnLst>
                              <p:par>
                                <p:cTn id="69" presetID="10" presetClass="entr" presetSubtype="0" fill="hold" grpId="0" nodeType="after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300"/>
                                        <p:tgtEl>
                                          <p:spTgt spid="24"/>
                                        </p:tgtEl>
                                      </p:cBhvr>
                                    </p:animEffect>
                                  </p:childTnLst>
                                </p:cTn>
                              </p:par>
                            </p:childTnLst>
                          </p:cTn>
                        </p:par>
                        <p:par>
                          <p:cTn id="72" fill="hold">
                            <p:stCondLst>
                              <p:cond delay="5100"/>
                            </p:stCondLst>
                            <p:childTnLst>
                              <p:par>
                                <p:cTn id="73" presetID="10" presetClass="entr" presetSubtype="0" fill="hold" nodeType="after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300"/>
                                        <p:tgtEl>
                                          <p:spTgt spid="25"/>
                                        </p:tgtEl>
                                      </p:cBhvr>
                                    </p:animEffect>
                                  </p:childTnLst>
                                </p:cTn>
                              </p:par>
                            </p:childTnLst>
                          </p:cTn>
                        </p:par>
                        <p:par>
                          <p:cTn id="76" fill="hold">
                            <p:stCondLst>
                              <p:cond delay="5400"/>
                            </p:stCondLst>
                            <p:childTnLst>
                              <p:par>
                                <p:cTn id="77" presetID="10" presetClass="entr" presetSubtype="0" fill="hold" grpId="0" nodeType="after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300"/>
                                        <p:tgtEl>
                                          <p:spTgt spid="26"/>
                                        </p:tgtEl>
                                      </p:cBhvr>
                                    </p:animEffect>
                                  </p:childTnLst>
                                </p:cTn>
                              </p:par>
                            </p:childTnLst>
                          </p:cTn>
                        </p:par>
                        <p:par>
                          <p:cTn id="80" fill="hold">
                            <p:stCondLst>
                              <p:cond delay="5700"/>
                            </p:stCondLst>
                            <p:childTnLst>
                              <p:par>
                                <p:cTn id="81" presetID="10" presetClass="entr" presetSubtype="0" fill="hold" nodeType="after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300"/>
                                        <p:tgtEl>
                                          <p:spTgt spid="27"/>
                                        </p:tgtEl>
                                      </p:cBhvr>
                                    </p:animEffect>
                                  </p:childTnLst>
                                </p:cTn>
                              </p:par>
                            </p:childTnLst>
                          </p:cTn>
                        </p:par>
                        <p:par>
                          <p:cTn id="84" fill="hold">
                            <p:stCondLst>
                              <p:cond delay="6000"/>
                            </p:stCondLst>
                            <p:childTnLst>
                              <p:par>
                                <p:cTn id="85" presetID="10" presetClass="entr" presetSubtype="0" fill="hold" grpId="0" nodeType="after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300"/>
                                        <p:tgtEl>
                                          <p:spTgt spid="28"/>
                                        </p:tgtEl>
                                      </p:cBhvr>
                                    </p:animEffect>
                                  </p:childTnLst>
                                </p:cTn>
                              </p:par>
                            </p:childTnLst>
                          </p:cTn>
                        </p:par>
                        <p:par>
                          <p:cTn id="88" fill="hold">
                            <p:stCondLst>
                              <p:cond delay="6300"/>
                            </p:stCondLst>
                            <p:childTnLst>
                              <p:par>
                                <p:cTn id="89" presetID="10" presetClass="entr" presetSubtype="0" fill="hold" nodeType="after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300"/>
                                        <p:tgtEl>
                                          <p:spTgt spid="29"/>
                                        </p:tgtEl>
                                      </p:cBhvr>
                                    </p:animEffect>
                                  </p:childTnLst>
                                </p:cTn>
                              </p:par>
                            </p:childTnLst>
                          </p:cTn>
                        </p:par>
                        <p:par>
                          <p:cTn id="92" fill="hold">
                            <p:stCondLst>
                              <p:cond delay="6600"/>
                            </p:stCondLst>
                            <p:childTnLst>
                              <p:par>
                                <p:cTn id="93" presetID="10" presetClass="entr" presetSubtype="0" fill="hold" grpId="0" nodeType="afterEffect">
                                  <p:stCondLst>
                                    <p:cond delay="0"/>
                                  </p:stCondLst>
                                  <p:childTnLst>
                                    <p:set>
                                      <p:cBhvr>
                                        <p:cTn id="94" dur="1" fill="hold">
                                          <p:stCondLst>
                                            <p:cond delay="0"/>
                                          </p:stCondLst>
                                        </p:cTn>
                                        <p:tgtEl>
                                          <p:spTgt spid="30"/>
                                        </p:tgtEl>
                                        <p:attrNameLst>
                                          <p:attrName>style.visibility</p:attrName>
                                        </p:attrNameLst>
                                      </p:cBhvr>
                                      <p:to>
                                        <p:strVal val="visible"/>
                                      </p:to>
                                    </p:set>
                                    <p:animEffect transition="in" filter="fade">
                                      <p:cBhvr>
                                        <p:cTn id="95" dur="300"/>
                                        <p:tgtEl>
                                          <p:spTgt spid="30"/>
                                        </p:tgtEl>
                                      </p:cBhvr>
                                    </p:animEffect>
                                  </p:childTnLst>
                                </p:cTn>
                              </p:par>
                            </p:childTnLst>
                          </p:cTn>
                        </p:par>
                        <p:par>
                          <p:cTn id="96" fill="hold">
                            <p:stCondLst>
                              <p:cond delay="6900"/>
                            </p:stCondLst>
                            <p:childTnLst>
                              <p:par>
                                <p:cTn id="97" presetID="10" presetClass="entr" presetSubtype="0" fill="hold" grpId="0" nodeType="after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300"/>
                                        <p:tgtEl>
                                          <p:spTgt spid="31"/>
                                        </p:tgtEl>
                                      </p:cBhvr>
                                    </p:animEffect>
                                  </p:childTnLst>
                                </p:cTn>
                              </p:par>
                            </p:childTnLst>
                          </p:cTn>
                        </p:par>
                        <p:par>
                          <p:cTn id="100" fill="hold">
                            <p:stCondLst>
                              <p:cond delay="7200"/>
                            </p:stCondLst>
                            <p:childTnLst>
                              <p:par>
                                <p:cTn id="101" presetID="10" presetClass="entr" presetSubtype="0" fill="hold" grpId="0" nodeType="afterEffect">
                                  <p:stCondLst>
                                    <p:cond delay="0"/>
                                  </p:stCondLst>
                                  <p:childTnLst>
                                    <p:set>
                                      <p:cBhvr>
                                        <p:cTn id="102" dur="1" fill="hold">
                                          <p:stCondLst>
                                            <p:cond delay="0"/>
                                          </p:stCondLst>
                                        </p:cTn>
                                        <p:tgtEl>
                                          <p:spTgt spid="32"/>
                                        </p:tgtEl>
                                        <p:attrNameLst>
                                          <p:attrName>style.visibility</p:attrName>
                                        </p:attrNameLst>
                                      </p:cBhvr>
                                      <p:to>
                                        <p:strVal val="visible"/>
                                      </p:to>
                                    </p:set>
                                    <p:animEffect transition="in" filter="fade">
                                      <p:cBhvr>
                                        <p:cTn id="103" dur="3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3" grpId="0" animBg="1"/>
      <p:bldP spid="15" grpId="0" animBg="1"/>
      <p:bldP spid="16" grpId="0" animBg="1"/>
      <p:bldP spid="18" grpId="0" animBg="1"/>
      <p:bldP spid="20" grpId="0" animBg="1"/>
      <p:bldP spid="21" grpId="0" animBg="1"/>
      <p:bldP spid="23" grpId="0" animBg="1"/>
      <p:bldP spid="24" grpId="0" animBg="1"/>
      <p:bldP spid="26" grpId="0" animBg="1"/>
      <p:bldP spid="28" grpId="0" animBg="1"/>
      <p:bldP spid="30" grpId="0" animBg="1"/>
      <p:bldP spid="31" grpId="0" animBg="1"/>
      <p:bldP spid="3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oundRect">
            <a:avLst>
              <a:gd name="adj" fmla="val 28571"/>
            </a:avLst>
          </a:prstGeom>
          <a:solidFill>
            <a:srgbClr val="E0F2FE"/>
          </a:solidFill>
          <a:ln w="12700">
            <a:solidFill>
              <a:srgbClr val="0A7E8C"/>
            </a:solidFill>
            <a:prstDash val="solid"/>
          </a:ln>
        </p:spPr>
      </p:sp>
      <p:sp>
        <p:nvSpPr>
          <p:cNvPr id="3" name="Text 1"/>
          <p:cNvSpPr/>
          <p:nvPr/>
        </p:nvSpPr>
        <p:spPr>
          <a:xfrm>
            <a:off x="731520" y="384048"/>
            <a:ext cx="2560320" cy="256032"/>
          </a:xfrm>
          <a:prstGeom prst="rect">
            <a:avLst/>
          </a:prstGeom>
          <a:noFill/>
          <a:ln/>
        </p:spPr>
        <p:txBody>
          <a:bodyPr wrap="square" lIns="0" tIns="0" rIns="0" bIns="0" rtlCol="0" anchor="ctr"/>
          <a:lstStyle/>
          <a:p>
            <a:pPr marL="0" indent="0" algn="ctr">
              <a:buNone/>
            </a:pPr>
            <a:r>
              <a:rPr lang="en-US" sz="850" b="1" dirty="0">
                <a:solidFill>
                  <a:srgbClr val="0A7E8C"/>
                </a:solidFill>
                <a:latin typeface="Calibri" pitchFamily="34" charset="0"/>
                <a:ea typeface="Calibri" pitchFamily="34" charset="-122"/>
                <a:cs typeface="Calibri" pitchFamily="34" charset="-120"/>
              </a:rPr>
              <a:t>CASE STUDY THỰC NGHIỆM 1</a:t>
            </a:r>
            <a:endParaRPr lang="en-US" sz="850" dirty="0"/>
          </a:p>
        </p:txBody>
      </p:sp>
      <p:sp>
        <p:nvSpPr>
          <p:cNvPr id="4" name="Text 2"/>
          <p:cNvSpPr/>
          <p:nvPr/>
        </p:nvSpPr>
        <p:spPr>
          <a:xfrm>
            <a:off x="731520" y="676656"/>
            <a:ext cx="10725912" cy="438912"/>
          </a:xfrm>
          <a:prstGeom prst="rect">
            <a:avLst/>
          </a:prstGeom>
          <a:noFill/>
          <a:ln/>
        </p:spPr>
        <p:txBody>
          <a:bodyPr wrap="square" lIns="0" tIns="0" rIns="0" bIns="0" rtlCol="0" anchor="ctr"/>
          <a:lstStyle/>
          <a:p>
            <a:pPr marL="0" indent="0">
              <a:buNone/>
            </a:pPr>
            <a:r>
              <a:rPr lang="en-US" sz="2200" b="1" dirty="0">
                <a:solidFill>
                  <a:srgbClr val="0F1B29"/>
                </a:solidFill>
                <a:latin typeface="Arial" pitchFamily="34" charset="0"/>
                <a:ea typeface="Arial" pitchFamily="34" charset="-122"/>
                <a:cs typeface="Arial" pitchFamily="34" charset="-120"/>
              </a:rPr>
              <a:t>Minh Họa 1: Quy Hoạch Động Trên Môi Trường Gridworld 4x4</a:t>
            </a:r>
            <a:endParaRPr lang="en-US" sz="2200" dirty="0"/>
          </a:p>
        </p:txBody>
      </p:sp>
      <p:sp>
        <p:nvSpPr>
          <p:cNvPr id="5" name="Text 3"/>
          <p:cNvSpPr/>
          <p:nvPr/>
        </p:nvSpPr>
        <p:spPr>
          <a:xfrm>
            <a:off x="731520" y="1115568"/>
            <a:ext cx="10725912" cy="292608"/>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Tác động của động lực ngẫu nhiên: Tại sao thuật toán chọn đường vòng an toàn?</a:t>
            </a:r>
            <a:endParaRPr lang="en-US" sz="1200" dirty="0"/>
          </a:p>
        </p:txBody>
      </p:sp>
      <p:sp>
        <p:nvSpPr>
          <p:cNvPr id="6" name="Text 4"/>
          <p:cNvSpPr/>
          <p:nvPr/>
        </p:nvSpPr>
        <p:spPr>
          <a:xfrm>
            <a:off x="731520" y="6446520"/>
            <a:ext cx="7315200" cy="274320"/>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MARKOV DECISION PROCESSES (MDP) • AI &amp; REINFORCEMENT LEARNING</a:t>
            </a:r>
            <a:endParaRPr lang="en-US" sz="850" dirty="0"/>
          </a:p>
        </p:txBody>
      </p:sp>
      <p:sp>
        <p:nvSpPr>
          <p:cNvPr id="7" name="Text 5"/>
          <p:cNvSpPr/>
          <p:nvPr/>
        </p:nvSpPr>
        <p:spPr>
          <a:xfrm>
            <a:off x="9875520" y="6446520"/>
            <a:ext cx="1581912" cy="274320"/>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09 / 12</a:t>
            </a:r>
            <a:endParaRPr lang="en-US" sz="900" dirty="0"/>
          </a:p>
        </p:txBody>
      </p:sp>
      <p:sp>
        <p:nvSpPr>
          <p:cNvPr id="8" name="Shape 6"/>
          <p:cNvSpPr/>
          <p:nvPr/>
        </p:nvSpPr>
        <p:spPr>
          <a:xfrm>
            <a:off x="731520" y="1508760"/>
            <a:ext cx="4572000" cy="2423160"/>
          </a:xfrm>
          <a:prstGeom prst="roundRect">
            <a:avLst>
              <a:gd name="adj" fmla="val 4528"/>
            </a:avLst>
          </a:prstGeom>
          <a:solidFill>
            <a:srgbClr val="FFFFFF"/>
          </a:solidFill>
          <a:ln w="15240">
            <a:solidFill>
              <a:srgbClr val="E2E8F0"/>
            </a:solidFill>
            <a:prstDash val="solid"/>
          </a:ln>
        </p:spPr>
      </p:sp>
      <p:sp>
        <p:nvSpPr>
          <p:cNvPr id="9" name="Text 7"/>
          <p:cNvSpPr/>
          <p:nvPr/>
        </p:nvSpPr>
        <p:spPr>
          <a:xfrm>
            <a:off x="960120" y="1691640"/>
            <a:ext cx="4114800" cy="274320"/>
          </a:xfrm>
          <a:prstGeom prst="rect">
            <a:avLst/>
          </a:prstGeom>
          <a:noFill/>
          <a:ln/>
        </p:spPr>
        <p:txBody>
          <a:bodyPr wrap="square" lIns="0" tIns="0" rIns="0" bIns="0" rtlCol="0" anchor="ctr"/>
          <a:lstStyle/>
          <a:p>
            <a:pPr marL="0" indent="0">
              <a:buNone/>
            </a:pPr>
            <a:r>
              <a:rPr lang="en-US" sz="1200" b="1" dirty="0">
                <a:solidFill>
                  <a:srgbClr val="0F1B29"/>
                </a:solidFill>
                <a:latin typeface="Arial" pitchFamily="34" charset="0"/>
                <a:ea typeface="Arial" pitchFamily="34" charset="-122"/>
                <a:cs typeface="Arial" pitchFamily="34" charset="-120"/>
              </a:rPr>
              <a:t>THIẾT LẬP BÀI TOÁN GRIDWORLD 4x4</a:t>
            </a:r>
            <a:endParaRPr lang="en-US" sz="1200" dirty="0"/>
          </a:p>
        </p:txBody>
      </p:sp>
      <p:sp>
        <p:nvSpPr>
          <p:cNvPr id="10" name="Text 8"/>
          <p:cNvSpPr/>
          <p:nvPr/>
        </p:nvSpPr>
        <p:spPr>
          <a:xfrm>
            <a:off x="960120" y="2029968"/>
            <a:ext cx="4114800" cy="438912"/>
          </a:xfrm>
          <a:prstGeom prst="rect">
            <a:avLst/>
          </a:prstGeom>
          <a:noFill/>
          <a:ln/>
        </p:spPr>
        <p:txBody>
          <a:bodyPr wrap="square" lIns="0" tIns="0" rIns="0" bIns="0" rtlCol="0" anchor="ctr"/>
          <a:lstStyle/>
          <a:p>
            <a:pPr marL="0" indent="0">
              <a:buNone/>
            </a:pPr>
            <a:r>
              <a:rPr lang="en-US" sz="950" b="1" dirty="0">
                <a:solidFill>
                  <a:srgbClr val="0A7E8C"/>
                </a:solidFill>
                <a:latin typeface="Calibri" pitchFamily="34" charset="0"/>
                <a:ea typeface="Calibri" pitchFamily="34" charset="-122"/>
                <a:cs typeface="Calibri" pitchFamily="34" charset="-120"/>
              </a:rPr>
              <a:t>•  </a:t>
            </a:r>
            <a:r>
              <a:rPr lang="en-US" sz="950" b="1" dirty="0">
                <a:solidFill>
                  <a:srgbClr val="0F1B29"/>
                </a:solidFill>
                <a:latin typeface="Calibri" pitchFamily="34" charset="0"/>
                <a:ea typeface="Calibri" pitchFamily="34" charset="-122"/>
                <a:cs typeface="Calibri" pitchFamily="34" charset="-120"/>
              </a:rPr>
              <a:t>Không gian trạng thái S: </a:t>
            </a:r>
            <a:r>
              <a:rPr lang="en-US" sz="950" dirty="0">
                <a:solidFill>
                  <a:srgbClr val="475569"/>
                </a:solidFill>
                <a:latin typeface="Calibri" pitchFamily="34" charset="0"/>
                <a:ea typeface="Calibri" pitchFamily="34" charset="-122"/>
                <a:cs typeface="Calibri" pitchFamily="34" charset="-120"/>
              </a:rPr>
              <a:t>16 ô lưới tọa độ (i, j) với i, j ∈ {1, 2, 3, 4}.</a:t>
            </a:r>
            <a:endParaRPr lang="en-US" sz="950" dirty="0"/>
          </a:p>
        </p:txBody>
      </p:sp>
      <p:sp>
        <p:nvSpPr>
          <p:cNvPr id="11" name="Text 9"/>
          <p:cNvSpPr/>
          <p:nvPr/>
        </p:nvSpPr>
        <p:spPr>
          <a:xfrm>
            <a:off x="960120" y="2505456"/>
            <a:ext cx="4114800" cy="438912"/>
          </a:xfrm>
          <a:prstGeom prst="rect">
            <a:avLst/>
          </a:prstGeom>
          <a:noFill/>
          <a:ln/>
        </p:spPr>
        <p:txBody>
          <a:bodyPr wrap="square" lIns="0" tIns="0" rIns="0" bIns="0" rtlCol="0" anchor="ctr"/>
          <a:lstStyle/>
          <a:p>
            <a:pPr marL="0" indent="0">
              <a:buNone/>
            </a:pPr>
            <a:r>
              <a:rPr lang="en-US" sz="950" b="1" dirty="0">
                <a:solidFill>
                  <a:srgbClr val="0A7E8C"/>
                </a:solidFill>
                <a:latin typeface="Calibri" pitchFamily="34" charset="0"/>
                <a:ea typeface="Calibri" pitchFamily="34" charset="-122"/>
                <a:cs typeface="Calibri" pitchFamily="34" charset="-120"/>
              </a:rPr>
              <a:t>•  </a:t>
            </a:r>
            <a:r>
              <a:rPr lang="en-US" sz="950" b="1" dirty="0">
                <a:solidFill>
                  <a:srgbClr val="0F1B29"/>
                </a:solidFill>
                <a:latin typeface="Calibri" pitchFamily="34" charset="0"/>
                <a:ea typeface="Calibri" pitchFamily="34" charset="-122"/>
                <a:cs typeface="Calibri" pitchFamily="34" charset="-120"/>
              </a:rPr>
              <a:t>Không gian hành động A: </a:t>
            </a:r>
            <a:r>
              <a:rPr lang="en-US" sz="950" dirty="0">
                <a:solidFill>
                  <a:srgbClr val="475569"/>
                </a:solidFill>
                <a:latin typeface="Calibri" pitchFamily="34" charset="0"/>
                <a:ea typeface="Calibri" pitchFamily="34" charset="-122"/>
                <a:cs typeface="Calibri" pitchFamily="34" charset="-120"/>
              </a:rPr>
              <a:t>{Lên, Xuống, Trái, Phải}.</a:t>
            </a:r>
            <a:endParaRPr lang="en-US" sz="950" dirty="0"/>
          </a:p>
        </p:txBody>
      </p:sp>
      <p:sp>
        <p:nvSpPr>
          <p:cNvPr id="12" name="Text 10"/>
          <p:cNvSpPr/>
          <p:nvPr/>
        </p:nvSpPr>
        <p:spPr>
          <a:xfrm>
            <a:off x="960120" y="2980944"/>
            <a:ext cx="4114800" cy="438912"/>
          </a:xfrm>
          <a:prstGeom prst="rect">
            <a:avLst/>
          </a:prstGeom>
          <a:noFill/>
          <a:ln/>
        </p:spPr>
        <p:txBody>
          <a:bodyPr wrap="square" lIns="0" tIns="0" rIns="0" bIns="0" rtlCol="0" anchor="ctr"/>
          <a:lstStyle/>
          <a:p>
            <a:pPr marL="0" indent="0">
              <a:buNone/>
            </a:pPr>
            <a:r>
              <a:rPr lang="en-US" sz="950" b="1" dirty="0">
                <a:solidFill>
                  <a:srgbClr val="0A7E8C"/>
                </a:solidFill>
                <a:latin typeface="Calibri" pitchFamily="34" charset="0"/>
                <a:ea typeface="Calibri" pitchFamily="34" charset="-122"/>
                <a:cs typeface="Calibri" pitchFamily="34" charset="-120"/>
              </a:rPr>
              <a:t>•  </a:t>
            </a:r>
            <a:r>
              <a:rPr lang="en-US" sz="950" b="1" dirty="0">
                <a:solidFill>
                  <a:srgbClr val="0F1B29"/>
                </a:solidFill>
                <a:latin typeface="Calibri" pitchFamily="34" charset="0"/>
                <a:ea typeface="Calibri" pitchFamily="34" charset="-122"/>
                <a:cs typeface="Calibri" pitchFamily="34" charset="-120"/>
              </a:rPr>
              <a:t>Động lực ngẫu nhiên: </a:t>
            </a:r>
            <a:r>
              <a:rPr lang="en-US" sz="950" dirty="0">
                <a:solidFill>
                  <a:srgbClr val="475569"/>
                </a:solidFill>
                <a:latin typeface="Calibri" pitchFamily="34" charset="0"/>
                <a:ea typeface="Calibri" pitchFamily="34" charset="-122"/>
                <a:cs typeface="Calibri" pitchFamily="34" charset="-120"/>
              </a:rPr>
              <a:t>80% đi đúng hướng; 10% trượt sang trái; 10% trượt sang phải.</a:t>
            </a:r>
            <a:endParaRPr lang="en-US" sz="950" dirty="0"/>
          </a:p>
        </p:txBody>
      </p:sp>
      <p:sp>
        <p:nvSpPr>
          <p:cNvPr id="13" name="Text 11"/>
          <p:cNvSpPr/>
          <p:nvPr/>
        </p:nvSpPr>
        <p:spPr>
          <a:xfrm>
            <a:off x="960120" y="3456432"/>
            <a:ext cx="4114800" cy="438912"/>
          </a:xfrm>
          <a:prstGeom prst="rect">
            <a:avLst/>
          </a:prstGeom>
          <a:noFill/>
          <a:ln/>
        </p:spPr>
        <p:txBody>
          <a:bodyPr wrap="square" lIns="0" tIns="0" rIns="0" bIns="0" rtlCol="0" anchor="ctr"/>
          <a:lstStyle/>
          <a:p>
            <a:pPr marL="0" indent="0">
              <a:buNone/>
            </a:pPr>
            <a:r>
              <a:rPr lang="en-US" sz="950" b="1" dirty="0">
                <a:solidFill>
                  <a:srgbClr val="0A7E8C"/>
                </a:solidFill>
                <a:latin typeface="Calibri" pitchFamily="34" charset="0"/>
                <a:ea typeface="Calibri" pitchFamily="34" charset="-122"/>
                <a:cs typeface="Calibri" pitchFamily="34" charset="-120"/>
              </a:rPr>
              <a:t>•  </a:t>
            </a:r>
            <a:r>
              <a:rPr lang="en-US" sz="950" b="1" dirty="0">
                <a:solidFill>
                  <a:srgbClr val="0F1B29"/>
                </a:solidFill>
                <a:latin typeface="Calibri" pitchFamily="34" charset="0"/>
                <a:ea typeface="Calibri" pitchFamily="34" charset="-122"/>
                <a:cs typeface="Calibri" pitchFamily="34" charset="-120"/>
              </a:rPr>
              <a:t>Hàm phần thưởng R: </a:t>
            </a:r>
            <a:r>
              <a:rPr lang="en-US" sz="950" dirty="0">
                <a:solidFill>
                  <a:srgbClr val="475569"/>
                </a:solidFill>
                <a:latin typeface="Calibri" pitchFamily="34" charset="0"/>
                <a:ea typeface="Calibri" pitchFamily="34" charset="-122"/>
                <a:cs typeface="Calibri" pitchFamily="34" charset="-120"/>
              </a:rPr>
              <a:t>Về đích (+10.0), Rơi vào ô bẫy (-10.0), Mỗi bước di chuyển (-0.04 để tìm đường ngắn nhất).</a:t>
            </a:r>
            <a:endParaRPr lang="en-US" sz="950" dirty="0"/>
          </a:p>
        </p:txBody>
      </p:sp>
      <p:sp>
        <p:nvSpPr>
          <p:cNvPr id="14" name="Shape 12"/>
          <p:cNvSpPr/>
          <p:nvPr/>
        </p:nvSpPr>
        <p:spPr>
          <a:xfrm>
            <a:off x="731520" y="4069080"/>
            <a:ext cx="4572000" cy="2148840"/>
          </a:xfrm>
          <a:prstGeom prst="roundRect">
            <a:avLst>
              <a:gd name="adj" fmla="val 5106"/>
            </a:avLst>
          </a:prstGeom>
          <a:solidFill>
            <a:srgbClr val="ECFDF5"/>
          </a:solidFill>
          <a:ln w="15240">
            <a:solidFill>
              <a:srgbClr val="A7F3D0"/>
            </a:solidFill>
            <a:prstDash val="solid"/>
          </a:ln>
        </p:spPr>
      </p:sp>
      <p:sp>
        <p:nvSpPr>
          <p:cNvPr id="15" name="Text 13"/>
          <p:cNvSpPr/>
          <p:nvPr/>
        </p:nvSpPr>
        <p:spPr>
          <a:xfrm>
            <a:off x="960120" y="4251960"/>
            <a:ext cx="4114800" cy="274320"/>
          </a:xfrm>
          <a:prstGeom prst="rect">
            <a:avLst/>
          </a:prstGeom>
          <a:noFill/>
          <a:ln/>
        </p:spPr>
        <p:txBody>
          <a:bodyPr wrap="square" lIns="0" tIns="0" rIns="0" bIns="0" rtlCol="0" anchor="ctr"/>
          <a:lstStyle/>
          <a:p>
            <a:pPr marL="0" indent="0">
              <a:buNone/>
            </a:pPr>
            <a:r>
              <a:rPr lang="en-US" sz="1150" b="1" dirty="0">
                <a:solidFill>
                  <a:srgbClr val="065F46"/>
                </a:solidFill>
                <a:latin typeface="Arial" pitchFamily="34" charset="0"/>
                <a:ea typeface="Arial" pitchFamily="34" charset="-122"/>
                <a:cs typeface="Arial" pitchFamily="34" charset="-120"/>
              </a:rPr>
              <a:t>KẾT QUẢ TỪ THUẬT TOÁN VALUE ITERATION</a:t>
            </a:r>
            <a:endParaRPr lang="en-US" sz="1150" dirty="0"/>
          </a:p>
        </p:txBody>
      </p:sp>
      <p:sp>
        <p:nvSpPr>
          <p:cNvPr id="16" name="Text 14"/>
          <p:cNvSpPr/>
          <p:nvPr/>
        </p:nvSpPr>
        <p:spPr>
          <a:xfrm>
            <a:off x="960120" y="4572000"/>
            <a:ext cx="4114800" cy="502920"/>
          </a:xfrm>
          <a:prstGeom prst="rect">
            <a:avLst/>
          </a:prstGeom>
          <a:noFill/>
          <a:ln/>
        </p:spPr>
        <p:txBody>
          <a:bodyPr wrap="square" lIns="0" tIns="0" rIns="0" bIns="0" rtlCol="0" anchor="ctr"/>
          <a:lstStyle/>
          <a:p>
            <a:pPr marL="0" indent="0">
              <a:buNone/>
            </a:pPr>
            <a:r>
              <a:rPr lang="en-US" sz="920" b="1" dirty="0">
                <a:solidFill>
                  <a:srgbClr val="16A34A"/>
                </a:solidFill>
                <a:latin typeface="Calibri" pitchFamily="34" charset="0"/>
                <a:ea typeface="Calibri" pitchFamily="34" charset="-122"/>
                <a:cs typeface="Calibri" pitchFamily="34" charset="-120"/>
              </a:rPr>
              <a:t>✔  </a:t>
            </a:r>
            <a:r>
              <a:rPr lang="en-US" sz="920" b="1" dirty="0">
                <a:solidFill>
                  <a:srgbClr val="065F46"/>
                </a:solidFill>
                <a:latin typeface="Calibri" pitchFamily="34" charset="0"/>
                <a:ea typeface="Calibri" pitchFamily="34" charset="-122"/>
                <a:cs typeface="Calibri" pitchFamily="34" charset="-120"/>
              </a:rPr>
              <a:t>Tốc độ hội tụ: </a:t>
            </a:r>
            <a:r>
              <a:rPr lang="en-US" sz="920" dirty="0">
                <a:solidFill>
                  <a:srgbClr val="475569"/>
                </a:solidFill>
                <a:latin typeface="Calibri" pitchFamily="34" charset="0"/>
                <a:ea typeface="Calibri" pitchFamily="34" charset="-122"/>
                <a:cs typeface="Calibri" pitchFamily="34" charset="-120"/>
              </a:rPr>
              <a:t>Sau khoảng 25 vòng lặp, toàn bộ mảng giá trị V*(s) đạt độ hội tụ.</a:t>
            </a:r>
            <a:endParaRPr lang="en-US" sz="920" dirty="0"/>
          </a:p>
        </p:txBody>
      </p:sp>
      <p:sp>
        <p:nvSpPr>
          <p:cNvPr id="17" name="Text 15"/>
          <p:cNvSpPr/>
          <p:nvPr/>
        </p:nvSpPr>
        <p:spPr>
          <a:xfrm>
            <a:off x="960120" y="5102352"/>
            <a:ext cx="4114800" cy="502920"/>
          </a:xfrm>
          <a:prstGeom prst="rect">
            <a:avLst/>
          </a:prstGeom>
          <a:noFill/>
          <a:ln/>
        </p:spPr>
        <p:txBody>
          <a:bodyPr wrap="square" lIns="0" tIns="0" rIns="0" bIns="0" rtlCol="0" anchor="ctr"/>
          <a:lstStyle/>
          <a:p>
            <a:pPr marL="0" indent="0">
              <a:buNone/>
            </a:pPr>
            <a:r>
              <a:rPr lang="en-US" sz="920" b="1" dirty="0">
                <a:solidFill>
                  <a:srgbClr val="16A34A"/>
                </a:solidFill>
                <a:latin typeface="Calibri" pitchFamily="34" charset="0"/>
                <a:ea typeface="Calibri" pitchFamily="34" charset="-122"/>
                <a:cs typeface="Calibri" pitchFamily="34" charset="-120"/>
              </a:rPr>
              <a:t>✔  </a:t>
            </a:r>
            <a:r>
              <a:rPr lang="en-US" sz="920" b="1" dirty="0">
                <a:solidFill>
                  <a:srgbClr val="065F46"/>
                </a:solidFill>
                <a:latin typeface="Calibri" pitchFamily="34" charset="0"/>
                <a:ea typeface="Calibri" pitchFamily="34" charset="-122"/>
                <a:cs typeface="Calibri" pitchFamily="34" charset="-120"/>
              </a:rPr>
              <a:t>Hành vi tối ưu thông minh: </a:t>
            </a:r>
            <a:r>
              <a:rPr lang="en-US" sz="920" dirty="0">
                <a:solidFill>
                  <a:srgbClr val="475569"/>
                </a:solidFill>
                <a:latin typeface="Calibri" pitchFamily="34" charset="0"/>
                <a:ea typeface="Calibri" pitchFamily="34" charset="-122"/>
                <a:cs typeface="Calibri" pitchFamily="34" charset="-120"/>
              </a:rPr>
              <a:t>Chính sách π* tự động chỉ dẫn Robot tránh xa ô bẫy một khoảng an toàn (đi men theo mép trên) thay vì mạo hiểm đi sát mép bẫy.</a:t>
            </a:r>
            <a:endParaRPr lang="en-US" sz="920" dirty="0"/>
          </a:p>
        </p:txBody>
      </p:sp>
      <p:sp>
        <p:nvSpPr>
          <p:cNvPr id="18" name="Text 16"/>
          <p:cNvSpPr/>
          <p:nvPr/>
        </p:nvSpPr>
        <p:spPr>
          <a:xfrm>
            <a:off x="960120" y="5632704"/>
            <a:ext cx="4114800" cy="502920"/>
          </a:xfrm>
          <a:prstGeom prst="rect">
            <a:avLst/>
          </a:prstGeom>
          <a:noFill/>
          <a:ln/>
        </p:spPr>
        <p:txBody>
          <a:bodyPr wrap="square" lIns="0" tIns="0" rIns="0" bIns="0" rtlCol="0" anchor="ctr"/>
          <a:lstStyle/>
          <a:p>
            <a:pPr marL="0" indent="0">
              <a:buNone/>
            </a:pPr>
            <a:r>
              <a:rPr lang="en-US" sz="920" b="1" dirty="0">
                <a:solidFill>
                  <a:srgbClr val="16A34A"/>
                </a:solidFill>
                <a:latin typeface="Calibri" pitchFamily="34" charset="0"/>
                <a:ea typeface="Calibri" pitchFamily="34" charset="-122"/>
                <a:cs typeface="Calibri" pitchFamily="34" charset="-120"/>
              </a:rPr>
              <a:t>✔  </a:t>
            </a:r>
            <a:r>
              <a:rPr lang="en-US" sz="920" b="1" dirty="0">
                <a:solidFill>
                  <a:srgbClr val="065F46"/>
                </a:solidFill>
                <a:latin typeface="Calibri" pitchFamily="34" charset="0"/>
                <a:ea typeface="Calibri" pitchFamily="34" charset="-122"/>
                <a:cs typeface="Calibri" pitchFamily="34" charset="-120"/>
              </a:rPr>
              <a:t>Bản chất toán học: </a:t>
            </a:r>
            <a:r>
              <a:rPr lang="en-US" sz="920" dirty="0">
                <a:solidFill>
                  <a:srgbClr val="475569"/>
                </a:solidFill>
                <a:latin typeface="Calibri" pitchFamily="34" charset="0"/>
                <a:ea typeface="Calibri" pitchFamily="34" charset="-122"/>
                <a:cs typeface="Calibri" pitchFamily="34" charset="-120"/>
              </a:rPr>
              <a:t>Do có 20% rủi ro bị trượt, kỳ vọng lợi nhuận của đường đi sát bẫy là số âm! Toán học MDP tự động cân bằng giữa chi phí và độ an toàn.</a:t>
            </a:r>
            <a:endParaRPr lang="en-US" sz="920" dirty="0"/>
          </a:p>
        </p:txBody>
      </p:sp>
      <p:sp>
        <p:nvSpPr>
          <p:cNvPr id="19" name="Shape 17"/>
          <p:cNvSpPr/>
          <p:nvPr/>
        </p:nvSpPr>
        <p:spPr>
          <a:xfrm>
            <a:off x="5577840" y="1508760"/>
            <a:ext cx="5879592" cy="4709160"/>
          </a:xfrm>
          <a:prstGeom prst="roundRect">
            <a:avLst>
              <a:gd name="adj" fmla="val 2330"/>
            </a:avLst>
          </a:prstGeom>
          <a:solidFill>
            <a:srgbClr val="FFFFFF"/>
          </a:solidFill>
          <a:ln w="15240">
            <a:solidFill>
              <a:srgbClr val="E2E8F0"/>
            </a:solidFill>
            <a:prstDash val="solid"/>
          </a:ln>
        </p:spPr>
      </p:sp>
      <p:pic>
        <p:nvPicPr>
          <p:cNvPr id="20" name="Image 0" descr="D:\Study\HK5\CSAI\ThuyetTrinhMDP\assets\diagram_gridworld.png"/>
          <p:cNvPicPr>
            <a:picLocks noChangeAspect="1"/>
          </p:cNvPicPr>
          <p:nvPr/>
        </p:nvPicPr>
        <p:blipFill>
          <a:blip r:embed="rId3"/>
          <a:stretch>
            <a:fillRect/>
          </a:stretch>
        </p:blipFill>
        <p:spPr>
          <a:xfrm>
            <a:off x="5715000" y="1645920"/>
            <a:ext cx="5605272" cy="443484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blinds/>
      </p:transition>
    </mc:Choice>
    <mc:Fallback>
      <p:transition>
        <p:blind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childTnLst>
                          </p:cTn>
                        </p:par>
                        <p:par>
                          <p:cTn id="8" fill="hold">
                            <p:stCondLst>
                              <p:cond delay="300"/>
                            </p:stCondLst>
                            <p:childTnLst>
                              <p:par>
                                <p:cTn id="9" presetID="10"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300"/>
                                        <p:tgtEl>
                                          <p:spTgt spid="14"/>
                                        </p:tgtEl>
                                      </p:cBhvr>
                                    </p:animEffect>
                                  </p:childTnLst>
                                </p:cTn>
                              </p:par>
                            </p:childTnLst>
                          </p:cTn>
                        </p:par>
                        <p:par>
                          <p:cTn id="12" fill="hold">
                            <p:stCondLst>
                              <p:cond delay="600"/>
                            </p:stCondLst>
                            <p:childTnLst>
                              <p:par>
                                <p:cTn id="13" presetID="10"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00"/>
                                        <p:tgtEl>
                                          <p:spTgt spid="9"/>
                                        </p:tgtEl>
                                      </p:cBhvr>
                                    </p:animEffect>
                                  </p:childTnLst>
                                </p:cTn>
                              </p:par>
                            </p:childTnLst>
                          </p:cTn>
                        </p:par>
                        <p:par>
                          <p:cTn id="16" fill="hold">
                            <p:stCondLst>
                              <p:cond delay="90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00"/>
                                        <p:tgtEl>
                                          <p:spTgt spid="10"/>
                                        </p:tgtEl>
                                      </p:cBhvr>
                                    </p:animEffect>
                                  </p:childTnLst>
                                </p:cTn>
                              </p:par>
                            </p:childTnLst>
                          </p:cTn>
                        </p:par>
                        <p:par>
                          <p:cTn id="20" fill="hold">
                            <p:stCondLst>
                              <p:cond delay="1200"/>
                            </p:stCondLst>
                            <p:childTnLst>
                              <p:par>
                                <p:cTn id="21" presetID="10"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00"/>
                                        <p:tgtEl>
                                          <p:spTgt spid="11"/>
                                        </p:tgtEl>
                                      </p:cBhvr>
                                    </p:animEffect>
                                  </p:childTnLst>
                                </p:cTn>
                              </p:par>
                            </p:childTnLst>
                          </p:cTn>
                        </p:par>
                        <p:par>
                          <p:cTn id="24" fill="hold">
                            <p:stCondLst>
                              <p:cond delay="1500"/>
                            </p:stCondLst>
                            <p:childTnLst>
                              <p:par>
                                <p:cTn id="25" presetID="10"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300"/>
                                        <p:tgtEl>
                                          <p:spTgt spid="12"/>
                                        </p:tgtEl>
                                      </p:cBhvr>
                                    </p:animEffect>
                                  </p:childTnLst>
                                </p:cTn>
                              </p:par>
                            </p:childTnLst>
                          </p:cTn>
                        </p:par>
                        <p:par>
                          <p:cTn id="28" fill="hold">
                            <p:stCondLst>
                              <p:cond delay="180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00"/>
                                        <p:tgtEl>
                                          <p:spTgt spid="13"/>
                                        </p:tgtEl>
                                      </p:cBhvr>
                                    </p:animEffect>
                                  </p:childTnLst>
                                </p:cTn>
                              </p:par>
                            </p:childTnLst>
                          </p:cTn>
                        </p:par>
                        <p:par>
                          <p:cTn id="32" fill="hold">
                            <p:stCondLst>
                              <p:cond delay="2100"/>
                            </p:stCondLst>
                            <p:childTnLst>
                              <p:par>
                                <p:cTn id="33" presetID="10" presetClass="entr" presetSubtype="0"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00"/>
                                        <p:tgtEl>
                                          <p:spTgt spid="15"/>
                                        </p:tgtEl>
                                      </p:cBhvr>
                                    </p:animEffect>
                                  </p:childTnLst>
                                </p:cTn>
                              </p:par>
                            </p:childTnLst>
                          </p:cTn>
                        </p:par>
                        <p:par>
                          <p:cTn id="36" fill="hold">
                            <p:stCondLst>
                              <p:cond delay="2400"/>
                            </p:stCondLst>
                            <p:childTnLst>
                              <p:par>
                                <p:cTn id="37" presetID="10" presetClass="entr" presetSubtype="0"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300"/>
                                        <p:tgtEl>
                                          <p:spTgt spid="16"/>
                                        </p:tgtEl>
                                      </p:cBhvr>
                                    </p:animEffect>
                                  </p:childTnLst>
                                </p:cTn>
                              </p:par>
                            </p:childTnLst>
                          </p:cTn>
                        </p:par>
                        <p:par>
                          <p:cTn id="40" fill="hold">
                            <p:stCondLst>
                              <p:cond delay="2700"/>
                            </p:stCondLst>
                            <p:childTnLst>
                              <p:par>
                                <p:cTn id="41" presetID="10" presetClass="entr" presetSubtype="0" fill="hold" grpId="0"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300"/>
                                        <p:tgtEl>
                                          <p:spTgt spid="17"/>
                                        </p:tgtEl>
                                      </p:cBhvr>
                                    </p:animEffect>
                                  </p:childTnLst>
                                </p:cTn>
                              </p:par>
                            </p:childTnLst>
                          </p:cTn>
                        </p:par>
                        <p:par>
                          <p:cTn id="44" fill="hold">
                            <p:stCondLst>
                              <p:cond delay="3000"/>
                            </p:stCondLst>
                            <p:childTnLst>
                              <p:par>
                                <p:cTn id="45" presetID="10" presetClass="entr" presetSubtype="0"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300"/>
                                        <p:tgtEl>
                                          <p:spTgt spid="18"/>
                                        </p:tgtEl>
                                      </p:cBhvr>
                                    </p:animEffect>
                                  </p:childTnLst>
                                </p:cTn>
                              </p:par>
                            </p:childTnLst>
                          </p:cTn>
                        </p:par>
                        <p:par>
                          <p:cTn id="48" fill="hold">
                            <p:stCondLst>
                              <p:cond delay="3300"/>
                            </p:stCondLst>
                            <p:childTnLst>
                              <p:par>
                                <p:cTn id="49" presetID="10" presetClass="entr" presetSubtype="0" fill="hold"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300"/>
                                        <p:tgtEl>
                                          <p:spTgt spid="19"/>
                                        </p:tgtEl>
                                      </p:cBhvr>
                                    </p:animEffect>
                                  </p:childTnLst>
                                </p:cTn>
                              </p:par>
                            </p:childTnLst>
                          </p:cTn>
                        </p:par>
                        <p:par>
                          <p:cTn id="52" fill="hold">
                            <p:stCondLst>
                              <p:cond delay="3600"/>
                            </p:stCondLst>
                            <p:childTnLst>
                              <p:par>
                                <p:cTn id="53" presetID="10" presetClass="entr" presetSubtype="0" fill="hold" nodeType="after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3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5" grpId="0" animBg="1"/>
      <p:bldP spid="16" grpId="0" animBg="1"/>
      <p:bldP spid="17" grpId="0" animBg="1"/>
      <p:bldP spid="1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oundRect">
            <a:avLst>
              <a:gd name="adj" fmla="val 28571"/>
            </a:avLst>
          </a:prstGeom>
          <a:solidFill>
            <a:srgbClr val="E0F2FE"/>
          </a:solidFill>
          <a:ln w="12700">
            <a:solidFill>
              <a:srgbClr val="0A7E8C"/>
            </a:solidFill>
            <a:prstDash val="solid"/>
          </a:ln>
        </p:spPr>
      </p:sp>
      <p:sp>
        <p:nvSpPr>
          <p:cNvPr id="3" name="Text 1"/>
          <p:cNvSpPr/>
          <p:nvPr/>
        </p:nvSpPr>
        <p:spPr>
          <a:xfrm>
            <a:off x="731520" y="384048"/>
            <a:ext cx="2560320" cy="256032"/>
          </a:xfrm>
          <a:prstGeom prst="rect">
            <a:avLst/>
          </a:prstGeom>
          <a:noFill/>
          <a:ln/>
        </p:spPr>
        <p:txBody>
          <a:bodyPr wrap="square" lIns="0" tIns="0" rIns="0" bIns="0" rtlCol="0" anchor="ctr"/>
          <a:lstStyle/>
          <a:p>
            <a:pPr marL="0" indent="0" algn="ctr">
              <a:buNone/>
            </a:pPr>
            <a:r>
              <a:rPr lang="en-US" sz="850" b="1" dirty="0">
                <a:solidFill>
                  <a:srgbClr val="0A7E8C"/>
                </a:solidFill>
                <a:latin typeface="Calibri" pitchFamily="34" charset="0"/>
                <a:ea typeface="Calibri" pitchFamily="34" charset="-122"/>
                <a:cs typeface="Calibri" pitchFamily="34" charset="-120"/>
              </a:rPr>
              <a:t>MỞ RỘNG THỰC TẾ</a:t>
            </a:r>
            <a:endParaRPr lang="en-US" sz="850" dirty="0"/>
          </a:p>
        </p:txBody>
      </p:sp>
      <p:sp>
        <p:nvSpPr>
          <p:cNvPr id="4" name="Text 2"/>
          <p:cNvSpPr/>
          <p:nvPr/>
        </p:nvSpPr>
        <p:spPr>
          <a:xfrm>
            <a:off x="731520" y="676656"/>
            <a:ext cx="10725912" cy="438912"/>
          </a:xfrm>
          <a:prstGeom prst="rect">
            <a:avLst/>
          </a:prstGeom>
          <a:noFill/>
          <a:ln/>
        </p:spPr>
        <p:txBody>
          <a:bodyPr wrap="square" lIns="0" tIns="0" rIns="0" bIns="0" rtlCol="0" anchor="ctr"/>
          <a:lstStyle/>
          <a:p>
            <a:pPr marL="0" indent="0">
              <a:buNone/>
            </a:pPr>
            <a:r>
              <a:rPr lang="en-US" sz="2200" b="1" dirty="0">
                <a:solidFill>
                  <a:srgbClr val="0F1B29"/>
                </a:solidFill>
                <a:latin typeface="Arial" pitchFamily="34" charset="0"/>
                <a:ea typeface="Arial" pitchFamily="34" charset="-122"/>
                <a:cs typeface="Arial" pitchFamily="34" charset="-120"/>
              </a:rPr>
              <a:t>Từ Lý Thuyết MDP Sang Thực Tế: Học Tăng Cường (Model-Free RL)</a:t>
            </a:r>
            <a:endParaRPr lang="en-US" sz="2200" dirty="0"/>
          </a:p>
        </p:txBody>
      </p:sp>
      <p:sp>
        <p:nvSpPr>
          <p:cNvPr id="5" name="Text 3"/>
          <p:cNvSpPr/>
          <p:nvPr/>
        </p:nvSpPr>
        <p:spPr>
          <a:xfrm>
            <a:off x="731520" y="1115568"/>
            <a:ext cx="10725912" cy="292608"/>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Khi ma trận xác suất P và hàm thưởng R không thể biết trước trong thế giới thực</a:t>
            </a:r>
            <a:endParaRPr lang="en-US" sz="1200" dirty="0"/>
          </a:p>
        </p:txBody>
      </p:sp>
      <p:sp>
        <p:nvSpPr>
          <p:cNvPr id="6" name="Text 4"/>
          <p:cNvSpPr/>
          <p:nvPr/>
        </p:nvSpPr>
        <p:spPr>
          <a:xfrm>
            <a:off x="731520" y="6446520"/>
            <a:ext cx="7315200" cy="274320"/>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MARKOV DECISION PROCESSES (MDP) • AI &amp; REINFORCEMENT LEARNING</a:t>
            </a:r>
            <a:endParaRPr lang="en-US" sz="850" dirty="0"/>
          </a:p>
        </p:txBody>
      </p:sp>
      <p:sp>
        <p:nvSpPr>
          <p:cNvPr id="7" name="Text 5"/>
          <p:cNvSpPr/>
          <p:nvPr/>
        </p:nvSpPr>
        <p:spPr>
          <a:xfrm>
            <a:off x="9875520" y="6446520"/>
            <a:ext cx="1581912" cy="274320"/>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10 / 12</a:t>
            </a:r>
            <a:endParaRPr lang="en-US" sz="900" dirty="0"/>
          </a:p>
        </p:txBody>
      </p:sp>
      <p:sp>
        <p:nvSpPr>
          <p:cNvPr id="8" name="Shape 6"/>
          <p:cNvSpPr/>
          <p:nvPr/>
        </p:nvSpPr>
        <p:spPr>
          <a:xfrm>
            <a:off x="731520" y="1508760"/>
            <a:ext cx="10725912" cy="1325880"/>
          </a:xfrm>
          <a:prstGeom prst="roundRect">
            <a:avLst>
              <a:gd name="adj" fmla="val 8276"/>
            </a:avLst>
          </a:prstGeom>
          <a:solidFill>
            <a:srgbClr val="FFFFFF"/>
          </a:solidFill>
          <a:ln w="15240">
            <a:solidFill>
              <a:srgbClr val="E2E8F0"/>
            </a:solidFill>
            <a:prstDash val="solid"/>
          </a:ln>
        </p:spPr>
      </p:sp>
      <p:sp>
        <p:nvSpPr>
          <p:cNvPr id="9" name="Shape 7"/>
          <p:cNvSpPr/>
          <p:nvPr/>
        </p:nvSpPr>
        <p:spPr>
          <a:xfrm>
            <a:off x="960120" y="1645920"/>
            <a:ext cx="4937760" cy="1051560"/>
          </a:xfrm>
          <a:prstGeom prst="roundRect">
            <a:avLst>
              <a:gd name="adj" fmla="val 6957"/>
            </a:avLst>
          </a:prstGeom>
          <a:solidFill>
            <a:srgbClr val="F0FDFA"/>
          </a:solidFill>
          <a:ln w="12700">
            <a:solidFill>
              <a:srgbClr val="99F6E4"/>
            </a:solidFill>
            <a:prstDash val="solid"/>
          </a:ln>
        </p:spPr>
      </p:sp>
      <p:sp>
        <p:nvSpPr>
          <p:cNvPr id="10" name="Text 8"/>
          <p:cNvSpPr/>
          <p:nvPr/>
        </p:nvSpPr>
        <p:spPr>
          <a:xfrm>
            <a:off x="1143000" y="1737360"/>
            <a:ext cx="4572000" cy="228600"/>
          </a:xfrm>
          <a:prstGeom prst="rect">
            <a:avLst/>
          </a:prstGeom>
          <a:noFill/>
          <a:ln/>
        </p:spPr>
        <p:txBody>
          <a:bodyPr wrap="square" lIns="0" tIns="0" rIns="0" bIns="0" rtlCol="0" anchor="ctr"/>
          <a:lstStyle/>
          <a:p>
            <a:pPr marL="0" indent="0">
              <a:buNone/>
            </a:pPr>
            <a:r>
              <a:rPr lang="en-US" sz="1050" b="1" dirty="0">
                <a:solidFill>
                  <a:srgbClr val="0A7E8C"/>
                </a:solidFill>
                <a:latin typeface="Arial" pitchFamily="34" charset="0"/>
                <a:ea typeface="Arial" pitchFamily="34" charset="-122"/>
                <a:cs typeface="Arial" pitchFamily="34" charset="-120"/>
              </a:rPr>
              <a:t>LÝ THUYẾT MDP (MODEL-BASED PLANNING)</a:t>
            </a:r>
            <a:endParaRPr lang="en-US" sz="1050" dirty="0"/>
          </a:p>
        </p:txBody>
      </p:sp>
      <p:sp>
        <p:nvSpPr>
          <p:cNvPr id="11" name="Text 9"/>
          <p:cNvSpPr/>
          <p:nvPr/>
        </p:nvSpPr>
        <p:spPr>
          <a:xfrm>
            <a:off x="1143000" y="1993392"/>
            <a:ext cx="4572000" cy="640080"/>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 Đã biết trước toàn bộ ma trận P(s'|s, a) và hàm R(s, a).</a:t>
            </a:r>
            <a:endParaRPr lang="en-US" sz="950" dirty="0"/>
          </a:p>
          <a:p>
            <a:pPr marL="0" indent="0">
              <a:buNone/>
            </a:pPr>
            <a:r>
              <a:rPr lang="en-US" sz="950" dirty="0">
                <a:solidFill>
                  <a:srgbClr val="475569"/>
                </a:solidFill>
                <a:latin typeface="Calibri" pitchFamily="34" charset="0"/>
                <a:ea typeface="Calibri" pitchFamily="34" charset="-122"/>
                <a:cs typeface="Calibri" pitchFamily="34" charset="-120"/>
              </a:rPr>
              <a:t>• Tác tử chỉ cần tính toán giải tích quy hoạch trong bộ nhớ.</a:t>
            </a:r>
            <a:endParaRPr lang="en-US" sz="950" dirty="0"/>
          </a:p>
          <a:p>
            <a:pPr marL="0" indent="0">
              <a:buNone/>
            </a:pPr>
            <a:r>
              <a:rPr lang="en-US" sz="950" dirty="0">
                <a:solidFill>
                  <a:srgbClr val="475569"/>
                </a:solidFill>
                <a:latin typeface="Calibri" pitchFamily="34" charset="0"/>
                <a:ea typeface="Calibri" pitchFamily="34" charset="-122"/>
                <a:cs typeface="Calibri" pitchFamily="34" charset="-120"/>
              </a:rPr>
              <a:t>• Áp dụng khi môi trường nhỏ, quy luật vật lý rõ ràng.</a:t>
            </a:r>
            <a:endParaRPr lang="en-US" sz="950" dirty="0"/>
          </a:p>
        </p:txBody>
      </p:sp>
      <p:sp>
        <p:nvSpPr>
          <p:cNvPr id="12" name="Shape 10"/>
          <p:cNvSpPr/>
          <p:nvPr/>
        </p:nvSpPr>
        <p:spPr>
          <a:xfrm>
            <a:off x="6263640" y="1645920"/>
            <a:ext cx="4937760" cy="1051560"/>
          </a:xfrm>
          <a:prstGeom prst="roundRect">
            <a:avLst>
              <a:gd name="adj" fmla="val 6957"/>
            </a:avLst>
          </a:prstGeom>
          <a:solidFill>
            <a:srgbClr val="FEF3C7"/>
          </a:solidFill>
          <a:ln w="12700">
            <a:solidFill>
              <a:srgbClr val="FDE68A"/>
            </a:solidFill>
            <a:prstDash val="solid"/>
          </a:ln>
        </p:spPr>
      </p:sp>
      <p:sp>
        <p:nvSpPr>
          <p:cNvPr id="13" name="Text 11"/>
          <p:cNvSpPr/>
          <p:nvPr/>
        </p:nvSpPr>
        <p:spPr>
          <a:xfrm>
            <a:off x="6446520" y="1737360"/>
            <a:ext cx="4572000" cy="228600"/>
          </a:xfrm>
          <a:prstGeom prst="rect">
            <a:avLst/>
          </a:prstGeom>
          <a:noFill/>
          <a:ln/>
        </p:spPr>
        <p:txBody>
          <a:bodyPr wrap="square" lIns="0" tIns="0" rIns="0" bIns="0" rtlCol="0" anchor="ctr"/>
          <a:lstStyle/>
          <a:p>
            <a:pPr marL="0" indent="0">
              <a:buNone/>
            </a:pPr>
            <a:r>
              <a:rPr lang="en-US" sz="1050" b="1" dirty="0">
                <a:solidFill>
                  <a:srgbClr val="92400E"/>
                </a:solidFill>
                <a:latin typeface="Arial" pitchFamily="34" charset="0"/>
                <a:ea typeface="Arial" pitchFamily="34" charset="-122"/>
                <a:cs typeface="Arial" pitchFamily="34" charset="-120"/>
              </a:rPr>
              <a:t>THỰC TẾ &amp; HỌC TĂNG CƯỜNG (MODEL-FREE RL)</a:t>
            </a:r>
            <a:endParaRPr lang="en-US" sz="1050" dirty="0"/>
          </a:p>
        </p:txBody>
      </p:sp>
      <p:sp>
        <p:nvSpPr>
          <p:cNvPr id="14" name="Text 12"/>
          <p:cNvSpPr/>
          <p:nvPr/>
        </p:nvSpPr>
        <p:spPr>
          <a:xfrm>
            <a:off x="6446520" y="1993392"/>
            <a:ext cx="4572000" cy="640080"/>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 Không thể biết trước ma trận P và hàm thưởng R trong đời thực.</a:t>
            </a:r>
            <a:endParaRPr lang="en-US" sz="950" dirty="0"/>
          </a:p>
          <a:p>
            <a:pPr marL="0" indent="0">
              <a:buNone/>
            </a:pPr>
            <a:r>
              <a:rPr lang="en-US" sz="950" dirty="0">
                <a:solidFill>
                  <a:srgbClr val="475569"/>
                </a:solidFill>
                <a:latin typeface="Calibri" pitchFamily="34" charset="0"/>
                <a:ea typeface="Calibri" pitchFamily="34" charset="-122"/>
                <a:cs typeface="Calibri" pitchFamily="34" charset="-120"/>
              </a:rPr>
              <a:t>• Tác tử phải tương tác trực tiếp qua Thử - Sai (Trial-and-Error).</a:t>
            </a:r>
            <a:endParaRPr lang="en-US" sz="950" dirty="0"/>
          </a:p>
          <a:p>
            <a:pPr marL="0" indent="0">
              <a:buNone/>
            </a:pPr>
            <a:r>
              <a:rPr lang="en-US" sz="950" dirty="0">
                <a:solidFill>
                  <a:srgbClr val="475569"/>
                </a:solidFill>
                <a:latin typeface="Calibri" pitchFamily="34" charset="0"/>
                <a:ea typeface="Calibri" pitchFamily="34" charset="-122"/>
                <a:cs typeface="Calibri" pitchFamily="34" charset="-120"/>
              </a:rPr>
              <a:t>• Thu thập chuỗi kinh nghiệm mẫu (s, a, r, s') để xấp xỉ kỳ vọng.</a:t>
            </a:r>
            <a:endParaRPr lang="en-US" sz="950" dirty="0"/>
          </a:p>
        </p:txBody>
      </p:sp>
      <p:sp>
        <p:nvSpPr>
          <p:cNvPr id="15" name="Shape 13"/>
          <p:cNvSpPr/>
          <p:nvPr/>
        </p:nvSpPr>
        <p:spPr>
          <a:xfrm>
            <a:off x="731520" y="3017520"/>
            <a:ext cx="3374136" cy="3200400"/>
          </a:xfrm>
          <a:prstGeom prst="roundRect">
            <a:avLst>
              <a:gd name="adj" fmla="val 3429"/>
            </a:avLst>
          </a:prstGeom>
          <a:solidFill>
            <a:srgbClr val="FFFFFF"/>
          </a:solidFill>
          <a:ln w="15240">
            <a:solidFill>
              <a:srgbClr val="E2E8F0"/>
            </a:solidFill>
            <a:prstDash val="solid"/>
          </a:ln>
        </p:spPr>
      </p:sp>
      <p:sp>
        <p:nvSpPr>
          <p:cNvPr id="16" name="Text 14"/>
          <p:cNvSpPr/>
          <p:nvPr/>
        </p:nvSpPr>
        <p:spPr>
          <a:xfrm>
            <a:off x="960120" y="3200400"/>
            <a:ext cx="2916936" cy="256032"/>
          </a:xfrm>
          <a:prstGeom prst="rect">
            <a:avLst/>
          </a:prstGeom>
          <a:noFill/>
          <a:ln/>
        </p:spPr>
        <p:txBody>
          <a:bodyPr wrap="square" lIns="0" tIns="0" rIns="0" bIns="0" rtlCol="0" anchor="ctr"/>
          <a:lstStyle/>
          <a:p>
            <a:pPr marL="0" indent="0">
              <a:buNone/>
            </a:pPr>
            <a:r>
              <a:rPr lang="en-US" sz="1100" b="1" dirty="0">
                <a:solidFill>
                  <a:srgbClr val="0284C7"/>
                </a:solidFill>
                <a:latin typeface="Arial" pitchFamily="34" charset="0"/>
                <a:ea typeface="Arial" pitchFamily="34" charset="-122"/>
                <a:cs typeface="Arial" pitchFamily="34" charset="-120"/>
              </a:rPr>
              <a:t>MONTE CARLO (MC)</a:t>
            </a:r>
            <a:endParaRPr lang="en-US" sz="1100" dirty="0"/>
          </a:p>
        </p:txBody>
      </p:sp>
      <p:sp>
        <p:nvSpPr>
          <p:cNvPr id="17" name="Text 15"/>
          <p:cNvSpPr/>
          <p:nvPr/>
        </p:nvSpPr>
        <p:spPr>
          <a:xfrm>
            <a:off x="960120" y="3474720"/>
            <a:ext cx="2916936" cy="228600"/>
          </a:xfrm>
          <a:prstGeom prst="rect">
            <a:avLst/>
          </a:prstGeom>
          <a:noFill/>
          <a:ln/>
        </p:spPr>
        <p:txBody>
          <a:bodyPr wrap="square" lIns="0" tIns="0" rIns="0" bIns="0" rtlCol="0" anchor="ctr"/>
          <a:lstStyle/>
          <a:p>
            <a:pPr marL="0" indent="0">
              <a:buNone/>
            </a:pPr>
            <a:r>
              <a:rPr lang="en-US" sz="950" b="1" dirty="0">
                <a:solidFill>
                  <a:srgbClr val="0F1B29"/>
                </a:solidFill>
                <a:latin typeface="Calibri" pitchFamily="34" charset="0"/>
                <a:ea typeface="Calibri" pitchFamily="34" charset="-122"/>
                <a:cs typeface="Calibri" pitchFamily="34" charset="-120"/>
              </a:rPr>
              <a:t>Học từ các ván chơi hoàn chỉnh (Episodes)</a:t>
            </a:r>
            <a:endParaRPr lang="en-US" sz="950" dirty="0"/>
          </a:p>
        </p:txBody>
      </p:sp>
      <p:sp>
        <p:nvSpPr>
          <p:cNvPr id="18" name="Text 16"/>
          <p:cNvSpPr/>
          <p:nvPr/>
        </p:nvSpPr>
        <p:spPr>
          <a:xfrm>
            <a:off x="960120" y="3794760"/>
            <a:ext cx="2916936" cy="224028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Cập nhật giá trị V(s) hoặc Q(s, a) sau khi hoàn thành toàn bộ một episode. Ước lượng kỳ vọng bằng trung bình mẫu thực tế của tổng lợi nhuận Gt thu được.</a:t>
            </a:r>
            <a:endParaRPr lang="en-US" sz="900" dirty="0"/>
          </a:p>
          <a:p>
            <a:pPr marL="0" indent="0">
              <a:buNone/>
            </a:pPr>
            <a:endParaRPr lang="en-US" sz="900" dirty="0"/>
          </a:p>
          <a:p>
            <a:pPr marL="0" indent="0">
              <a:buNone/>
            </a:pPr>
            <a:r>
              <a:rPr lang="en-US" sz="900" dirty="0">
                <a:solidFill>
                  <a:srgbClr val="475569"/>
                </a:solidFill>
                <a:latin typeface="Calibri" pitchFamily="34" charset="0"/>
                <a:ea typeface="Calibri" pitchFamily="34" charset="-122"/>
                <a:cs typeface="Calibri" pitchFamily="34" charset="-120"/>
              </a:rPr>
              <a:t>✔ Đơn giản, không phụ thuộc giả định mô hình.</a:t>
            </a:r>
            <a:endParaRPr lang="en-US" sz="900" dirty="0"/>
          </a:p>
          <a:p>
            <a:pPr marL="0" indent="0">
              <a:buNone/>
            </a:pPr>
            <a:r>
              <a:rPr lang="en-US" sz="900" dirty="0">
                <a:solidFill>
                  <a:srgbClr val="475569"/>
                </a:solidFill>
                <a:latin typeface="Calibri" pitchFamily="34" charset="0"/>
                <a:ea typeface="Calibri" pitchFamily="34" charset="-122"/>
                <a:cs typeface="Calibri" pitchFamily="34" charset="-120"/>
              </a:rPr>
              <a:t>✖ Phải đợi hết ván mới cập nhật; phương sai mẫu cao.</a:t>
            </a:r>
            <a:endParaRPr lang="en-US" sz="900" dirty="0"/>
          </a:p>
        </p:txBody>
      </p:sp>
      <p:sp>
        <p:nvSpPr>
          <p:cNvPr id="19" name="Shape 17"/>
          <p:cNvSpPr/>
          <p:nvPr/>
        </p:nvSpPr>
        <p:spPr>
          <a:xfrm>
            <a:off x="4407408" y="3017520"/>
            <a:ext cx="3374136" cy="3200400"/>
          </a:xfrm>
          <a:prstGeom prst="roundRect">
            <a:avLst>
              <a:gd name="adj" fmla="val 3429"/>
            </a:avLst>
          </a:prstGeom>
          <a:solidFill>
            <a:srgbClr val="FFFFFF"/>
          </a:solidFill>
          <a:ln w="19050">
            <a:solidFill>
              <a:srgbClr val="D97706"/>
            </a:solidFill>
            <a:prstDash val="solid"/>
          </a:ln>
        </p:spPr>
      </p:sp>
      <p:sp>
        <p:nvSpPr>
          <p:cNvPr id="20" name="Text 18"/>
          <p:cNvSpPr/>
          <p:nvPr/>
        </p:nvSpPr>
        <p:spPr>
          <a:xfrm>
            <a:off x="4636008" y="3200400"/>
            <a:ext cx="2916936" cy="256032"/>
          </a:xfrm>
          <a:prstGeom prst="rect">
            <a:avLst/>
          </a:prstGeom>
          <a:noFill/>
          <a:ln/>
        </p:spPr>
        <p:txBody>
          <a:bodyPr wrap="square" lIns="0" tIns="0" rIns="0" bIns="0" rtlCol="0" anchor="ctr"/>
          <a:lstStyle/>
          <a:p>
            <a:pPr marL="0" indent="0">
              <a:buNone/>
            </a:pPr>
            <a:r>
              <a:rPr lang="en-US" sz="1100" b="1" dirty="0">
                <a:solidFill>
                  <a:srgbClr val="92400E"/>
                </a:solidFill>
                <a:latin typeface="Arial" pitchFamily="34" charset="0"/>
                <a:ea typeface="Arial" pitchFamily="34" charset="-122"/>
                <a:cs typeface="Arial" pitchFamily="34" charset="-120"/>
              </a:rPr>
              <a:t>TEMPORAL DIFFERENCE &amp; Q-LEARNING</a:t>
            </a:r>
            <a:endParaRPr lang="en-US" sz="1100" dirty="0"/>
          </a:p>
        </p:txBody>
      </p:sp>
      <p:sp>
        <p:nvSpPr>
          <p:cNvPr id="21" name="Text 19"/>
          <p:cNvSpPr/>
          <p:nvPr/>
        </p:nvSpPr>
        <p:spPr>
          <a:xfrm>
            <a:off x="4636008" y="3474720"/>
            <a:ext cx="2916936" cy="228600"/>
          </a:xfrm>
          <a:prstGeom prst="rect">
            <a:avLst/>
          </a:prstGeom>
          <a:noFill/>
          <a:ln/>
        </p:spPr>
        <p:txBody>
          <a:bodyPr wrap="square" lIns="0" tIns="0" rIns="0" bIns="0" rtlCol="0" anchor="ctr"/>
          <a:lstStyle/>
          <a:p>
            <a:pPr marL="0" indent="0">
              <a:buNone/>
            </a:pPr>
            <a:r>
              <a:rPr lang="en-US" sz="950" b="1" dirty="0">
                <a:solidFill>
                  <a:srgbClr val="0F1B29"/>
                </a:solidFill>
                <a:latin typeface="Calibri" pitchFamily="34" charset="0"/>
                <a:ea typeface="Calibri" pitchFamily="34" charset="-122"/>
                <a:cs typeface="Calibri" pitchFamily="34" charset="-120"/>
              </a:rPr>
              <a:t>Học ngay sau từng bước đi đơn lẻ</a:t>
            </a:r>
            <a:endParaRPr lang="en-US" sz="950" dirty="0"/>
          </a:p>
        </p:txBody>
      </p:sp>
      <p:sp>
        <p:nvSpPr>
          <p:cNvPr id="22" name="Text 20"/>
          <p:cNvSpPr/>
          <p:nvPr/>
        </p:nvSpPr>
        <p:spPr>
          <a:xfrm>
            <a:off x="4636008" y="3794760"/>
            <a:ext cx="2916936" cy="594360"/>
          </a:xfrm>
          <a:prstGeom prst="rect">
            <a:avLst/>
          </a:prstGeom>
          <a:noFill/>
          <a:ln/>
        </p:spPr>
        <p:txBody>
          <a:bodyPr wrap="square" lIns="0" tIns="0" rIns="0" bIns="0" rtlCol="0" anchor="ctr"/>
          <a:lstStyle/>
          <a:p>
            <a:pPr marL="0" indent="0">
              <a:buNone/>
            </a:pPr>
            <a:r>
              <a:rPr lang="en-US" sz="880" dirty="0">
                <a:solidFill>
                  <a:srgbClr val="475569"/>
                </a:solidFill>
                <a:latin typeface="Calibri" pitchFamily="34" charset="0"/>
                <a:ea typeface="Calibri" pitchFamily="34" charset="-122"/>
                <a:cs typeface="Calibri" pitchFamily="34" charset="-120"/>
              </a:rPr>
              <a:t>Cập nhật giá trị ngay lập tức sau mỗi bước chuyển (s, a, r, s') bằng nguyên lý Bootstrapping (dùng ước lượng để cập nhật ước lượng):</a:t>
            </a:r>
            <a:endParaRPr lang="en-US" sz="880" dirty="0"/>
          </a:p>
        </p:txBody>
      </p:sp>
      <p:pic>
        <p:nvPicPr>
          <p:cNvPr id="23" name="Image 0" descr="D:\Study\HK5\CSAI\ThuyetTrinhMDP\assets\formula_q_learning.png"/>
          <p:cNvPicPr>
            <a:picLocks noChangeAspect="1"/>
          </p:cNvPicPr>
          <p:nvPr/>
        </p:nvPicPr>
        <p:blipFill>
          <a:blip r:embed="rId3"/>
          <a:stretch>
            <a:fillRect/>
          </a:stretch>
        </p:blipFill>
        <p:spPr>
          <a:xfrm>
            <a:off x="4526280" y="4434840"/>
            <a:ext cx="3136392" cy="594360"/>
          </a:xfrm>
          <a:prstGeom prst="rect">
            <a:avLst/>
          </a:prstGeom>
        </p:spPr>
      </p:pic>
      <p:sp>
        <p:nvSpPr>
          <p:cNvPr id="24" name="Text 21"/>
          <p:cNvSpPr/>
          <p:nvPr/>
        </p:nvSpPr>
        <p:spPr>
          <a:xfrm>
            <a:off x="4636008" y="5166360"/>
            <a:ext cx="2916936" cy="868680"/>
          </a:xfrm>
          <a:prstGeom prst="rect">
            <a:avLst/>
          </a:prstGeom>
          <a:noFill/>
          <a:ln/>
        </p:spPr>
        <p:txBody>
          <a:bodyPr wrap="square" lIns="0" tIns="0" rIns="0" bIns="0" rtlCol="0" anchor="ctr"/>
          <a:lstStyle/>
          <a:p>
            <a:pPr marL="0" indent="0">
              <a:buNone/>
            </a:pPr>
            <a:r>
              <a:rPr lang="en-US" sz="880" dirty="0">
                <a:solidFill>
                  <a:srgbClr val="475569"/>
                </a:solidFill>
                <a:latin typeface="Calibri" pitchFamily="34" charset="0"/>
                <a:ea typeface="Calibri" pitchFamily="34" charset="-122"/>
                <a:cs typeface="Calibri" pitchFamily="34" charset="-120"/>
              </a:rPr>
              <a:t>✔ Hội tụ chắc chắn về Q*(s, a) tối ưu mà không cần bất kỳ thông tin nào về mô hình môi trường P và R.</a:t>
            </a:r>
            <a:endParaRPr lang="en-US" sz="880" dirty="0"/>
          </a:p>
        </p:txBody>
      </p:sp>
      <p:sp>
        <p:nvSpPr>
          <p:cNvPr id="25" name="Shape 22"/>
          <p:cNvSpPr/>
          <p:nvPr/>
        </p:nvSpPr>
        <p:spPr>
          <a:xfrm>
            <a:off x="8083296" y="3017520"/>
            <a:ext cx="3374136" cy="3200400"/>
          </a:xfrm>
          <a:prstGeom prst="roundRect">
            <a:avLst>
              <a:gd name="adj" fmla="val 3429"/>
            </a:avLst>
          </a:prstGeom>
          <a:solidFill>
            <a:srgbClr val="FFFFFF"/>
          </a:solidFill>
          <a:ln w="15240">
            <a:solidFill>
              <a:srgbClr val="E2E8F0"/>
            </a:solidFill>
            <a:prstDash val="solid"/>
          </a:ln>
        </p:spPr>
      </p:sp>
      <p:sp>
        <p:nvSpPr>
          <p:cNvPr id="26" name="Text 23"/>
          <p:cNvSpPr/>
          <p:nvPr/>
        </p:nvSpPr>
        <p:spPr>
          <a:xfrm>
            <a:off x="8311896" y="3200400"/>
            <a:ext cx="2916936" cy="256032"/>
          </a:xfrm>
          <a:prstGeom prst="rect">
            <a:avLst/>
          </a:prstGeom>
          <a:noFill/>
          <a:ln/>
        </p:spPr>
        <p:txBody>
          <a:bodyPr wrap="square" lIns="0" tIns="0" rIns="0" bIns="0" rtlCol="0" anchor="ctr"/>
          <a:lstStyle/>
          <a:p>
            <a:pPr marL="0" indent="0">
              <a:buNone/>
            </a:pPr>
            <a:r>
              <a:rPr lang="en-US" sz="1100" b="1" dirty="0">
                <a:solidFill>
                  <a:srgbClr val="0A7E8C"/>
                </a:solidFill>
                <a:latin typeface="Arial" pitchFamily="34" charset="0"/>
                <a:ea typeface="Arial" pitchFamily="34" charset="-122"/>
                <a:cs typeface="Arial" pitchFamily="34" charset="-120"/>
              </a:rPr>
              <a:t>DEEP REINFORCEMENT LEARNING</a:t>
            </a:r>
            <a:endParaRPr lang="en-US" sz="1100" dirty="0"/>
          </a:p>
        </p:txBody>
      </p:sp>
      <p:sp>
        <p:nvSpPr>
          <p:cNvPr id="27" name="Text 24"/>
          <p:cNvSpPr/>
          <p:nvPr/>
        </p:nvSpPr>
        <p:spPr>
          <a:xfrm>
            <a:off x="8311896" y="3474720"/>
            <a:ext cx="2916936" cy="228600"/>
          </a:xfrm>
          <a:prstGeom prst="rect">
            <a:avLst/>
          </a:prstGeom>
          <a:noFill/>
          <a:ln/>
        </p:spPr>
        <p:txBody>
          <a:bodyPr wrap="square" lIns="0" tIns="0" rIns="0" bIns="0" rtlCol="0" anchor="ctr"/>
          <a:lstStyle/>
          <a:p>
            <a:pPr marL="0" indent="0">
              <a:buNone/>
            </a:pPr>
            <a:r>
              <a:rPr lang="en-US" sz="950" b="1" dirty="0">
                <a:solidFill>
                  <a:srgbClr val="0F1B29"/>
                </a:solidFill>
                <a:latin typeface="Calibri" pitchFamily="34" charset="0"/>
                <a:ea typeface="Calibri" pitchFamily="34" charset="-122"/>
                <a:cs typeface="Calibri" pitchFamily="34" charset="-120"/>
              </a:rPr>
              <a:t>Xấp xỉ hàm giá trị bằng Deep Neural Networks</a:t>
            </a:r>
            <a:endParaRPr lang="en-US" sz="950" dirty="0"/>
          </a:p>
        </p:txBody>
      </p:sp>
      <p:sp>
        <p:nvSpPr>
          <p:cNvPr id="28" name="Text 25"/>
          <p:cNvSpPr/>
          <p:nvPr/>
        </p:nvSpPr>
        <p:spPr>
          <a:xfrm>
            <a:off x="8311896" y="3794760"/>
            <a:ext cx="2916936" cy="224028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Khi không gian trạng thái S mang tính liên tục hoặc bùng nổ tổ hợp cực lớn (cờ vây 10^{170}, xe tự lái, cảm biến thị giác camera).</a:t>
            </a:r>
            <a:endParaRPr lang="en-US" sz="900" dirty="0"/>
          </a:p>
          <a:p>
            <a:pPr marL="0" indent="0">
              <a:buNone/>
            </a:pPr>
            <a:endParaRPr lang="en-US" sz="900" dirty="0"/>
          </a:p>
          <a:p>
            <a:pPr marL="0" indent="0">
              <a:buNone/>
            </a:pPr>
            <a:r>
              <a:rPr lang="en-US" sz="900" dirty="0">
                <a:solidFill>
                  <a:srgbClr val="475569"/>
                </a:solidFill>
                <a:latin typeface="Calibri" pitchFamily="34" charset="0"/>
                <a:ea typeface="Calibri" pitchFamily="34" charset="-122"/>
                <a:cs typeface="Calibri" pitchFamily="34" charset="-120"/>
              </a:rPr>
              <a:t>Dùng mạng nơ-ron sâu (DQN, PPO, Actor-Critic) để xấp xỉ Q(s, a; θ) hoặc chính sách π(a | s; θ), biến lý thuyết MDP thành các kỳ tích AI đỉnh cao trong thực tế.</a:t>
            </a:r>
            <a:endParaRPr lang="en-US" sz="900" dirty="0"/>
          </a:p>
        </p:txBody>
      </p:sp>
    </p:spTree>
  </p:cSld>
  <p:clrMapOvr>
    <a:masterClrMapping/>
  </p:clrMapOvr>
  <mc:AlternateContent xmlns:mc="http://schemas.openxmlformats.org/markup-compatibility/2006">
    <mc:Choice xmlns:p14="http://schemas.microsoft.com/office/powerpoint/2010/main" Requires="p14">
      <p:transition p14:dur="400">
        <p:blinds/>
      </p:transition>
    </mc:Choice>
    <mc:Fallback>
      <p:transition>
        <p:blind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childTnLst>
                          </p:cTn>
                        </p:par>
                        <p:par>
                          <p:cTn id="8" fill="hold">
                            <p:stCondLst>
                              <p:cond delay="300"/>
                            </p:stCondLst>
                            <p:childTnLst>
                              <p:par>
                                <p:cTn id="9" presetID="10" presetClass="entr" presetSubtype="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300"/>
                                        <p:tgtEl>
                                          <p:spTgt spid="15"/>
                                        </p:tgtEl>
                                      </p:cBhvr>
                                    </p:animEffect>
                                  </p:childTnLst>
                                </p:cTn>
                              </p:par>
                            </p:childTnLst>
                          </p:cTn>
                        </p:par>
                        <p:par>
                          <p:cTn id="12" fill="hold">
                            <p:stCondLst>
                              <p:cond delay="6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00"/>
                                        <p:tgtEl>
                                          <p:spTgt spid="9"/>
                                        </p:tgtEl>
                                      </p:cBhvr>
                                    </p:animEffect>
                                  </p:childTnLst>
                                </p:cTn>
                              </p:par>
                            </p:childTnLst>
                          </p:cTn>
                        </p:par>
                        <p:par>
                          <p:cTn id="16" fill="hold">
                            <p:stCondLst>
                              <p:cond delay="90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00"/>
                                        <p:tgtEl>
                                          <p:spTgt spid="10"/>
                                        </p:tgtEl>
                                      </p:cBhvr>
                                    </p:animEffect>
                                  </p:childTnLst>
                                </p:cTn>
                              </p:par>
                            </p:childTnLst>
                          </p:cTn>
                        </p:par>
                        <p:par>
                          <p:cTn id="20" fill="hold">
                            <p:stCondLst>
                              <p:cond delay="1200"/>
                            </p:stCondLst>
                            <p:childTnLst>
                              <p:par>
                                <p:cTn id="21" presetID="10"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00"/>
                                        <p:tgtEl>
                                          <p:spTgt spid="11"/>
                                        </p:tgtEl>
                                      </p:cBhvr>
                                    </p:animEffect>
                                  </p:childTnLst>
                                </p:cTn>
                              </p:par>
                            </p:childTnLst>
                          </p:cTn>
                        </p:par>
                        <p:par>
                          <p:cTn id="24" fill="hold">
                            <p:stCondLst>
                              <p:cond delay="1500"/>
                            </p:stCondLst>
                            <p:childTnLst>
                              <p:par>
                                <p:cTn id="25" presetID="10" presetClass="entr" presetSubtype="0"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300"/>
                                        <p:tgtEl>
                                          <p:spTgt spid="16"/>
                                        </p:tgtEl>
                                      </p:cBhvr>
                                    </p:animEffect>
                                  </p:childTnLst>
                                </p:cTn>
                              </p:par>
                            </p:childTnLst>
                          </p:cTn>
                        </p:par>
                        <p:par>
                          <p:cTn id="28" fill="hold">
                            <p:stCondLst>
                              <p:cond delay="1800"/>
                            </p:stCondLst>
                            <p:childTnLst>
                              <p:par>
                                <p:cTn id="29" presetID="10" presetClass="entr" presetSubtype="0" fill="hold" grpId="0" nodeType="after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300"/>
                                        <p:tgtEl>
                                          <p:spTgt spid="17"/>
                                        </p:tgtEl>
                                      </p:cBhvr>
                                    </p:animEffect>
                                  </p:childTnLst>
                                </p:cTn>
                              </p:par>
                            </p:childTnLst>
                          </p:cTn>
                        </p:par>
                        <p:par>
                          <p:cTn id="32" fill="hold">
                            <p:stCondLst>
                              <p:cond delay="2100"/>
                            </p:stCondLst>
                            <p:childTnLst>
                              <p:par>
                                <p:cTn id="33" presetID="10" presetClass="entr" presetSubtype="0"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300"/>
                                        <p:tgtEl>
                                          <p:spTgt spid="18"/>
                                        </p:tgtEl>
                                      </p:cBhvr>
                                    </p:animEffect>
                                  </p:childTnLst>
                                </p:cTn>
                              </p:par>
                            </p:childTnLst>
                          </p:cTn>
                        </p:par>
                        <p:par>
                          <p:cTn id="36" fill="hold">
                            <p:stCondLst>
                              <p:cond delay="2400"/>
                            </p:stCondLst>
                            <p:childTnLst>
                              <p:par>
                                <p:cTn id="37" presetID="10" presetClass="entr" presetSubtype="0" fill="hold" nodeType="after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300"/>
                                        <p:tgtEl>
                                          <p:spTgt spid="19"/>
                                        </p:tgtEl>
                                      </p:cBhvr>
                                    </p:animEffect>
                                  </p:childTnLst>
                                </p:cTn>
                              </p:par>
                            </p:childTnLst>
                          </p:cTn>
                        </p:par>
                        <p:par>
                          <p:cTn id="40" fill="hold">
                            <p:stCondLst>
                              <p:cond delay="2700"/>
                            </p:stCondLst>
                            <p:childTnLst>
                              <p:par>
                                <p:cTn id="41" presetID="10" presetClass="entr" presetSubtype="0" fill="hold" grpId="0"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300"/>
                                        <p:tgtEl>
                                          <p:spTgt spid="20"/>
                                        </p:tgtEl>
                                      </p:cBhvr>
                                    </p:animEffect>
                                  </p:childTnLst>
                                </p:cTn>
                              </p:par>
                            </p:childTnLst>
                          </p:cTn>
                        </p:par>
                        <p:par>
                          <p:cTn id="44" fill="hold">
                            <p:stCondLst>
                              <p:cond delay="3000"/>
                            </p:stCondLst>
                            <p:childTnLst>
                              <p:par>
                                <p:cTn id="45" presetID="10" presetClass="entr" presetSubtype="0" fill="hold" grpId="0" nodeType="after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300"/>
                                        <p:tgtEl>
                                          <p:spTgt spid="21"/>
                                        </p:tgtEl>
                                      </p:cBhvr>
                                    </p:animEffect>
                                  </p:childTnLst>
                                </p:cTn>
                              </p:par>
                            </p:childTnLst>
                          </p:cTn>
                        </p:par>
                        <p:par>
                          <p:cTn id="48" fill="hold">
                            <p:stCondLst>
                              <p:cond delay="3300"/>
                            </p:stCondLst>
                            <p:childTnLst>
                              <p:par>
                                <p:cTn id="49" presetID="10" presetClass="entr" presetSubtype="0" fill="hold" grpId="0" nodeType="after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300"/>
                                        <p:tgtEl>
                                          <p:spTgt spid="22"/>
                                        </p:tgtEl>
                                      </p:cBhvr>
                                    </p:animEffect>
                                  </p:childTnLst>
                                </p:cTn>
                              </p:par>
                            </p:childTnLst>
                          </p:cTn>
                        </p:par>
                        <p:par>
                          <p:cTn id="52" fill="hold">
                            <p:stCondLst>
                              <p:cond delay="3600"/>
                            </p:stCondLst>
                            <p:childTnLst>
                              <p:par>
                                <p:cTn id="53" presetID="10" presetClass="entr" presetSubtype="0" fill="hold" nodeType="after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300"/>
                                        <p:tgtEl>
                                          <p:spTgt spid="23"/>
                                        </p:tgtEl>
                                      </p:cBhvr>
                                    </p:animEffect>
                                  </p:childTnLst>
                                </p:cTn>
                              </p:par>
                            </p:childTnLst>
                          </p:cTn>
                        </p:par>
                        <p:par>
                          <p:cTn id="56" fill="hold">
                            <p:stCondLst>
                              <p:cond delay="3900"/>
                            </p:stCondLst>
                            <p:childTnLst>
                              <p:par>
                                <p:cTn id="57" presetID="10" presetClass="entr" presetSubtype="0" fill="hold" grpId="0" nodeType="after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300"/>
                                        <p:tgtEl>
                                          <p:spTgt spid="24"/>
                                        </p:tgtEl>
                                      </p:cBhvr>
                                    </p:animEffect>
                                  </p:childTnLst>
                                </p:cTn>
                              </p:par>
                            </p:childTnLst>
                          </p:cTn>
                        </p:par>
                        <p:par>
                          <p:cTn id="60" fill="hold">
                            <p:stCondLst>
                              <p:cond delay="4200"/>
                            </p:stCondLst>
                            <p:childTnLst>
                              <p:par>
                                <p:cTn id="61" presetID="10" presetClass="entr" presetSubtype="0" fill="hold" nodeType="after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300"/>
                                        <p:tgtEl>
                                          <p:spTgt spid="12"/>
                                        </p:tgtEl>
                                      </p:cBhvr>
                                    </p:animEffect>
                                  </p:childTnLst>
                                </p:cTn>
                              </p:par>
                            </p:childTnLst>
                          </p:cTn>
                        </p:par>
                        <p:par>
                          <p:cTn id="64" fill="hold">
                            <p:stCondLst>
                              <p:cond delay="4500"/>
                            </p:stCondLst>
                            <p:childTnLst>
                              <p:par>
                                <p:cTn id="65" presetID="10" presetClass="entr" presetSubtype="0" fill="hold" grpId="0" nodeType="after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fade">
                                      <p:cBhvr>
                                        <p:cTn id="67" dur="300"/>
                                        <p:tgtEl>
                                          <p:spTgt spid="13"/>
                                        </p:tgtEl>
                                      </p:cBhvr>
                                    </p:animEffect>
                                  </p:childTnLst>
                                </p:cTn>
                              </p:par>
                            </p:childTnLst>
                          </p:cTn>
                        </p:par>
                        <p:par>
                          <p:cTn id="68" fill="hold">
                            <p:stCondLst>
                              <p:cond delay="4800"/>
                            </p:stCondLst>
                            <p:childTnLst>
                              <p:par>
                                <p:cTn id="69" presetID="10" presetClass="entr" presetSubtype="0" fill="hold" grpId="0" nodeType="after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300"/>
                                        <p:tgtEl>
                                          <p:spTgt spid="14"/>
                                        </p:tgtEl>
                                      </p:cBhvr>
                                    </p:animEffect>
                                  </p:childTnLst>
                                </p:cTn>
                              </p:par>
                            </p:childTnLst>
                          </p:cTn>
                        </p:par>
                        <p:par>
                          <p:cTn id="72" fill="hold">
                            <p:stCondLst>
                              <p:cond delay="5100"/>
                            </p:stCondLst>
                            <p:childTnLst>
                              <p:par>
                                <p:cTn id="73" presetID="10" presetClass="entr" presetSubtype="0" fill="hold" nodeType="after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300"/>
                                        <p:tgtEl>
                                          <p:spTgt spid="25"/>
                                        </p:tgtEl>
                                      </p:cBhvr>
                                    </p:animEffect>
                                  </p:childTnLst>
                                </p:cTn>
                              </p:par>
                            </p:childTnLst>
                          </p:cTn>
                        </p:par>
                        <p:par>
                          <p:cTn id="76" fill="hold">
                            <p:stCondLst>
                              <p:cond delay="5400"/>
                            </p:stCondLst>
                            <p:childTnLst>
                              <p:par>
                                <p:cTn id="77" presetID="10" presetClass="entr" presetSubtype="0" fill="hold" grpId="0" nodeType="after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300"/>
                                        <p:tgtEl>
                                          <p:spTgt spid="26"/>
                                        </p:tgtEl>
                                      </p:cBhvr>
                                    </p:animEffect>
                                  </p:childTnLst>
                                </p:cTn>
                              </p:par>
                            </p:childTnLst>
                          </p:cTn>
                        </p:par>
                        <p:par>
                          <p:cTn id="80" fill="hold">
                            <p:stCondLst>
                              <p:cond delay="5700"/>
                            </p:stCondLst>
                            <p:childTnLst>
                              <p:par>
                                <p:cTn id="81" presetID="10" presetClass="entr" presetSubtype="0" fill="hold" grpId="0" nodeType="after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300"/>
                                        <p:tgtEl>
                                          <p:spTgt spid="27"/>
                                        </p:tgtEl>
                                      </p:cBhvr>
                                    </p:animEffect>
                                  </p:childTnLst>
                                </p:cTn>
                              </p:par>
                            </p:childTnLst>
                          </p:cTn>
                        </p:par>
                        <p:par>
                          <p:cTn id="84" fill="hold">
                            <p:stCondLst>
                              <p:cond delay="6000"/>
                            </p:stCondLst>
                            <p:childTnLst>
                              <p:par>
                                <p:cTn id="85" presetID="10" presetClass="entr" presetSubtype="0" fill="hold" grpId="0" nodeType="after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3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6" grpId="0" animBg="1"/>
      <p:bldP spid="17" grpId="0" animBg="1"/>
      <p:bldP spid="18" grpId="0" animBg="1"/>
      <p:bldP spid="20" grpId="0" animBg="1"/>
      <p:bldP spid="21" grpId="0" animBg="1"/>
      <p:bldP spid="22" grpId="0" animBg="1"/>
      <p:bldP spid="24" grpId="0" animBg="1"/>
      <p:bldP spid="26" grpId="0" animBg="1"/>
      <p:bldP spid="27" grpId="0" animBg="1"/>
      <p:bldP spid="2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oundRect">
            <a:avLst>
              <a:gd name="adj" fmla="val 28571"/>
            </a:avLst>
          </a:prstGeom>
          <a:solidFill>
            <a:srgbClr val="E0F2FE"/>
          </a:solidFill>
          <a:ln w="12700">
            <a:solidFill>
              <a:srgbClr val="0A7E8C"/>
            </a:solidFill>
            <a:prstDash val="solid"/>
          </a:ln>
        </p:spPr>
      </p:sp>
      <p:sp>
        <p:nvSpPr>
          <p:cNvPr id="3" name="Text 1"/>
          <p:cNvSpPr/>
          <p:nvPr/>
        </p:nvSpPr>
        <p:spPr>
          <a:xfrm>
            <a:off x="731520" y="384048"/>
            <a:ext cx="2560320" cy="256032"/>
          </a:xfrm>
          <a:prstGeom prst="rect">
            <a:avLst/>
          </a:prstGeom>
          <a:noFill/>
          <a:ln/>
        </p:spPr>
        <p:txBody>
          <a:bodyPr wrap="square" lIns="0" tIns="0" rIns="0" bIns="0" rtlCol="0" anchor="ctr"/>
          <a:lstStyle/>
          <a:p>
            <a:pPr marL="0" indent="0" algn="ctr">
              <a:buNone/>
            </a:pPr>
            <a:r>
              <a:rPr lang="en-US" sz="850" b="1" dirty="0">
                <a:solidFill>
                  <a:srgbClr val="0A7E8C"/>
                </a:solidFill>
                <a:latin typeface="Calibri" pitchFamily="34" charset="0"/>
                <a:ea typeface="Calibri" pitchFamily="34" charset="-122"/>
                <a:cs typeface="Calibri" pitchFamily="34" charset="-120"/>
              </a:rPr>
              <a:t>CASE STUDY THỰC NGHIỆM 2</a:t>
            </a:r>
            <a:endParaRPr lang="en-US" sz="850" dirty="0"/>
          </a:p>
        </p:txBody>
      </p:sp>
      <p:sp>
        <p:nvSpPr>
          <p:cNvPr id="4" name="Text 2"/>
          <p:cNvSpPr/>
          <p:nvPr/>
        </p:nvSpPr>
        <p:spPr>
          <a:xfrm>
            <a:off x="731520" y="676656"/>
            <a:ext cx="10725912" cy="438912"/>
          </a:xfrm>
          <a:prstGeom prst="rect">
            <a:avLst/>
          </a:prstGeom>
          <a:noFill/>
          <a:ln/>
        </p:spPr>
        <p:txBody>
          <a:bodyPr wrap="square" lIns="0" tIns="0" rIns="0" bIns="0" rtlCol="0" anchor="ctr"/>
          <a:lstStyle/>
          <a:p>
            <a:pPr marL="0" indent="0">
              <a:buNone/>
            </a:pPr>
            <a:r>
              <a:rPr lang="en-US" sz="2200" b="1" dirty="0">
                <a:solidFill>
                  <a:srgbClr val="0F1B29"/>
                </a:solidFill>
                <a:latin typeface="Arial" pitchFamily="34" charset="0"/>
                <a:ea typeface="Arial" pitchFamily="34" charset="-122"/>
                <a:cs typeface="Arial" pitchFamily="34" charset="-120"/>
              </a:rPr>
              <a:t>Minh Họa 2: Điều Hướng Robot Tự Hành (AMR) Trong Nhà Kho Thông Minh</a:t>
            </a:r>
            <a:endParaRPr lang="en-US" sz="2200" dirty="0"/>
          </a:p>
        </p:txBody>
      </p:sp>
      <p:sp>
        <p:nvSpPr>
          <p:cNvPr id="5" name="Text 3"/>
          <p:cNvSpPr/>
          <p:nvPr/>
        </p:nvSpPr>
        <p:spPr>
          <a:xfrm>
            <a:off x="731520" y="1115568"/>
            <a:ext cx="10725912" cy="292608"/>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Chuyển hóa bài toán cơ điện tử phức tạp thành bài toán MDP và huấn luyện Deep RL</a:t>
            </a:r>
            <a:endParaRPr lang="en-US" sz="1200" dirty="0"/>
          </a:p>
        </p:txBody>
      </p:sp>
      <p:sp>
        <p:nvSpPr>
          <p:cNvPr id="6" name="Text 4"/>
          <p:cNvSpPr/>
          <p:nvPr/>
        </p:nvSpPr>
        <p:spPr>
          <a:xfrm>
            <a:off x="731520" y="6446520"/>
            <a:ext cx="7315200" cy="274320"/>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MARKOV DECISION PROCESSES (MDP) • AI &amp; REINFORCEMENT LEARNING</a:t>
            </a:r>
            <a:endParaRPr lang="en-US" sz="850" dirty="0"/>
          </a:p>
        </p:txBody>
      </p:sp>
      <p:sp>
        <p:nvSpPr>
          <p:cNvPr id="7" name="Text 5"/>
          <p:cNvSpPr/>
          <p:nvPr/>
        </p:nvSpPr>
        <p:spPr>
          <a:xfrm>
            <a:off x="9875520" y="6446520"/>
            <a:ext cx="1581912" cy="274320"/>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11 / 12</a:t>
            </a:r>
            <a:endParaRPr lang="en-US" sz="900" dirty="0"/>
          </a:p>
        </p:txBody>
      </p:sp>
      <p:sp>
        <p:nvSpPr>
          <p:cNvPr id="8" name="Shape 6"/>
          <p:cNvSpPr/>
          <p:nvPr/>
        </p:nvSpPr>
        <p:spPr>
          <a:xfrm>
            <a:off x="731520" y="1508760"/>
            <a:ext cx="4572000" cy="4709160"/>
          </a:xfrm>
          <a:prstGeom prst="roundRect">
            <a:avLst>
              <a:gd name="adj" fmla="val 2400"/>
            </a:avLst>
          </a:prstGeom>
          <a:solidFill>
            <a:srgbClr val="FFFFFF"/>
          </a:solidFill>
          <a:ln w="15240">
            <a:solidFill>
              <a:srgbClr val="E2E8F0"/>
            </a:solidFill>
            <a:prstDash val="solid"/>
          </a:ln>
        </p:spPr>
      </p:sp>
      <p:sp>
        <p:nvSpPr>
          <p:cNvPr id="9" name="Text 7"/>
          <p:cNvSpPr/>
          <p:nvPr/>
        </p:nvSpPr>
        <p:spPr>
          <a:xfrm>
            <a:off x="960120" y="1691640"/>
            <a:ext cx="4114800" cy="274320"/>
          </a:xfrm>
          <a:prstGeom prst="rect">
            <a:avLst/>
          </a:prstGeom>
          <a:noFill/>
          <a:ln/>
        </p:spPr>
        <p:txBody>
          <a:bodyPr wrap="square" lIns="0" tIns="0" rIns="0" bIns="0" rtlCol="0" anchor="ctr"/>
          <a:lstStyle/>
          <a:p>
            <a:pPr marL="0" indent="0">
              <a:buNone/>
            </a:pPr>
            <a:r>
              <a:rPr lang="en-US" sz="1200" b="1" dirty="0">
                <a:solidFill>
                  <a:srgbClr val="0F1B29"/>
                </a:solidFill>
                <a:latin typeface="Arial" pitchFamily="34" charset="0"/>
                <a:ea typeface="Arial" pitchFamily="34" charset="-122"/>
                <a:cs typeface="Arial" pitchFamily="34" charset="-120"/>
              </a:rPr>
              <a:t>MÔ HÌNH HÓA BÀI TOÁN BẰNG MDP</a:t>
            </a:r>
            <a:endParaRPr lang="en-US" sz="1200" dirty="0"/>
          </a:p>
        </p:txBody>
      </p:sp>
      <p:sp>
        <p:nvSpPr>
          <p:cNvPr id="10" name="Text 8"/>
          <p:cNvSpPr/>
          <p:nvPr/>
        </p:nvSpPr>
        <p:spPr>
          <a:xfrm>
            <a:off x="960120" y="2029968"/>
            <a:ext cx="4114800" cy="228600"/>
          </a:xfrm>
          <a:prstGeom prst="rect">
            <a:avLst/>
          </a:prstGeom>
          <a:noFill/>
          <a:ln/>
        </p:spPr>
        <p:txBody>
          <a:bodyPr wrap="square" lIns="0" tIns="0" rIns="0" bIns="0" rtlCol="0" anchor="ctr"/>
          <a:lstStyle/>
          <a:p>
            <a:pPr marL="0" indent="0">
              <a:buNone/>
            </a:pPr>
            <a:r>
              <a:rPr lang="en-US" sz="1000" b="1" dirty="0">
                <a:solidFill>
                  <a:srgbClr val="0A7E8C"/>
                </a:solidFill>
                <a:latin typeface="Arial" pitchFamily="34" charset="0"/>
                <a:ea typeface="Arial" pitchFamily="34" charset="-122"/>
                <a:cs typeface="Arial" pitchFamily="34" charset="-120"/>
              </a:rPr>
              <a:t>Trạng thái S (State Space):</a:t>
            </a:r>
            <a:endParaRPr lang="en-US" sz="1000" dirty="0"/>
          </a:p>
        </p:txBody>
      </p:sp>
      <p:sp>
        <p:nvSpPr>
          <p:cNvPr id="11" name="Text 9"/>
          <p:cNvSpPr/>
          <p:nvPr/>
        </p:nvSpPr>
        <p:spPr>
          <a:xfrm>
            <a:off x="960120" y="2258568"/>
            <a:ext cx="4114800" cy="777240"/>
          </a:xfrm>
          <a:prstGeom prst="rect">
            <a:avLst/>
          </a:prstGeom>
          <a:noFill/>
          <a:ln/>
        </p:spPr>
        <p:txBody>
          <a:bodyPr wrap="square" lIns="0" tIns="0" rIns="0" bIns="0" rtlCol="0" anchor="ctr"/>
          <a:lstStyle/>
          <a:p>
            <a:pPr marL="0" indent="0">
              <a:buNone/>
            </a:pPr>
            <a:r>
              <a:rPr lang="en-US" sz="920" dirty="0">
                <a:solidFill>
                  <a:srgbClr val="475569"/>
                </a:solidFill>
                <a:latin typeface="Calibri" pitchFamily="34" charset="0"/>
                <a:ea typeface="Calibri" pitchFamily="34" charset="-122"/>
                <a:cs typeface="Calibri" pitchFamily="34" charset="-120"/>
              </a:rPr>
              <a:t>Tọa độ vị trí (x, y), góc xoay hướng θ, vận tốc dài v, vận tốc góc ω, và vector dữ liệu khoảng cách quét từ cảm biến LiDAR 2D/3D (phát hiện kệ hàng và công nhân).</a:t>
            </a:r>
            <a:endParaRPr lang="en-US" sz="920" dirty="0"/>
          </a:p>
        </p:txBody>
      </p:sp>
      <p:sp>
        <p:nvSpPr>
          <p:cNvPr id="12" name="Text 10"/>
          <p:cNvSpPr/>
          <p:nvPr/>
        </p:nvSpPr>
        <p:spPr>
          <a:xfrm>
            <a:off x="960120" y="3081528"/>
            <a:ext cx="4114800" cy="228600"/>
          </a:xfrm>
          <a:prstGeom prst="rect">
            <a:avLst/>
          </a:prstGeom>
          <a:noFill/>
          <a:ln/>
        </p:spPr>
        <p:txBody>
          <a:bodyPr wrap="square" lIns="0" tIns="0" rIns="0" bIns="0" rtlCol="0" anchor="ctr"/>
          <a:lstStyle/>
          <a:p>
            <a:pPr marL="0" indent="0">
              <a:buNone/>
            </a:pPr>
            <a:r>
              <a:rPr lang="en-US" sz="1000" b="1" dirty="0">
                <a:solidFill>
                  <a:srgbClr val="0A7E8C"/>
                </a:solidFill>
                <a:latin typeface="Arial" pitchFamily="34" charset="0"/>
                <a:ea typeface="Arial" pitchFamily="34" charset="-122"/>
                <a:cs typeface="Arial" pitchFamily="34" charset="-120"/>
              </a:rPr>
              <a:t>Hành động A (Action Space):</a:t>
            </a:r>
            <a:endParaRPr lang="en-US" sz="1000" dirty="0"/>
          </a:p>
        </p:txBody>
      </p:sp>
      <p:sp>
        <p:nvSpPr>
          <p:cNvPr id="13" name="Text 11"/>
          <p:cNvSpPr/>
          <p:nvPr/>
        </p:nvSpPr>
        <p:spPr>
          <a:xfrm>
            <a:off x="960120" y="3310128"/>
            <a:ext cx="4114800" cy="777240"/>
          </a:xfrm>
          <a:prstGeom prst="rect">
            <a:avLst/>
          </a:prstGeom>
          <a:noFill/>
          <a:ln/>
        </p:spPr>
        <p:txBody>
          <a:bodyPr wrap="square" lIns="0" tIns="0" rIns="0" bIns="0" rtlCol="0" anchor="ctr"/>
          <a:lstStyle/>
          <a:p>
            <a:pPr marL="0" indent="0">
              <a:buNone/>
            </a:pPr>
            <a:r>
              <a:rPr lang="en-US" sz="920" dirty="0">
                <a:solidFill>
                  <a:srgbClr val="475569"/>
                </a:solidFill>
                <a:latin typeface="Calibri" pitchFamily="34" charset="0"/>
                <a:ea typeface="Calibri" pitchFamily="34" charset="-122"/>
                <a:cs typeface="Calibri" pitchFamily="34" charset="-120"/>
              </a:rPr>
              <a:t>Tín hiệu điều khiển công suất động cơ 2 bánh: Vận tốc tịnh tiến thẳng v ∈ [0, 2.0] m/s và vận tốc góc xoay hướng ω ∈ [-1.5, +1.5] rad/s.</a:t>
            </a:r>
            <a:endParaRPr lang="en-US" sz="920" dirty="0"/>
          </a:p>
        </p:txBody>
      </p:sp>
      <p:sp>
        <p:nvSpPr>
          <p:cNvPr id="14" name="Text 12"/>
          <p:cNvSpPr/>
          <p:nvPr/>
        </p:nvSpPr>
        <p:spPr>
          <a:xfrm>
            <a:off x="960120" y="4133088"/>
            <a:ext cx="4114800" cy="228600"/>
          </a:xfrm>
          <a:prstGeom prst="rect">
            <a:avLst/>
          </a:prstGeom>
          <a:noFill/>
          <a:ln/>
        </p:spPr>
        <p:txBody>
          <a:bodyPr wrap="square" lIns="0" tIns="0" rIns="0" bIns="0" rtlCol="0" anchor="ctr"/>
          <a:lstStyle/>
          <a:p>
            <a:pPr marL="0" indent="0">
              <a:buNone/>
            </a:pPr>
            <a:r>
              <a:rPr lang="en-US" sz="1000" b="1" dirty="0">
                <a:solidFill>
                  <a:srgbClr val="0A7E8C"/>
                </a:solidFill>
                <a:latin typeface="Arial" pitchFamily="34" charset="0"/>
                <a:ea typeface="Arial" pitchFamily="34" charset="-122"/>
                <a:cs typeface="Arial" pitchFamily="34" charset="-120"/>
              </a:rPr>
              <a:t>Hàm phần thưởng R (Reward Function):</a:t>
            </a:r>
            <a:endParaRPr lang="en-US" sz="1000" dirty="0"/>
          </a:p>
        </p:txBody>
      </p:sp>
      <p:sp>
        <p:nvSpPr>
          <p:cNvPr id="15" name="Text 13"/>
          <p:cNvSpPr/>
          <p:nvPr/>
        </p:nvSpPr>
        <p:spPr>
          <a:xfrm>
            <a:off x="960120" y="4361688"/>
            <a:ext cx="4114800" cy="777240"/>
          </a:xfrm>
          <a:prstGeom prst="rect">
            <a:avLst/>
          </a:prstGeom>
          <a:noFill/>
          <a:ln/>
        </p:spPr>
        <p:txBody>
          <a:bodyPr wrap="square" lIns="0" tIns="0" rIns="0" bIns="0" rtlCol="0" anchor="ctr"/>
          <a:lstStyle/>
          <a:p>
            <a:pPr marL="0" indent="0">
              <a:buNone/>
            </a:pPr>
            <a:r>
              <a:rPr lang="en-US" sz="920" dirty="0">
                <a:solidFill>
                  <a:srgbClr val="475569"/>
                </a:solidFill>
                <a:latin typeface="Calibri" pitchFamily="34" charset="0"/>
                <a:ea typeface="Calibri" pitchFamily="34" charset="-122"/>
                <a:cs typeface="Calibri" pitchFamily="34" charset="-120"/>
              </a:rPr>
              <a:t>• +100: Khi đưa kiện hàng tới đúng kệ đích thành công.</a:t>
            </a:r>
            <a:endParaRPr lang="en-US" sz="920" dirty="0"/>
          </a:p>
          <a:p>
            <a:pPr marL="0" indent="0">
              <a:buNone/>
            </a:pPr>
            <a:r>
              <a:rPr lang="en-US" sz="920" dirty="0">
                <a:solidFill>
                  <a:srgbClr val="475569"/>
                </a:solidFill>
                <a:latin typeface="Calibri" pitchFamily="34" charset="0"/>
                <a:ea typeface="Calibri" pitchFamily="34" charset="-122"/>
                <a:cs typeface="Calibri" pitchFamily="34" charset="-120"/>
              </a:rPr>
              <a:t>• -500: Phạt cực nặng nếu va chạm với chướng ngại vật/công nhân.</a:t>
            </a:r>
            <a:endParaRPr lang="en-US" sz="920" dirty="0"/>
          </a:p>
          <a:p>
            <a:pPr marL="0" indent="0">
              <a:buNone/>
            </a:pPr>
            <a:r>
              <a:rPr lang="en-US" sz="920" dirty="0">
                <a:solidFill>
                  <a:srgbClr val="475569"/>
                </a:solidFill>
                <a:latin typeface="Calibri" pitchFamily="34" charset="0"/>
                <a:ea typeface="Calibri" pitchFamily="34" charset="-122"/>
                <a:cs typeface="Calibri" pitchFamily="34" charset="-120"/>
              </a:rPr>
              <a:t>• -0.1 / giây: Chi phí thời gian để tối ưu tiêu hao pin và tiến độ.</a:t>
            </a:r>
            <a:endParaRPr lang="en-US" sz="920" dirty="0"/>
          </a:p>
        </p:txBody>
      </p:sp>
      <p:sp>
        <p:nvSpPr>
          <p:cNvPr id="16" name="Text 14"/>
          <p:cNvSpPr/>
          <p:nvPr/>
        </p:nvSpPr>
        <p:spPr>
          <a:xfrm>
            <a:off x="960120" y="5184648"/>
            <a:ext cx="4114800" cy="228600"/>
          </a:xfrm>
          <a:prstGeom prst="rect">
            <a:avLst/>
          </a:prstGeom>
          <a:noFill/>
          <a:ln/>
        </p:spPr>
        <p:txBody>
          <a:bodyPr wrap="square" lIns="0" tIns="0" rIns="0" bIns="0" rtlCol="0" anchor="ctr"/>
          <a:lstStyle/>
          <a:p>
            <a:pPr marL="0" indent="0">
              <a:buNone/>
            </a:pPr>
            <a:r>
              <a:rPr lang="en-US" sz="1000" b="1" dirty="0">
                <a:solidFill>
                  <a:srgbClr val="0A7E8C"/>
                </a:solidFill>
                <a:latin typeface="Arial" pitchFamily="34" charset="0"/>
                <a:ea typeface="Arial" pitchFamily="34" charset="-122"/>
                <a:cs typeface="Arial" pitchFamily="34" charset="-120"/>
              </a:rPr>
              <a:t>Thuật toán triển khai:</a:t>
            </a:r>
            <a:endParaRPr lang="en-US" sz="1000" dirty="0"/>
          </a:p>
        </p:txBody>
      </p:sp>
      <p:sp>
        <p:nvSpPr>
          <p:cNvPr id="17" name="Text 15"/>
          <p:cNvSpPr/>
          <p:nvPr/>
        </p:nvSpPr>
        <p:spPr>
          <a:xfrm>
            <a:off x="960120" y="5413248"/>
            <a:ext cx="4114800" cy="777240"/>
          </a:xfrm>
          <a:prstGeom prst="rect">
            <a:avLst/>
          </a:prstGeom>
          <a:noFill/>
          <a:ln/>
        </p:spPr>
        <p:txBody>
          <a:bodyPr wrap="square" lIns="0" tIns="0" rIns="0" bIns="0" rtlCol="0" anchor="ctr"/>
          <a:lstStyle/>
          <a:p>
            <a:pPr marL="0" indent="0">
              <a:buNone/>
            </a:pPr>
            <a:r>
              <a:rPr lang="en-US" sz="920" dirty="0">
                <a:solidFill>
                  <a:srgbClr val="475569"/>
                </a:solidFill>
                <a:latin typeface="Calibri" pitchFamily="34" charset="0"/>
                <a:ea typeface="Calibri" pitchFamily="34" charset="-122"/>
                <a:cs typeface="Calibri" pitchFamily="34" charset="-120"/>
              </a:rPr>
              <a:t>Sử dụng thuật toán Deep RL tiên tiến như Proximal Policy Optimization (PPO) hoặc Soft Actor-Critic (SAC). Robot tự học phản xạ né vật cản động mà không cần lập bản đồ tĩnh.</a:t>
            </a:r>
            <a:endParaRPr lang="en-US" sz="920" dirty="0"/>
          </a:p>
        </p:txBody>
      </p:sp>
      <p:sp>
        <p:nvSpPr>
          <p:cNvPr id="18" name="Shape 16"/>
          <p:cNvSpPr/>
          <p:nvPr/>
        </p:nvSpPr>
        <p:spPr>
          <a:xfrm>
            <a:off x="5577840" y="1508760"/>
            <a:ext cx="5879592" cy="4709160"/>
          </a:xfrm>
          <a:prstGeom prst="roundRect">
            <a:avLst>
              <a:gd name="adj" fmla="val 2330"/>
            </a:avLst>
          </a:prstGeom>
          <a:solidFill>
            <a:srgbClr val="FFFFFF"/>
          </a:solidFill>
          <a:ln w="15240">
            <a:solidFill>
              <a:srgbClr val="E2E8F0"/>
            </a:solidFill>
            <a:prstDash val="solid"/>
          </a:ln>
        </p:spPr>
      </p:sp>
      <p:pic>
        <p:nvPicPr>
          <p:cNvPr id="19" name="Image 0" descr="D:\Study\HK5\CSAI\ThuyetTrinhMDP\assets\diagram_amr_warehouse.png"/>
          <p:cNvPicPr>
            <a:picLocks noChangeAspect="1"/>
          </p:cNvPicPr>
          <p:nvPr/>
        </p:nvPicPr>
        <p:blipFill>
          <a:blip r:embed="rId3"/>
          <a:stretch>
            <a:fillRect/>
          </a:stretch>
        </p:blipFill>
        <p:spPr>
          <a:xfrm>
            <a:off x="5715000" y="1645920"/>
            <a:ext cx="5605272" cy="443484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blinds/>
      </p:transition>
    </mc:Choice>
    <mc:Fallback>
      <p:transition>
        <p:blind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childTnLst>
                          </p:cTn>
                        </p:par>
                        <p:par>
                          <p:cTn id="8" fill="hold">
                            <p:stCondLst>
                              <p:cond delay="3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childTnLst>
                          </p:cTn>
                        </p:par>
                        <p:par>
                          <p:cTn id="12" fill="hold">
                            <p:stCondLst>
                              <p:cond delay="6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300"/>
                                        <p:tgtEl>
                                          <p:spTgt spid="10"/>
                                        </p:tgtEl>
                                      </p:cBhvr>
                                    </p:animEffect>
                                  </p:childTnLst>
                                </p:cTn>
                              </p:par>
                            </p:childTnLst>
                          </p:cTn>
                        </p:par>
                        <p:par>
                          <p:cTn id="16" fill="hold">
                            <p:stCondLst>
                              <p:cond delay="900"/>
                            </p:stCondLst>
                            <p:childTnLst>
                              <p:par>
                                <p:cTn id="17" presetID="10"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300"/>
                                        <p:tgtEl>
                                          <p:spTgt spid="11"/>
                                        </p:tgtEl>
                                      </p:cBhvr>
                                    </p:animEffect>
                                  </p:childTnLst>
                                </p:cTn>
                              </p:par>
                            </p:childTnLst>
                          </p:cTn>
                        </p:par>
                        <p:par>
                          <p:cTn id="20" fill="hold">
                            <p:stCondLst>
                              <p:cond delay="1200"/>
                            </p:stCondLst>
                            <p:childTnLst>
                              <p:par>
                                <p:cTn id="21" presetID="10" presetClass="entr" presetSubtype="0"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300"/>
                                        <p:tgtEl>
                                          <p:spTgt spid="12"/>
                                        </p:tgtEl>
                                      </p:cBhvr>
                                    </p:animEffect>
                                  </p:childTnLst>
                                </p:cTn>
                              </p:par>
                            </p:childTnLst>
                          </p:cTn>
                        </p:par>
                        <p:par>
                          <p:cTn id="24" fill="hold">
                            <p:stCondLst>
                              <p:cond delay="1500"/>
                            </p:stCondLst>
                            <p:childTnLst>
                              <p:par>
                                <p:cTn id="25" presetID="10" presetClass="entr" presetSubtype="0"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300"/>
                                        <p:tgtEl>
                                          <p:spTgt spid="13"/>
                                        </p:tgtEl>
                                      </p:cBhvr>
                                    </p:animEffect>
                                  </p:childTnLst>
                                </p:cTn>
                              </p:par>
                            </p:childTnLst>
                          </p:cTn>
                        </p:par>
                        <p:par>
                          <p:cTn id="28" fill="hold">
                            <p:stCondLst>
                              <p:cond delay="1800"/>
                            </p:stCondLst>
                            <p:childTnLst>
                              <p:par>
                                <p:cTn id="29" presetID="10" presetClass="entr" presetSubtype="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300"/>
                                        <p:tgtEl>
                                          <p:spTgt spid="14"/>
                                        </p:tgtEl>
                                      </p:cBhvr>
                                    </p:animEffect>
                                  </p:childTnLst>
                                </p:cTn>
                              </p:par>
                            </p:childTnLst>
                          </p:cTn>
                        </p:par>
                        <p:par>
                          <p:cTn id="32" fill="hold">
                            <p:stCondLst>
                              <p:cond delay="2100"/>
                            </p:stCondLst>
                            <p:childTnLst>
                              <p:par>
                                <p:cTn id="33" presetID="10" presetClass="entr" presetSubtype="0"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00"/>
                                        <p:tgtEl>
                                          <p:spTgt spid="15"/>
                                        </p:tgtEl>
                                      </p:cBhvr>
                                    </p:animEffect>
                                  </p:childTnLst>
                                </p:cTn>
                              </p:par>
                            </p:childTnLst>
                          </p:cTn>
                        </p:par>
                        <p:par>
                          <p:cTn id="36" fill="hold">
                            <p:stCondLst>
                              <p:cond delay="2400"/>
                            </p:stCondLst>
                            <p:childTnLst>
                              <p:par>
                                <p:cTn id="37" presetID="10" presetClass="entr" presetSubtype="0"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300"/>
                                        <p:tgtEl>
                                          <p:spTgt spid="16"/>
                                        </p:tgtEl>
                                      </p:cBhvr>
                                    </p:animEffect>
                                  </p:childTnLst>
                                </p:cTn>
                              </p:par>
                            </p:childTnLst>
                          </p:cTn>
                        </p:par>
                        <p:par>
                          <p:cTn id="40" fill="hold">
                            <p:stCondLst>
                              <p:cond delay="2700"/>
                            </p:stCondLst>
                            <p:childTnLst>
                              <p:par>
                                <p:cTn id="41" presetID="10" presetClass="entr" presetSubtype="0" fill="hold" grpId="0"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300"/>
                                        <p:tgtEl>
                                          <p:spTgt spid="17"/>
                                        </p:tgtEl>
                                      </p:cBhvr>
                                    </p:animEffect>
                                  </p:childTnLst>
                                </p:cTn>
                              </p:par>
                            </p:childTnLst>
                          </p:cTn>
                        </p:par>
                        <p:par>
                          <p:cTn id="44" fill="hold">
                            <p:stCondLst>
                              <p:cond delay="3000"/>
                            </p:stCondLst>
                            <p:childTnLst>
                              <p:par>
                                <p:cTn id="45" presetID="10" presetClass="entr" presetSubtype="0" fill="hold"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300"/>
                                        <p:tgtEl>
                                          <p:spTgt spid="18"/>
                                        </p:tgtEl>
                                      </p:cBhvr>
                                    </p:animEffect>
                                  </p:childTnLst>
                                </p:cTn>
                              </p:par>
                            </p:childTnLst>
                          </p:cTn>
                        </p:par>
                        <p:par>
                          <p:cTn id="48" fill="hold">
                            <p:stCondLst>
                              <p:cond delay="3300"/>
                            </p:stCondLst>
                            <p:childTnLst>
                              <p:par>
                                <p:cTn id="49" presetID="10" presetClass="entr" presetSubtype="0" fill="hold"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731520" y="384048"/>
            <a:ext cx="2560320" cy="256032"/>
          </a:xfrm>
          <a:prstGeom prst="roundRect">
            <a:avLst>
              <a:gd name="adj" fmla="val 28571"/>
            </a:avLst>
          </a:prstGeom>
          <a:solidFill>
            <a:srgbClr val="E0F2FE"/>
          </a:solidFill>
          <a:ln w="12700">
            <a:solidFill>
              <a:srgbClr val="0A7E8C"/>
            </a:solidFill>
            <a:prstDash val="solid"/>
          </a:ln>
        </p:spPr>
      </p:sp>
      <p:sp>
        <p:nvSpPr>
          <p:cNvPr id="3" name="Text 1"/>
          <p:cNvSpPr/>
          <p:nvPr/>
        </p:nvSpPr>
        <p:spPr>
          <a:xfrm>
            <a:off x="731520" y="384048"/>
            <a:ext cx="2560320" cy="256032"/>
          </a:xfrm>
          <a:prstGeom prst="rect">
            <a:avLst/>
          </a:prstGeom>
          <a:noFill/>
          <a:ln/>
        </p:spPr>
        <p:txBody>
          <a:bodyPr wrap="square" lIns="0" tIns="0" rIns="0" bIns="0" rtlCol="0" anchor="ctr"/>
          <a:lstStyle/>
          <a:p>
            <a:pPr marL="0" indent="0" algn="ctr">
              <a:buNone/>
            </a:pPr>
            <a:r>
              <a:rPr lang="en-US" sz="850" b="1" dirty="0">
                <a:solidFill>
                  <a:srgbClr val="0A7E8C"/>
                </a:solidFill>
                <a:latin typeface="Calibri" pitchFamily="34" charset="0"/>
                <a:ea typeface="Calibri" pitchFamily="34" charset="-122"/>
                <a:cs typeface="Calibri" pitchFamily="34" charset="-120"/>
              </a:rPr>
              <a:t>TỔNG KẾT &amp; PHÁT TRIỂN</a:t>
            </a:r>
            <a:endParaRPr lang="en-US" sz="850" dirty="0"/>
          </a:p>
        </p:txBody>
      </p:sp>
      <p:sp>
        <p:nvSpPr>
          <p:cNvPr id="4" name="Text 2"/>
          <p:cNvSpPr/>
          <p:nvPr/>
        </p:nvSpPr>
        <p:spPr>
          <a:xfrm>
            <a:off x="731520" y="676656"/>
            <a:ext cx="10725912" cy="438912"/>
          </a:xfrm>
          <a:prstGeom prst="rect">
            <a:avLst/>
          </a:prstGeom>
          <a:noFill/>
          <a:ln/>
        </p:spPr>
        <p:txBody>
          <a:bodyPr wrap="square" lIns="0" tIns="0" rIns="0" bIns="0" rtlCol="0" anchor="ctr"/>
          <a:lstStyle/>
          <a:p>
            <a:pPr marL="0" indent="0">
              <a:buNone/>
            </a:pPr>
            <a:r>
              <a:rPr lang="en-US" sz="2200" b="1" dirty="0">
                <a:solidFill>
                  <a:srgbClr val="0F1B29"/>
                </a:solidFill>
                <a:latin typeface="Arial" pitchFamily="34" charset="0"/>
                <a:ea typeface="Arial" pitchFamily="34" charset="-122"/>
                <a:cs typeface="Arial" pitchFamily="34" charset="-120"/>
              </a:rPr>
              <a:t>Tổng Kết Lý Thuyết, Mở Rộng POMDP &amp; Thảo Luận</a:t>
            </a:r>
            <a:endParaRPr lang="en-US" sz="2200" dirty="0"/>
          </a:p>
        </p:txBody>
      </p:sp>
      <p:sp>
        <p:nvSpPr>
          <p:cNvPr id="5" name="Text 3"/>
          <p:cNvSpPr/>
          <p:nvPr/>
        </p:nvSpPr>
        <p:spPr>
          <a:xfrm>
            <a:off x="731520" y="1115568"/>
            <a:ext cx="10725912" cy="292608"/>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Nền tảng toán học bất biến cho AI hiện đại và thách thức khi quan sát thế giới bị che khuất</a:t>
            </a:r>
            <a:endParaRPr lang="en-US" sz="1200" dirty="0"/>
          </a:p>
        </p:txBody>
      </p:sp>
      <p:sp>
        <p:nvSpPr>
          <p:cNvPr id="6" name="Text 4"/>
          <p:cNvSpPr/>
          <p:nvPr/>
        </p:nvSpPr>
        <p:spPr>
          <a:xfrm>
            <a:off x="731520" y="6446520"/>
            <a:ext cx="7315200" cy="274320"/>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MARKOV DECISION PROCESSES (MDP) • AI &amp; REINFORCEMENT LEARNING</a:t>
            </a:r>
            <a:endParaRPr lang="en-US" sz="850" dirty="0"/>
          </a:p>
        </p:txBody>
      </p:sp>
      <p:sp>
        <p:nvSpPr>
          <p:cNvPr id="7" name="Text 5"/>
          <p:cNvSpPr/>
          <p:nvPr/>
        </p:nvSpPr>
        <p:spPr>
          <a:xfrm>
            <a:off x="9875520" y="6446520"/>
            <a:ext cx="1581912" cy="274320"/>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12 / 12</a:t>
            </a:r>
            <a:endParaRPr lang="en-US" sz="900" dirty="0"/>
          </a:p>
        </p:txBody>
      </p:sp>
      <p:sp>
        <p:nvSpPr>
          <p:cNvPr id="8" name="Shape 6"/>
          <p:cNvSpPr/>
          <p:nvPr/>
        </p:nvSpPr>
        <p:spPr>
          <a:xfrm>
            <a:off x="731520" y="1508760"/>
            <a:ext cx="5029200" cy="3566160"/>
          </a:xfrm>
          <a:prstGeom prst="roundRect">
            <a:avLst>
              <a:gd name="adj" fmla="val 3077"/>
            </a:avLst>
          </a:prstGeom>
          <a:solidFill>
            <a:srgbClr val="FFFFFF"/>
          </a:solidFill>
          <a:ln w="15240">
            <a:solidFill>
              <a:srgbClr val="E2E8F0"/>
            </a:solidFill>
            <a:prstDash val="solid"/>
          </a:ln>
        </p:spPr>
      </p:sp>
      <p:sp>
        <p:nvSpPr>
          <p:cNvPr id="9" name="Text 7"/>
          <p:cNvSpPr/>
          <p:nvPr/>
        </p:nvSpPr>
        <p:spPr>
          <a:xfrm>
            <a:off x="960120" y="1691640"/>
            <a:ext cx="4572000" cy="274320"/>
          </a:xfrm>
          <a:prstGeom prst="rect">
            <a:avLst/>
          </a:prstGeom>
          <a:noFill/>
          <a:ln/>
        </p:spPr>
        <p:txBody>
          <a:bodyPr wrap="square" lIns="0" tIns="0" rIns="0" bIns="0" rtlCol="0" anchor="ctr"/>
          <a:lstStyle/>
          <a:p>
            <a:pPr marL="0" indent="0">
              <a:buNone/>
            </a:pPr>
            <a:r>
              <a:rPr lang="en-US" sz="1150" b="1" dirty="0">
                <a:solidFill>
                  <a:srgbClr val="0F1B29"/>
                </a:solidFill>
                <a:latin typeface="Arial" pitchFamily="34" charset="0"/>
                <a:ea typeface="Arial" pitchFamily="34" charset="-122"/>
                <a:cs typeface="Arial" pitchFamily="34" charset="-120"/>
              </a:rPr>
              <a:t>3 ĐÚC KẾT CỐT LÕI CỦA MARKOV DECISION PROCESS</a:t>
            </a:r>
            <a:endParaRPr lang="en-US" sz="1150" dirty="0"/>
          </a:p>
        </p:txBody>
      </p:sp>
      <p:sp>
        <p:nvSpPr>
          <p:cNvPr id="10" name="Shape 8"/>
          <p:cNvSpPr/>
          <p:nvPr/>
        </p:nvSpPr>
        <p:spPr>
          <a:xfrm>
            <a:off x="960120" y="2057400"/>
            <a:ext cx="320040" cy="320040"/>
          </a:xfrm>
          <a:prstGeom prst="roundRect">
            <a:avLst>
              <a:gd name="adj" fmla="val 22857"/>
            </a:avLst>
          </a:prstGeom>
          <a:solidFill>
            <a:srgbClr val="F0FDFA"/>
          </a:solidFill>
          <a:ln w="12700">
            <a:solidFill>
              <a:srgbClr val="0A7E8C"/>
            </a:solidFill>
            <a:prstDash val="solid"/>
          </a:ln>
        </p:spPr>
      </p:sp>
      <p:sp>
        <p:nvSpPr>
          <p:cNvPr id="11" name="Text 9"/>
          <p:cNvSpPr/>
          <p:nvPr/>
        </p:nvSpPr>
        <p:spPr>
          <a:xfrm>
            <a:off x="960120" y="2057400"/>
            <a:ext cx="320040" cy="320040"/>
          </a:xfrm>
          <a:prstGeom prst="rect">
            <a:avLst/>
          </a:prstGeom>
          <a:noFill/>
          <a:ln/>
        </p:spPr>
        <p:txBody>
          <a:bodyPr wrap="square" lIns="0" tIns="0" rIns="0" bIns="0" rtlCol="0" anchor="ctr"/>
          <a:lstStyle/>
          <a:p>
            <a:pPr marL="0" indent="0" algn="ctr">
              <a:buNone/>
            </a:pPr>
            <a:r>
              <a:rPr lang="en-US" sz="1100" b="1" dirty="0">
                <a:solidFill>
                  <a:srgbClr val="0A7E8C"/>
                </a:solidFill>
                <a:latin typeface="Arial" pitchFamily="34" charset="0"/>
                <a:ea typeface="Arial" pitchFamily="34" charset="-122"/>
                <a:cs typeface="Arial" pitchFamily="34" charset="-120"/>
              </a:rPr>
              <a:t>1</a:t>
            </a:r>
            <a:endParaRPr lang="en-US" sz="1100" dirty="0"/>
          </a:p>
        </p:txBody>
      </p:sp>
      <p:sp>
        <p:nvSpPr>
          <p:cNvPr id="12" name="Text 10"/>
          <p:cNvSpPr/>
          <p:nvPr/>
        </p:nvSpPr>
        <p:spPr>
          <a:xfrm>
            <a:off x="1371600" y="2057400"/>
            <a:ext cx="4160520" cy="274320"/>
          </a:xfrm>
          <a:prstGeom prst="rect">
            <a:avLst/>
          </a:prstGeom>
          <a:noFill/>
          <a:ln/>
        </p:spPr>
        <p:txBody>
          <a:bodyPr wrap="square" lIns="0" tIns="0" rIns="0" bIns="0" rtlCol="0" anchor="ctr"/>
          <a:lstStyle/>
          <a:p>
            <a:pPr marL="0" indent="0">
              <a:buNone/>
            </a:pPr>
            <a:r>
              <a:rPr lang="en-US" sz="1000" b="1" dirty="0">
                <a:solidFill>
                  <a:srgbClr val="0F1B29"/>
                </a:solidFill>
                <a:latin typeface="Arial" pitchFamily="34" charset="0"/>
                <a:ea typeface="Arial" pitchFamily="34" charset="-122"/>
                <a:cs typeface="Arial" pitchFamily="34" charset="-120"/>
              </a:rPr>
              <a:t>Tính Chất Markov (Markov Property):</a:t>
            </a:r>
            <a:endParaRPr lang="en-US" sz="1000" dirty="0"/>
          </a:p>
        </p:txBody>
      </p:sp>
      <p:sp>
        <p:nvSpPr>
          <p:cNvPr id="13" name="Text 11"/>
          <p:cNvSpPr/>
          <p:nvPr/>
        </p:nvSpPr>
        <p:spPr>
          <a:xfrm>
            <a:off x="1371600" y="2331720"/>
            <a:ext cx="4160520" cy="59436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Tương lai độc lập với quá khứ một khi đã biết trạng thái hiện tại. Biến bài toán tối ưu hóa chuỗi dài vô hạn thành quy hoạch cục bộ khả thi.</a:t>
            </a:r>
            <a:endParaRPr lang="en-US" sz="900" dirty="0"/>
          </a:p>
        </p:txBody>
      </p:sp>
      <p:sp>
        <p:nvSpPr>
          <p:cNvPr id="14" name="Shape 12"/>
          <p:cNvSpPr/>
          <p:nvPr/>
        </p:nvSpPr>
        <p:spPr>
          <a:xfrm>
            <a:off x="960120" y="3017520"/>
            <a:ext cx="320040" cy="320040"/>
          </a:xfrm>
          <a:prstGeom prst="roundRect">
            <a:avLst>
              <a:gd name="adj" fmla="val 22857"/>
            </a:avLst>
          </a:prstGeom>
          <a:solidFill>
            <a:srgbClr val="F0FDFA"/>
          </a:solidFill>
          <a:ln w="12700">
            <a:solidFill>
              <a:srgbClr val="0A7E8C"/>
            </a:solidFill>
            <a:prstDash val="solid"/>
          </a:ln>
        </p:spPr>
      </p:sp>
      <p:sp>
        <p:nvSpPr>
          <p:cNvPr id="15" name="Text 13"/>
          <p:cNvSpPr/>
          <p:nvPr/>
        </p:nvSpPr>
        <p:spPr>
          <a:xfrm>
            <a:off x="960120" y="3017520"/>
            <a:ext cx="320040" cy="320040"/>
          </a:xfrm>
          <a:prstGeom prst="rect">
            <a:avLst/>
          </a:prstGeom>
          <a:noFill/>
          <a:ln/>
        </p:spPr>
        <p:txBody>
          <a:bodyPr wrap="square" lIns="0" tIns="0" rIns="0" bIns="0" rtlCol="0" anchor="ctr"/>
          <a:lstStyle/>
          <a:p>
            <a:pPr marL="0" indent="0" algn="ctr">
              <a:buNone/>
            </a:pPr>
            <a:r>
              <a:rPr lang="en-US" sz="1100" b="1" dirty="0">
                <a:solidFill>
                  <a:srgbClr val="0A7E8C"/>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1371600" y="3017520"/>
            <a:ext cx="4160520" cy="274320"/>
          </a:xfrm>
          <a:prstGeom prst="rect">
            <a:avLst/>
          </a:prstGeom>
          <a:noFill/>
          <a:ln/>
        </p:spPr>
        <p:txBody>
          <a:bodyPr wrap="square" lIns="0" tIns="0" rIns="0" bIns="0" rtlCol="0" anchor="ctr"/>
          <a:lstStyle/>
          <a:p>
            <a:pPr marL="0" indent="0">
              <a:buNone/>
            </a:pPr>
            <a:r>
              <a:rPr lang="en-US" sz="1000" b="1" dirty="0">
                <a:solidFill>
                  <a:srgbClr val="0F1B29"/>
                </a:solidFill>
                <a:latin typeface="Arial" pitchFamily="34" charset="0"/>
                <a:ea typeface="Arial" pitchFamily="34" charset="-122"/>
                <a:cs typeface="Arial" pitchFamily="34" charset="-120"/>
              </a:rPr>
              <a:t>Phương Trình Bellman (Bellman Equation):</a:t>
            </a:r>
            <a:endParaRPr lang="en-US" sz="1000" dirty="0"/>
          </a:p>
        </p:txBody>
      </p:sp>
      <p:sp>
        <p:nvSpPr>
          <p:cNvPr id="17" name="Text 15"/>
          <p:cNvSpPr/>
          <p:nvPr/>
        </p:nvSpPr>
        <p:spPr>
          <a:xfrm>
            <a:off x="1371600" y="3291840"/>
            <a:ext cx="4160520" cy="59436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Cơ chế đệ quy chia nhỏ bài toán giá trị thành phần thưởng tức thì và kỳ vọng tương lai có chiết khấu. Là "linh hồn" toán học của mọi thuật toán RL.</a:t>
            </a:r>
            <a:endParaRPr lang="en-US" sz="900" dirty="0"/>
          </a:p>
        </p:txBody>
      </p:sp>
      <p:sp>
        <p:nvSpPr>
          <p:cNvPr id="18" name="Shape 16"/>
          <p:cNvSpPr/>
          <p:nvPr/>
        </p:nvSpPr>
        <p:spPr>
          <a:xfrm>
            <a:off x="960120" y="3977640"/>
            <a:ext cx="320040" cy="320040"/>
          </a:xfrm>
          <a:prstGeom prst="roundRect">
            <a:avLst>
              <a:gd name="adj" fmla="val 22857"/>
            </a:avLst>
          </a:prstGeom>
          <a:solidFill>
            <a:srgbClr val="F0FDFA"/>
          </a:solidFill>
          <a:ln w="12700">
            <a:solidFill>
              <a:srgbClr val="0A7E8C"/>
            </a:solidFill>
            <a:prstDash val="solid"/>
          </a:ln>
        </p:spPr>
      </p:sp>
      <p:sp>
        <p:nvSpPr>
          <p:cNvPr id="19" name="Text 17"/>
          <p:cNvSpPr/>
          <p:nvPr/>
        </p:nvSpPr>
        <p:spPr>
          <a:xfrm>
            <a:off x="960120" y="3977640"/>
            <a:ext cx="320040" cy="320040"/>
          </a:xfrm>
          <a:prstGeom prst="rect">
            <a:avLst/>
          </a:prstGeom>
          <a:noFill/>
          <a:ln/>
        </p:spPr>
        <p:txBody>
          <a:bodyPr wrap="square" lIns="0" tIns="0" rIns="0" bIns="0" rtlCol="0" anchor="ctr"/>
          <a:lstStyle/>
          <a:p>
            <a:pPr marL="0" indent="0" algn="ctr">
              <a:buNone/>
            </a:pPr>
            <a:r>
              <a:rPr lang="en-US" sz="1100" b="1" dirty="0">
                <a:solidFill>
                  <a:srgbClr val="0A7E8C"/>
                </a:solidFill>
                <a:latin typeface="Arial" pitchFamily="34" charset="0"/>
                <a:ea typeface="Arial" pitchFamily="34" charset="-122"/>
                <a:cs typeface="Arial" pitchFamily="34" charset="-120"/>
              </a:rPr>
              <a:t>3</a:t>
            </a:r>
            <a:endParaRPr lang="en-US" sz="1100" dirty="0"/>
          </a:p>
        </p:txBody>
      </p:sp>
      <p:sp>
        <p:nvSpPr>
          <p:cNvPr id="20" name="Text 18"/>
          <p:cNvSpPr/>
          <p:nvPr/>
        </p:nvSpPr>
        <p:spPr>
          <a:xfrm>
            <a:off x="1371600" y="3977640"/>
            <a:ext cx="4160520" cy="274320"/>
          </a:xfrm>
          <a:prstGeom prst="rect">
            <a:avLst/>
          </a:prstGeom>
          <a:noFill/>
          <a:ln/>
        </p:spPr>
        <p:txBody>
          <a:bodyPr wrap="square" lIns="0" tIns="0" rIns="0" bIns="0" rtlCol="0" anchor="ctr"/>
          <a:lstStyle/>
          <a:p>
            <a:pPr marL="0" indent="0">
              <a:buNone/>
            </a:pPr>
            <a:r>
              <a:rPr lang="en-US" sz="1000" b="1" dirty="0">
                <a:solidFill>
                  <a:srgbClr val="0F1B29"/>
                </a:solidFill>
                <a:latin typeface="Arial" pitchFamily="34" charset="0"/>
                <a:ea typeface="Arial" pitchFamily="34" charset="-122"/>
                <a:cs typeface="Arial" pitchFamily="34" charset="-120"/>
              </a:rPr>
              <a:t>Trụ Cột Của Trí Tuệ Nhân Tạo:</a:t>
            </a:r>
            <a:endParaRPr lang="en-US" sz="1000" dirty="0"/>
          </a:p>
        </p:txBody>
      </p:sp>
      <p:sp>
        <p:nvSpPr>
          <p:cNvPr id="21" name="Text 19"/>
          <p:cNvSpPr/>
          <p:nvPr/>
        </p:nvSpPr>
        <p:spPr>
          <a:xfrm>
            <a:off x="1371600" y="4251960"/>
            <a:ext cx="4160520" cy="59436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Quy hoạch động (DP) giải bài toán khi đã biết trước mô hình; Học tăng cường (RL) giải bài toán khi không biết trước mô hình thông qua thử - sai.</a:t>
            </a:r>
            <a:endParaRPr lang="en-US" sz="900" dirty="0"/>
          </a:p>
        </p:txBody>
      </p:sp>
      <p:sp>
        <p:nvSpPr>
          <p:cNvPr id="22" name="Shape 20"/>
          <p:cNvSpPr/>
          <p:nvPr/>
        </p:nvSpPr>
        <p:spPr>
          <a:xfrm>
            <a:off x="6035040" y="1508760"/>
            <a:ext cx="5422392" cy="3566160"/>
          </a:xfrm>
          <a:prstGeom prst="roundRect">
            <a:avLst>
              <a:gd name="adj" fmla="val 3077"/>
            </a:avLst>
          </a:prstGeom>
          <a:solidFill>
            <a:srgbClr val="FFFFFF"/>
          </a:solidFill>
          <a:ln w="15240">
            <a:solidFill>
              <a:srgbClr val="D97706"/>
            </a:solidFill>
            <a:prstDash val="solid"/>
          </a:ln>
        </p:spPr>
      </p:sp>
      <p:sp>
        <p:nvSpPr>
          <p:cNvPr id="23" name="Text 21"/>
          <p:cNvSpPr/>
          <p:nvPr/>
        </p:nvSpPr>
        <p:spPr>
          <a:xfrm>
            <a:off x="6263640" y="1691640"/>
            <a:ext cx="4965192" cy="274320"/>
          </a:xfrm>
          <a:prstGeom prst="rect">
            <a:avLst/>
          </a:prstGeom>
          <a:noFill/>
          <a:ln/>
        </p:spPr>
        <p:txBody>
          <a:bodyPr wrap="square" lIns="0" tIns="0" rIns="0" bIns="0" rtlCol="0" anchor="ctr"/>
          <a:lstStyle/>
          <a:p>
            <a:pPr marL="0" indent="0">
              <a:buNone/>
            </a:pPr>
            <a:r>
              <a:rPr lang="en-US" sz="1150" b="1" dirty="0">
                <a:solidFill>
                  <a:srgbClr val="92400E"/>
                </a:solidFill>
                <a:latin typeface="Arial" pitchFamily="34" charset="0"/>
                <a:ea typeface="Arial" pitchFamily="34" charset="-122"/>
                <a:cs typeface="Arial" pitchFamily="34" charset="-120"/>
              </a:rPr>
              <a:t>HƯỚNG MỞ RỘNG: PARTIALLY OBSERVABLE MDP (POMDP)</a:t>
            </a:r>
            <a:endParaRPr lang="en-US" sz="1150" dirty="0"/>
          </a:p>
        </p:txBody>
      </p:sp>
      <p:pic>
        <p:nvPicPr>
          <p:cNvPr id="24" name="Image 0" descr="D:\Study\HK5\CSAI\ThuyetTrinhMDP\assets\diagram_pomdp.png"/>
          <p:cNvPicPr>
            <a:picLocks noChangeAspect="1"/>
          </p:cNvPicPr>
          <p:nvPr/>
        </p:nvPicPr>
        <p:blipFill>
          <a:blip r:embed="rId3"/>
          <a:stretch>
            <a:fillRect/>
          </a:stretch>
        </p:blipFill>
        <p:spPr>
          <a:xfrm>
            <a:off x="6263640" y="2011680"/>
            <a:ext cx="4965192" cy="2057400"/>
          </a:xfrm>
          <a:prstGeom prst="rect">
            <a:avLst/>
          </a:prstGeom>
        </p:spPr>
      </p:pic>
      <p:sp>
        <p:nvSpPr>
          <p:cNvPr id="25" name="Text 22"/>
          <p:cNvSpPr/>
          <p:nvPr/>
        </p:nvSpPr>
        <p:spPr>
          <a:xfrm>
            <a:off x="6263640" y="4206240"/>
            <a:ext cx="4965192" cy="777240"/>
          </a:xfrm>
          <a:prstGeom prst="rect">
            <a:avLst/>
          </a:prstGeom>
          <a:noFill/>
          <a:ln/>
        </p:spPr>
        <p:txBody>
          <a:bodyPr wrap="square" lIns="0" tIns="0" rIns="0" bIns="0" rtlCol="0" anchor="ctr"/>
          <a:lstStyle/>
          <a:p>
            <a:pPr marL="0" indent="0">
              <a:buNone/>
            </a:pPr>
            <a:r>
              <a:rPr lang="en-US" sz="920" dirty="0">
                <a:solidFill>
                  <a:srgbClr val="475569"/>
                </a:solidFill>
                <a:latin typeface="Calibri" pitchFamily="34" charset="0"/>
                <a:ea typeface="Calibri" pitchFamily="34" charset="-122"/>
                <a:cs typeface="Calibri" pitchFamily="34" charset="-120"/>
              </a:rPr>
              <a:t>Khi cảm biến có nhiễu và tác tử không quan sát được toàn bộ trạng thái thực St, tác tử phải duy trì Trạng thái niềm tin (Belief State b(s)) — một phân phối xác suất trên toàn bộ không gian trạng thái S.</a:t>
            </a:r>
            <a:endParaRPr lang="en-US" sz="920" dirty="0"/>
          </a:p>
        </p:txBody>
      </p:sp>
      <p:sp>
        <p:nvSpPr>
          <p:cNvPr id="26" name="Shape 23"/>
          <p:cNvSpPr/>
          <p:nvPr/>
        </p:nvSpPr>
        <p:spPr>
          <a:xfrm>
            <a:off x="731520" y="5257800"/>
            <a:ext cx="10725912" cy="960120"/>
          </a:xfrm>
          <a:prstGeom prst="roundRect">
            <a:avLst>
              <a:gd name="adj" fmla="val 9524"/>
            </a:avLst>
          </a:prstGeom>
          <a:solidFill>
            <a:srgbClr val="0F1B29"/>
          </a:solidFill>
          <a:ln w="12700">
            <a:solidFill>
              <a:srgbClr val="1E3A5F"/>
            </a:solidFill>
            <a:prstDash val="solid"/>
          </a:ln>
        </p:spPr>
      </p:sp>
      <p:sp>
        <p:nvSpPr>
          <p:cNvPr id="27" name="Text 24"/>
          <p:cNvSpPr/>
          <p:nvPr/>
        </p:nvSpPr>
        <p:spPr>
          <a:xfrm>
            <a:off x="960120" y="5376672"/>
            <a:ext cx="1026871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HỎI &amp; ĐÁP (Q&amp;A) — XIN CHÂN THÀNH CẢM ƠN THẦY CÔ VÀ CÁC BẠN ĐÃ LẮNG NGHE!</a:t>
            </a:r>
            <a:endParaRPr lang="en-US" sz="1300" dirty="0"/>
          </a:p>
        </p:txBody>
      </p:sp>
      <p:sp>
        <p:nvSpPr>
          <p:cNvPr id="28" name="Text 25"/>
          <p:cNvSpPr/>
          <p:nvPr/>
        </p:nvSpPr>
        <p:spPr>
          <a:xfrm>
            <a:off x="960120" y="5715000"/>
            <a:ext cx="10268712" cy="320040"/>
          </a:xfrm>
          <a:prstGeom prst="rect">
            <a:avLst/>
          </a:prstGeom>
          <a:noFill/>
          <a:ln/>
        </p:spPr>
        <p:txBody>
          <a:bodyPr wrap="square" lIns="0" tIns="0" rIns="0" bIns="0" rtlCol="0" anchor="ctr"/>
          <a:lstStyle/>
          <a:p>
            <a:pPr marL="0" indent="0" algn="ctr">
              <a:buNone/>
            </a:pPr>
            <a:r>
              <a:rPr lang="en-US" sz="1050" dirty="0">
                <a:solidFill>
                  <a:srgbClr val="38BDF8"/>
                </a:solidFill>
                <a:latin typeface="Calibri" pitchFamily="34" charset="0"/>
                <a:ea typeface="Calibri" pitchFamily="34" charset="-122"/>
                <a:cs typeface="Calibri" pitchFamily="34" charset="-120"/>
              </a:rPr>
              <a:t>Markov Decision Processes: Nền tảng vững chắc định hình tương lai của Trí Tuệ Nhân Tạo &amp; Học Tăng Cường</a:t>
            </a:r>
            <a:endParaRPr lang="en-US" sz="1050" dirty="0"/>
          </a:p>
        </p:txBody>
      </p:sp>
    </p:spTree>
  </p:cSld>
  <p:clrMapOvr>
    <a:masterClrMapping/>
  </p:clrMapOvr>
  <mc:AlternateContent xmlns:mc="http://schemas.openxmlformats.org/markup-compatibility/2006">
    <mc:Choice xmlns:p14="http://schemas.microsoft.com/office/powerpoint/2010/main" Requires="p14">
      <p:transition p14:dur="400">
        <p:blinds/>
      </p:transition>
    </mc:Choice>
    <mc:Fallback>
      <p:transition>
        <p:blind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childTnLst>
                          </p:cTn>
                        </p:par>
                        <p:par>
                          <p:cTn id="8" fill="hold">
                            <p:stCondLst>
                              <p:cond delay="300"/>
                            </p:stCondLst>
                            <p:childTnLst>
                              <p:par>
                                <p:cTn id="9" presetID="10" presetClass="entr" presetSubtype="0"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300"/>
                                        <p:tgtEl>
                                          <p:spTgt spid="26"/>
                                        </p:tgtEl>
                                      </p:cBhvr>
                                    </p:animEffect>
                                  </p:childTnLst>
                                </p:cTn>
                              </p:par>
                            </p:childTnLst>
                          </p:cTn>
                        </p:par>
                        <p:par>
                          <p:cTn id="12" fill="hold">
                            <p:stCondLst>
                              <p:cond delay="600"/>
                            </p:stCondLst>
                            <p:childTnLst>
                              <p:par>
                                <p:cTn id="13" presetID="10"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00"/>
                                        <p:tgtEl>
                                          <p:spTgt spid="9"/>
                                        </p:tgtEl>
                                      </p:cBhvr>
                                    </p:animEffect>
                                  </p:childTnLst>
                                </p:cTn>
                              </p:par>
                            </p:childTnLst>
                          </p:cTn>
                        </p:par>
                        <p:par>
                          <p:cTn id="16" fill="hold">
                            <p:stCondLst>
                              <p:cond delay="900"/>
                            </p:stCondLst>
                            <p:childTnLst>
                              <p:par>
                                <p:cTn id="17" presetID="10" presetClass="entr" presetSubtype="0"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00"/>
                                        <p:tgtEl>
                                          <p:spTgt spid="10"/>
                                        </p:tgtEl>
                                      </p:cBhvr>
                                    </p:animEffect>
                                  </p:childTnLst>
                                </p:cTn>
                              </p:par>
                            </p:childTnLst>
                          </p:cTn>
                        </p:par>
                        <p:par>
                          <p:cTn id="20" fill="hold">
                            <p:stCondLst>
                              <p:cond delay="1200"/>
                            </p:stCondLst>
                            <p:childTnLst>
                              <p:par>
                                <p:cTn id="21" presetID="10"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00"/>
                                        <p:tgtEl>
                                          <p:spTgt spid="11"/>
                                        </p:tgtEl>
                                      </p:cBhvr>
                                    </p:animEffect>
                                  </p:childTnLst>
                                </p:cTn>
                              </p:par>
                            </p:childTnLst>
                          </p:cTn>
                        </p:par>
                        <p:par>
                          <p:cTn id="24" fill="hold">
                            <p:stCondLst>
                              <p:cond delay="1500"/>
                            </p:stCondLst>
                            <p:childTnLst>
                              <p:par>
                                <p:cTn id="25" presetID="10"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300"/>
                                        <p:tgtEl>
                                          <p:spTgt spid="12"/>
                                        </p:tgtEl>
                                      </p:cBhvr>
                                    </p:animEffect>
                                  </p:childTnLst>
                                </p:cTn>
                              </p:par>
                            </p:childTnLst>
                          </p:cTn>
                        </p:par>
                        <p:par>
                          <p:cTn id="28" fill="hold">
                            <p:stCondLst>
                              <p:cond delay="180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00"/>
                                        <p:tgtEl>
                                          <p:spTgt spid="13"/>
                                        </p:tgtEl>
                                      </p:cBhvr>
                                    </p:animEffect>
                                  </p:childTnLst>
                                </p:cTn>
                              </p:par>
                            </p:childTnLst>
                          </p:cTn>
                        </p:par>
                        <p:par>
                          <p:cTn id="32" fill="hold">
                            <p:stCondLst>
                              <p:cond delay="2100"/>
                            </p:stCondLst>
                            <p:childTnLst>
                              <p:par>
                                <p:cTn id="33" presetID="10" presetClass="entr" presetSubtype="0" fill="hold"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300"/>
                                        <p:tgtEl>
                                          <p:spTgt spid="14"/>
                                        </p:tgtEl>
                                      </p:cBhvr>
                                    </p:animEffect>
                                  </p:childTnLst>
                                </p:cTn>
                              </p:par>
                            </p:childTnLst>
                          </p:cTn>
                        </p:par>
                        <p:par>
                          <p:cTn id="36" fill="hold">
                            <p:stCondLst>
                              <p:cond delay="2400"/>
                            </p:stCondLst>
                            <p:childTnLst>
                              <p:par>
                                <p:cTn id="37" presetID="10" presetClass="entr" presetSubtype="0"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300"/>
                                        <p:tgtEl>
                                          <p:spTgt spid="15"/>
                                        </p:tgtEl>
                                      </p:cBhvr>
                                    </p:animEffect>
                                  </p:childTnLst>
                                </p:cTn>
                              </p:par>
                            </p:childTnLst>
                          </p:cTn>
                        </p:par>
                        <p:par>
                          <p:cTn id="40" fill="hold">
                            <p:stCondLst>
                              <p:cond delay="2700"/>
                            </p:stCondLst>
                            <p:childTnLst>
                              <p:par>
                                <p:cTn id="41" presetID="10" presetClass="entr" presetSubtype="0"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300"/>
                                        <p:tgtEl>
                                          <p:spTgt spid="16"/>
                                        </p:tgtEl>
                                      </p:cBhvr>
                                    </p:animEffect>
                                  </p:childTnLst>
                                </p:cTn>
                              </p:par>
                            </p:childTnLst>
                          </p:cTn>
                        </p:par>
                        <p:par>
                          <p:cTn id="44" fill="hold">
                            <p:stCondLst>
                              <p:cond delay="3000"/>
                            </p:stCondLst>
                            <p:childTnLst>
                              <p:par>
                                <p:cTn id="45" presetID="10" presetClass="entr" presetSubtype="0" fill="hold" grpId="0" nodeType="after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300"/>
                                        <p:tgtEl>
                                          <p:spTgt spid="17"/>
                                        </p:tgtEl>
                                      </p:cBhvr>
                                    </p:animEffect>
                                  </p:childTnLst>
                                </p:cTn>
                              </p:par>
                            </p:childTnLst>
                          </p:cTn>
                        </p:par>
                        <p:par>
                          <p:cTn id="48" fill="hold">
                            <p:stCondLst>
                              <p:cond delay="3300"/>
                            </p:stCondLst>
                            <p:childTnLst>
                              <p:par>
                                <p:cTn id="49" presetID="10" presetClass="entr" presetSubtype="0" fill="hold" nodeType="after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300"/>
                                        <p:tgtEl>
                                          <p:spTgt spid="18"/>
                                        </p:tgtEl>
                                      </p:cBhvr>
                                    </p:animEffect>
                                  </p:childTnLst>
                                </p:cTn>
                              </p:par>
                            </p:childTnLst>
                          </p:cTn>
                        </p:par>
                        <p:par>
                          <p:cTn id="52" fill="hold">
                            <p:stCondLst>
                              <p:cond delay="3600"/>
                            </p:stCondLst>
                            <p:childTnLst>
                              <p:par>
                                <p:cTn id="53" presetID="10" presetClass="entr" presetSubtype="0"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300"/>
                                        <p:tgtEl>
                                          <p:spTgt spid="19"/>
                                        </p:tgtEl>
                                      </p:cBhvr>
                                    </p:animEffect>
                                  </p:childTnLst>
                                </p:cTn>
                              </p:par>
                            </p:childTnLst>
                          </p:cTn>
                        </p:par>
                        <p:par>
                          <p:cTn id="56" fill="hold">
                            <p:stCondLst>
                              <p:cond delay="3900"/>
                            </p:stCondLst>
                            <p:childTnLst>
                              <p:par>
                                <p:cTn id="57" presetID="10" presetClass="entr" presetSubtype="0" fill="hold" grpId="0" nodeType="after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300"/>
                                        <p:tgtEl>
                                          <p:spTgt spid="20"/>
                                        </p:tgtEl>
                                      </p:cBhvr>
                                    </p:animEffect>
                                  </p:childTnLst>
                                </p:cTn>
                              </p:par>
                            </p:childTnLst>
                          </p:cTn>
                        </p:par>
                        <p:par>
                          <p:cTn id="60" fill="hold">
                            <p:stCondLst>
                              <p:cond delay="4200"/>
                            </p:stCondLst>
                            <p:childTnLst>
                              <p:par>
                                <p:cTn id="61" presetID="10" presetClass="entr" presetSubtype="0" fill="hold" grpId="0" nodeType="after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300"/>
                                        <p:tgtEl>
                                          <p:spTgt spid="21"/>
                                        </p:tgtEl>
                                      </p:cBhvr>
                                    </p:animEffect>
                                  </p:childTnLst>
                                </p:cTn>
                              </p:par>
                            </p:childTnLst>
                          </p:cTn>
                        </p:par>
                        <p:par>
                          <p:cTn id="64" fill="hold">
                            <p:stCondLst>
                              <p:cond delay="4500"/>
                            </p:stCondLst>
                            <p:childTnLst>
                              <p:par>
                                <p:cTn id="65" presetID="10" presetClass="entr" presetSubtype="0" fill="hold" grpId="0" nodeType="after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300"/>
                                        <p:tgtEl>
                                          <p:spTgt spid="27"/>
                                        </p:tgtEl>
                                      </p:cBhvr>
                                    </p:animEffect>
                                  </p:childTnLst>
                                </p:cTn>
                              </p:par>
                            </p:childTnLst>
                          </p:cTn>
                        </p:par>
                        <p:par>
                          <p:cTn id="68" fill="hold">
                            <p:stCondLst>
                              <p:cond delay="4800"/>
                            </p:stCondLst>
                            <p:childTnLst>
                              <p:par>
                                <p:cTn id="69" presetID="10" presetClass="entr" presetSubtype="0" fill="hold" grpId="0" nodeType="after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300"/>
                                        <p:tgtEl>
                                          <p:spTgt spid="28"/>
                                        </p:tgtEl>
                                      </p:cBhvr>
                                    </p:animEffect>
                                  </p:childTnLst>
                                </p:cTn>
                              </p:par>
                            </p:childTnLst>
                          </p:cTn>
                        </p:par>
                        <p:par>
                          <p:cTn id="72" fill="hold">
                            <p:stCondLst>
                              <p:cond delay="5100"/>
                            </p:stCondLst>
                            <p:childTnLst>
                              <p:par>
                                <p:cTn id="73" presetID="10" presetClass="entr" presetSubtype="0" fill="hold" nodeType="after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300"/>
                                        <p:tgtEl>
                                          <p:spTgt spid="22"/>
                                        </p:tgtEl>
                                      </p:cBhvr>
                                    </p:animEffect>
                                  </p:childTnLst>
                                </p:cTn>
                              </p:par>
                            </p:childTnLst>
                          </p:cTn>
                        </p:par>
                        <p:par>
                          <p:cTn id="76" fill="hold">
                            <p:stCondLst>
                              <p:cond delay="5400"/>
                            </p:stCondLst>
                            <p:childTnLst>
                              <p:par>
                                <p:cTn id="77" presetID="10" presetClass="entr" presetSubtype="0" fill="hold" grpId="0" nodeType="afterEffect">
                                  <p:stCondLst>
                                    <p:cond delay="0"/>
                                  </p:stCondLst>
                                  <p:childTnLst>
                                    <p:set>
                                      <p:cBhvr>
                                        <p:cTn id="78" dur="1" fill="hold">
                                          <p:stCondLst>
                                            <p:cond delay="0"/>
                                          </p:stCondLst>
                                        </p:cTn>
                                        <p:tgtEl>
                                          <p:spTgt spid="23"/>
                                        </p:tgtEl>
                                        <p:attrNameLst>
                                          <p:attrName>style.visibility</p:attrName>
                                        </p:attrNameLst>
                                      </p:cBhvr>
                                      <p:to>
                                        <p:strVal val="visible"/>
                                      </p:to>
                                    </p:set>
                                    <p:animEffect transition="in" filter="fade">
                                      <p:cBhvr>
                                        <p:cTn id="79" dur="300"/>
                                        <p:tgtEl>
                                          <p:spTgt spid="23"/>
                                        </p:tgtEl>
                                      </p:cBhvr>
                                    </p:animEffect>
                                  </p:childTnLst>
                                </p:cTn>
                              </p:par>
                            </p:childTnLst>
                          </p:cTn>
                        </p:par>
                        <p:par>
                          <p:cTn id="80" fill="hold">
                            <p:stCondLst>
                              <p:cond delay="5700"/>
                            </p:stCondLst>
                            <p:childTnLst>
                              <p:par>
                                <p:cTn id="81" presetID="10" presetClass="entr" presetSubtype="0" fill="hold" nodeType="after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300"/>
                                        <p:tgtEl>
                                          <p:spTgt spid="24"/>
                                        </p:tgtEl>
                                      </p:cBhvr>
                                    </p:animEffect>
                                  </p:childTnLst>
                                </p:cTn>
                              </p:par>
                            </p:childTnLst>
                          </p:cTn>
                        </p:par>
                        <p:par>
                          <p:cTn id="84" fill="hold">
                            <p:stCondLst>
                              <p:cond delay="6000"/>
                            </p:stCondLst>
                            <p:childTnLst>
                              <p:par>
                                <p:cTn id="85" presetID="10" presetClass="entr" presetSubtype="0" fill="hold" grpId="0" nodeType="afterEffect">
                                  <p:stCondLst>
                                    <p:cond delay="0"/>
                                  </p:stCondLst>
                                  <p:childTnLst>
                                    <p:set>
                                      <p:cBhvr>
                                        <p:cTn id="86" dur="1" fill="hold">
                                          <p:stCondLst>
                                            <p:cond delay="0"/>
                                          </p:stCondLst>
                                        </p:cTn>
                                        <p:tgtEl>
                                          <p:spTgt spid="25"/>
                                        </p:tgtEl>
                                        <p:attrNameLst>
                                          <p:attrName>style.visibility</p:attrName>
                                        </p:attrNameLst>
                                      </p:cBhvr>
                                      <p:to>
                                        <p:strVal val="visible"/>
                                      </p:to>
                                    </p:set>
                                    <p:animEffect transition="in" filter="fade">
                                      <p:cBhvr>
                                        <p:cTn id="87" dur="3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P spid="25" grpId="0" animBg="1"/>
      <p:bldP spid="27" grpId="0" animBg="1"/>
      <p:bldP spid="2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4597</Words>
  <Application>Microsoft Office PowerPoint</Application>
  <PresentationFormat>Widescreen</PresentationFormat>
  <Paragraphs>241</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Markov Decision Processes (MDP)</dc:title>
  <dc:subject>CS &amp; AI Academic Presentation</dc:subject>
  <dc:creator>AI &amp; Reinforcement Learning Research Team</dc:creator>
  <cp:lastModifiedBy>Võ Lê Gia Huy</cp:lastModifiedBy>
  <cp:revision>2</cp:revision>
  <dcterms:created xsi:type="dcterms:W3CDTF">2026-10-26T09:26:14Z</dcterms:created>
  <dcterms:modified xsi:type="dcterms:W3CDTF">2026-10-26T09:26:19Z</dcterms:modified>
</cp:coreProperties>
</file>